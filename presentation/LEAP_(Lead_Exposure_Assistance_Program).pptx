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65" r:id="rId2"/>
    <p:sldId id="273" r:id="rId3"/>
    <p:sldId id="257" r:id="rId4"/>
    <p:sldId id="271" r:id="rId5"/>
    <p:sldId id="272" r:id="rId6"/>
    <p:sldId id="269" r:id="rId7"/>
    <p:sldId id="259" r:id="rId8"/>
    <p:sldId id="256" r:id="rId9"/>
    <p:sldId id="260" r:id="rId10"/>
    <p:sldId id="261" r:id="rId11"/>
    <p:sldId id="263" r:id="rId12"/>
    <p:sldId id="274" r:id="rId13"/>
    <p:sldId id="264"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132A"/>
    <a:srgbClr val="FCB551"/>
    <a:srgbClr val="0C1B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566E8A-6A8D-6E4E-80FC-714EA4BF3888}" v="929" dt="2026-03-29T15:23:03.679"/>
    <p1510:client id="{381F2E5A-C008-EB49-9AEF-8458E418B60C}" v="465" dt="2026-03-29T15:28:43.375"/>
    <p1510:client id="{5F357238-7028-134A-F4FA-0622222FCA86}" v="1692" dt="2026-03-29T14:44:49.330"/>
    <p1510:client id="{960729CC-6984-352A-F4E7-98876138FE15}" v="449" dt="2026-03-29T14:25:04.388"/>
    <p1510:client id="{E17F3FD0-C491-BBE6-FEB0-280E7B6035D5}" v="695" dt="2026-03-29T15:17:47.629"/>
    <p1510:client id="{F5561D51-9559-6627-2AFA-061E87CA3D79}" v="62" dt="2026-03-29T15:20:48.5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191"/>
    <p:restoredTop sz="94683"/>
  </p:normalViewPr>
  <p:slideViewPr>
    <p:cSldViewPr snapToGrid="0">
      <p:cViewPr>
        <p:scale>
          <a:sx n="59" d="100"/>
          <a:sy n="59" d="100"/>
        </p:scale>
        <p:origin x="4984" y="24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8378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6D577A0-71B5-C64F-96A6-FC3ED5327BFC}" type="slidenum">
              <a:rPr lang="en-US" smtClean="0"/>
              <a:t>1</a:t>
            </a:fld>
            <a:endParaRPr lang="en-US"/>
          </a:p>
        </p:txBody>
      </p:sp>
    </p:spTree>
    <p:extLst>
      <p:ext uri="{BB962C8B-B14F-4D97-AF65-F5344CB8AC3E}">
        <p14:creationId xmlns:p14="http://schemas.microsoft.com/office/powerpoint/2010/main" val="13022585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SPEAKER NOTES — Loan Repayment Logic (~75 seconds)
Left column — walk through each rate:
"The model simulates three ways a loan gets repaid, and one way it doesn't.
The most common trigger is a home sale — the model checks an 8.78% annual probability for every outstanding loan, derived from Columbus housing turnover data.
Refinancing is less frequent at 3.25%, but meaningful — when someone rolls into a new mortgage, the deferred lien gets cleared at closing.
And 3.82% of homeowners receive assistance that forgives their loan entirely. We model these as permanent outflows — that money is gone. It's not deferred, it's forgiven."
Right column:
"The flow on the right shows how each loan marches through time. Every year, the model rolls the dice on sale and refi events. If neither triggers before 2037, we conservatively exclude late repayments — this keeps our funding estimate honest.
The punchline: 96% of loans do come back. That's exactly why the deferred loan structure is so powerful — it halves the capital requirement compared to a grant program where none of it returns."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CE739-EB4E-CD93-0D6B-3EEF463F1C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DB1B86-D812-D944-53B1-06455F3B8A2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32F4D27-B7FA-5EF5-CD51-AD05695F2FF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6A1FECB-37DD-2958-898B-199284555F71}"/>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1479244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SPEAKER NOTES — Monte Carlo Methodology (~90 seconds)
Walk through left to right:
Step 1 — "Before each of the 1,000 simulations begins, the model draws a fresh random value for every uncertain input. Participation could be 65% this run and 74% the next — each simulation is its own independent future."
Step 2 — "Inside each simulation, we track dollars flowing out as loans are issued and dollars flowing back in as homeowners sell or refinance. The three repayment triggers come straight from Columbus market data. Aid recipients are treated as permanent costs — those loans will never come back."
Step 3 — "We're not interested in the total cost — we're interested in the peak strain on the City's account. The maximum point of the cumulative gap curve is what the City must have in reserve before repayments start catching up."
Bottom bar — "Running this 1,000 times gives us a full distribution. We're recommending the 95th percentile, not the mean, because the downside of under-funding is much worse than the downside of over-funding."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AE0D1-4F6F-57B0-AA5F-C8BD8F7A36E3}"/>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AA6833C7-6BD0-33F6-4362-4964F94D870C}"/>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C94652B1-D80B-3C79-34C5-E0DE0367B008}"/>
              </a:ext>
            </a:extLst>
          </p:cNvPr>
          <p:cNvSpPr>
            <a:spLocks noGrp="1"/>
          </p:cNvSpPr>
          <p:nvPr>
            <p:ph type="dt" sz="half" idx="10"/>
          </p:nvPr>
        </p:nvSpPr>
        <p:spPr/>
        <p:txBody>
          <a:bodyPr/>
          <a:lstStyle/>
          <a:p>
            <a:fld id="{56D325E8-7D15-9245-AACE-A7E0A612994E}" type="datetimeFigureOut">
              <a:rPr lang="en-US" smtClean="0"/>
              <a:t>3/29/26</a:t>
            </a:fld>
            <a:endParaRPr lang="en-US"/>
          </a:p>
        </p:txBody>
      </p:sp>
      <p:sp>
        <p:nvSpPr>
          <p:cNvPr id="5" name="Footer Placeholder 4">
            <a:extLst>
              <a:ext uri="{FF2B5EF4-FFF2-40B4-BE49-F238E27FC236}">
                <a16:creationId xmlns:a16="http://schemas.microsoft.com/office/drawing/2014/main" id="{4D8358AE-4326-93BC-11EE-81BBBE8CD9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747F8E-BF7C-C813-0D42-1A6C19E6C76F}"/>
              </a:ext>
            </a:extLst>
          </p:cNvPr>
          <p:cNvSpPr>
            <a:spLocks noGrp="1"/>
          </p:cNvSpPr>
          <p:nvPr>
            <p:ph type="sldNum" sz="quarter" idx="12"/>
          </p:nvPr>
        </p:nvSpPr>
        <p:spPr/>
        <p:txBody>
          <a:bodyPr/>
          <a:lstStyle/>
          <a:p>
            <a:fld id="{7A86BD74-FD54-9A45-BF8F-E1ADF2784E58}" type="slidenum">
              <a:rPr lang="en-US" smtClean="0"/>
              <a:t>‹#›</a:t>
            </a:fld>
            <a:endParaRPr lang="en-US"/>
          </a:p>
        </p:txBody>
      </p:sp>
    </p:spTree>
    <p:extLst>
      <p:ext uri="{BB962C8B-B14F-4D97-AF65-F5344CB8AC3E}">
        <p14:creationId xmlns:p14="http://schemas.microsoft.com/office/powerpoint/2010/main" val="2380195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jpe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Columbus department of public utilities reveals rebranding with new name,  logo | NBC4 WCMH-TV">
            <a:extLst>
              <a:ext uri="{FF2B5EF4-FFF2-40B4-BE49-F238E27FC236}">
                <a16:creationId xmlns:a16="http://schemas.microsoft.com/office/drawing/2014/main" id="{28ACB763-1CA0-8EB8-4265-2A6719E17A3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536" b="13367"/>
          <a:stretch>
            <a:fillRect/>
          </a:stretch>
        </p:blipFill>
        <p:spPr bwMode="auto">
          <a:xfrm>
            <a:off x="0" y="1"/>
            <a:ext cx="9144000" cy="348547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88F3DB48-B287-3C21-0F93-E2B7AC655500}"/>
              </a:ext>
            </a:extLst>
          </p:cNvPr>
          <p:cNvSpPr/>
          <p:nvPr/>
        </p:nvSpPr>
        <p:spPr>
          <a:xfrm>
            <a:off x="0" y="3485478"/>
            <a:ext cx="9144000" cy="1658023"/>
          </a:xfrm>
          <a:prstGeom prst="rect">
            <a:avLst/>
          </a:prstGeom>
          <a:solidFill>
            <a:srgbClr val="0B132A">
              <a:alpha val="97872"/>
            </a:srgbClr>
          </a:solidFill>
          <a:ln>
            <a:solidFill>
              <a:srgbClr val="0B1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solidFill>
                <a:srgbClr val="002060"/>
              </a:solidFill>
            </a:endParaRPr>
          </a:p>
        </p:txBody>
      </p:sp>
      <p:pic>
        <p:nvPicPr>
          <p:cNvPr id="18" name="Picture 17">
            <a:extLst>
              <a:ext uri="{FF2B5EF4-FFF2-40B4-BE49-F238E27FC236}">
                <a16:creationId xmlns:a16="http://schemas.microsoft.com/office/drawing/2014/main" id="{313B8FCE-1CD8-B4C3-742A-589746A5475D}"/>
              </a:ext>
            </a:extLst>
          </p:cNvPr>
          <p:cNvPicPr>
            <a:picLocks noChangeAspect="1"/>
          </p:cNvPicPr>
          <p:nvPr/>
        </p:nvPicPr>
        <p:blipFill>
          <a:blip r:embed="rId4"/>
          <a:stretch>
            <a:fillRect/>
          </a:stretch>
        </p:blipFill>
        <p:spPr>
          <a:xfrm>
            <a:off x="2915469" y="3553035"/>
            <a:ext cx="1211916" cy="1211916"/>
          </a:xfrm>
          <a:prstGeom prst="ellipse">
            <a:avLst/>
          </a:prstGeom>
          <a:ln w="6350" cap="rnd">
            <a:solidFill>
              <a:schemeClr val="bg1"/>
            </a:solidFill>
          </a:ln>
          <a:effectLst>
            <a:outerShdw blurRad="381000" dist="292100" dir="5400000" sx="-80000" sy="-18000" rotWithShape="0">
              <a:srgbClr val="000000">
                <a:alpha val="0"/>
              </a:srgbClr>
            </a:outerShdw>
          </a:effectLst>
          <a:scene3d>
            <a:camera prst="orthographicFront"/>
            <a:lightRig rig="contrasting" dir="t">
              <a:rot lat="0" lon="0" rev="3000000"/>
            </a:lightRig>
          </a:scene3d>
          <a:sp3d contourW="7620">
            <a:bevelT w="95250" h="31750"/>
            <a:contourClr>
              <a:srgbClr val="333333"/>
            </a:contourClr>
          </a:sp3d>
        </p:spPr>
      </p:pic>
      <p:pic>
        <p:nvPicPr>
          <p:cNvPr id="19" name="Picture 18">
            <a:extLst>
              <a:ext uri="{FF2B5EF4-FFF2-40B4-BE49-F238E27FC236}">
                <a16:creationId xmlns:a16="http://schemas.microsoft.com/office/drawing/2014/main" id="{E9416FF0-0107-7CB1-2208-0D16DA206F0A}"/>
              </a:ext>
            </a:extLst>
          </p:cNvPr>
          <p:cNvPicPr>
            <a:picLocks noChangeAspect="1"/>
          </p:cNvPicPr>
          <p:nvPr/>
        </p:nvPicPr>
        <p:blipFill>
          <a:blip r:embed="rId5"/>
          <a:stretch>
            <a:fillRect/>
          </a:stretch>
        </p:blipFill>
        <p:spPr>
          <a:xfrm>
            <a:off x="816025" y="3553035"/>
            <a:ext cx="1211916" cy="1211916"/>
          </a:xfrm>
          <a:prstGeom prst="ellipse">
            <a:avLst/>
          </a:prstGeom>
          <a:ln w="6350" cap="rnd">
            <a:solidFill>
              <a:schemeClr val="bg1"/>
            </a:solidFill>
          </a:ln>
          <a:effectLst>
            <a:outerShdw blurRad="381000" dist="292100" dir="5400000" sx="-80000" sy="-18000" rotWithShape="0">
              <a:srgbClr val="000000">
                <a:alpha val="0"/>
              </a:srgbClr>
            </a:outerShdw>
          </a:effectLst>
          <a:scene3d>
            <a:camera prst="orthographicFront"/>
            <a:lightRig rig="contrasting" dir="t">
              <a:rot lat="0" lon="0" rev="3000000"/>
            </a:lightRig>
          </a:scene3d>
          <a:sp3d contourW="7620">
            <a:bevelT w="95250" h="31750"/>
            <a:contourClr>
              <a:srgbClr val="333333"/>
            </a:contourClr>
          </a:sp3d>
        </p:spPr>
      </p:pic>
      <p:pic>
        <p:nvPicPr>
          <p:cNvPr id="21" name="Picture 20">
            <a:extLst>
              <a:ext uri="{FF2B5EF4-FFF2-40B4-BE49-F238E27FC236}">
                <a16:creationId xmlns:a16="http://schemas.microsoft.com/office/drawing/2014/main" id="{27087BBB-E878-54AF-7645-3F2DD94C7C0D}"/>
              </a:ext>
            </a:extLst>
          </p:cNvPr>
          <p:cNvPicPr>
            <a:picLocks noChangeAspect="1"/>
          </p:cNvPicPr>
          <p:nvPr/>
        </p:nvPicPr>
        <p:blipFill>
          <a:blip r:embed="rId6"/>
          <a:stretch>
            <a:fillRect/>
          </a:stretch>
        </p:blipFill>
        <p:spPr>
          <a:xfrm>
            <a:off x="7536855" y="3553035"/>
            <a:ext cx="1211916" cy="1211916"/>
          </a:xfrm>
          <a:prstGeom prst="ellipse">
            <a:avLst/>
          </a:prstGeom>
          <a:ln w="6350" cap="rnd">
            <a:solidFill>
              <a:schemeClr val="bg1"/>
            </a:solidFill>
          </a:ln>
          <a:effectLst>
            <a:outerShdw blurRad="381000" dist="292100" dir="5400000" sx="-80000" sy="-18000" rotWithShape="0">
              <a:srgbClr val="000000">
                <a:alpha val="0"/>
              </a:srgbClr>
            </a:outerShdw>
          </a:effectLst>
          <a:scene3d>
            <a:camera prst="orthographicFront"/>
            <a:lightRig rig="contrasting" dir="t">
              <a:rot lat="0" lon="0" rev="3000000"/>
            </a:lightRig>
          </a:scene3d>
          <a:sp3d contourW="7620">
            <a:bevelT w="95250" h="31750"/>
            <a:contourClr>
              <a:srgbClr val="333333"/>
            </a:contourClr>
          </a:sp3d>
        </p:spPr>
      </p:pic>
      <p:sp>
        <p:nvSpPr>
          <p:cNvPr id="22" name="TextBox 21">
            <a:extLst>
              <a:ext uri="{FF2B5EF4-FFF2-40B4-BE49-F238E27FC236}">
                <a16:creationId xmlns:a16="http://schemas.microsoft.com/office/drawing/2014/main" id="{F32436A8-0588-0641-8A3A-CE512F336E26}"/>
              </a:ext>
            </a:extLst>
          </p:cNvPr>
          <p:cNvSpPr txBox="1"/>
          <p:nvPr/>
        </p:nvSpPr>
        <p:spPr>
          <a:xfrm>
            <a:off x="5226161" y="4811530"/>
            <a:ext cx="1308647" cy="300082"/>
          </a:xfrm>
          <a:prstGeom prst="rect">
            <a:avLst/>
          </a:prstGeom>
          <a:noFill/>
        </p:spPr>
        <p:txBody>
          <a:bodyPr wrap="square" rtlCol="0">
            <a:spAutoFit/>
          </a:bodyPr>
          <a:lstStyle/>
          <a:p>
            <a:r>
              <a:rPr lang="en-US" sz="1350">
                <a:solidFill>
                  <a:schemeClr val="bg1"/>
                </a:solidFill>
              </a:rPr>
              <a:t>Ethan Sargeant </a:t>
            </a:r>
          </a:p>
        </p:txBody>
      </p:sp>
      <p:sp>
        <p:nvSpPr>
          <p:cNvPr id="23" name="TextBox 22">
            <a:extLst>
              <a:ext uri="{FF2B5EF4-FFF2-40B4-BE49-F238E27FC236}">
                <a16:creationId xmlns:a16="http://schemas.microsoft.com/office/drawing/2014/main" id="{F63E2D9B-0901-05F0-5189-4F69848AC805}"/>
              </a:ext>
            </a:extLst>
          </p:cNvPr>
          <p:cNvSpPr txBox="1"/>
          <p:nvPr/>
        </p:nvSpPr>
        <p:spPr>
          <a:xfrm>
            <a:off x="3017499" y="4806647"/>
            <a:ext cx="1007857" cy="300082"/>
          </a:xfrm>
          <a:prstGeom prst="rect">
            <a:avLst/>
          </a:prstGeom>
          <a:noFill/>
        </p:spPr>
        <p:txBody>
          <a:bodyPr wrap="square" rtlCol="0">
            <a:spAutoFit/>
          </a:bodyPr>
          <a:lstStyle/>
          <a:p>
            <a:r>
              <a:rPr lang="en-US" sz="1350">
                <a:solidFill>
                  <a:schemeClr val="bg1"/>
                </a:solidFill>
              </a:rPr>
              <a:t>Aryan Patel</a:t>
            </a:r>
          </a:p>
        </p:txBody>
      </p:sp>
      <p:sp>
        <p:nvSpPr>
          <p:cNvPr id="24" name="TextBox 23">
            <a:extLst>
              <a:ext uri="{FF2B5EF4-FFF2-40B4-BE49-F238E27FC236}">
                <a16:creationId xmlns:a16="http://schemas.microsoft.com/office/drawing/2014/main" id="{4A1C2BC6-1F52-A4F8-E300-45F97941504C}"/>
              </a:ext>
            </a:extLst>
          </p:cNvPr>
          <p:cNvSpPr txBox="1"/>
          <p:nvPr/>
        </p:nvSpPr>
        <p:spPr>
          <a:xfrm>
            <a:off x="7536855" y="4815726"/>
            <a:ext cx="1376307" cy="300082"/>
          </a:xfrm>
          <a:prstGeom prst="rect">
            <a:avLst/>
          </a:prstGeom>
          <a:noFill/>
        </p:spPr>
        <p:txBody>
          <a:bodyPr wrap="square" rtlCol="0">
            <a:spAutoFit/>
          </a:bodyPr>
          <a:lstStyle/>
          <a:p>
            <a:r>
              <a:rPr lang="en-US" sz="1350">
                <a:solidFill>
                  <a:schemeClr val="bg1"/>
                </a:solidFill>
              </a:rPr>
              <a:t>Nate Bunkowske</a:t>
            </a:r>
          </a:p>
        </p:txBody>
      </p:sp>
      <p:sp>
        <p:nvSpPr>
          <p:cNvPr id="25" name="TextBox 24">
            <a:extLst>
              <a:ext uri="{FF2B5EF4-FFF2-40B4-BE49-F238E27FC236}">
                <a16:creationId xmlns:a16="http://schemas.microsoft.com/office/drawing/2014/main" id="{76B905CB-F043-39FC-FF45-7CEF9F7B0D7D}"/>
              </a:ext>
            </a:extLst>
          </p:cNvPr>
          <p:cNvSpPr txBox="1"/>
          <p:nvPr/>
        </p:nvSpPr>
        <p:spPr>
          <a:xfrm>
            <a:off x="816025" y="4815726"/>
            <a:ext cx="1308647" cy="300082"/>
          </a:xfrm>
          <a:prstGeom prst="rect">
            <a:avLst/>
          </a:prstGeom>
          <a:noFill/>
        </p:spPr>
        <p:txBody>
          <a:bodyPr wrap="square" rtlCol="0">
            <a:spAutoFit/>
          </a:bodyPr>
          <a:lstStyle/>
          <a:p>
            <a:r>
              <a:rPr lang="en-US" sz="1350">
                <a:solidFill>
                  <a:schemeClr val="bg1"/>
                </a:solidFill>
              </a:rPr>
              <a:t>Crisper Chabris</a:t>
            </a:r>
          </a:p>
        </p:txBody>
      </p:sp>
      <p:pic>
        <p:nvPicPr>
          <p:cNvPr id="26" name="Picture 25">
            <a:extLst>
              <a:ext uri="{FF2B5EF4-FFF2-40B4-BE49-F238E27FC236}">
                <a16:creationId xmlns:a16="http://schemas.microsoft.com/office/drawing/2014/main" id="{B162AA7B-E487-D405-E0D3-E97C6A9B93E9}"/>
              </a:ext>
            </a:extLst>
          </p:cNvPr>
          <p:cNvPicPr>
            <a:picLocks noChangeAspect="1"/>
          </p:cNvPicPr>
          <p:nvPr/>
        </p:nvPicPr>
        <p:blipFill>
          <a:blip r:embed="rId7"/>
          <a:stretch>
            <a:fillRect/>
          </a:stretch>
        </p:blipFill>
        <p:spPr>
          <a:xfrm>
            <a:off x="5226162" y="3544643"/>
            <a:ext cx="1211916" cy="1211916"/>
          </a:xfrm>
          <a:prstGeom prst="ellipse">
            <a:avLst/>
          </a:prstGeom>
          <a:ln w="6350" cap="rnd">
            <a:solidFill>
              <a:schemeClr val="bg1"/>
            </a:solidFill>
          </a:ln>
          <a:effectLst>
            <a:outerShdw blurRad="381000" dist="292100" dir="5400000" sx="-80000" sy="-18000" rotWithShape="0">
              <a:srgbClr val="000000">
                <a:alpha val="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4936056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0493"/>
            <a:ext cx="9144000" cy="5143500"/>
          </a:xfrm>
          <a:prstGeom prst="rect">
            <a:avLst/>
          </a:prstGeom>
        </p:spPr>
      </p:pic>
      <p:sp>
        <p:nvSpPr>
          <p:cNvPr id="3" name="Text 0"/>
          <p:cNvSpPr/>
          <p:nvPr/>
        </p:nvSpPr>
        <p:spPr>
          <a:xfrm>
            <a:off x="357188" y="285750"/>
            <a:ext cx="1666280" cy="207169"/>
          </a:xfrm>
          <a:prstGeom prst="rect">
            <a:avLst/>
          </a:prstGeom>
          <a:noFill/>
          <a:ln/>
        </p:spPr>
        <p:txBody>
          <a:bodyPr wrap="none" lIns="0" tIns="0" rIns="0" bIns="0" rtlCol="0" anchor="t">
            <a:spAutoFit/>
          </a:bodyPr>
          <a:lstStyle/>
          <a:p>
            <a:pPr marL="0" indent="0" algn="l">
              <a:lnSpc>
                <a:spcPts val="1600"/>
              </a:lnSpc>
              <a:buNone/>
            </a:pPr>
            <a:r>
              <a:rPr lang="en-US" sz="1193" b="1" kern="0" spc="2">
                <a:solidFill>
                  <a:srgbClr val="4BC0C8"/>
                </a:solidFill>
                <a:latin typeface="Inter" pitchFamily="34" charset="0"/>
                <a:ea typeface="Inter" pitchFamily="34" charset="-122"/>
                <a:cs typeface="Inter" pitchFamily="34" charset="-120"/>
              </a:rPr>
              <a:t>COLUMBUS LEAP</a:t>
            </a:r>
            <a:endParaRPr lang="en-US" sz="1193"/>
          </a:p>
        </p:txBody>
      </p:sp>
      <p:sp>
        <p:nvSpPr>
          <p:cNvPr id="4" name="Text 1"/>
          <p:cNvSpPr/>
          <p:nvPr/>
        </p:nvSpPr>
        <p:spPr>
          <a:xfrm>
            <a:off x="914400" y="880830"/>
            <a:ext cx="7315200" cy="942975"/>
          </a:xfrm>
          <a:prstGeom prst="rect">
            <a:avLst/>
          </a:prstGeom>
          <a:noFill/>
          <a:ln/>
        </p:spPr>
        <p:txBody>
          <a:bodyPr wrap="none" lIns="0" tIns="0" rIns="0" bIns="0" rtlCol="0" anchor="t">
            <a:spAutoFit/>
          </a:bodyPr>
          <a:lstStyle/>
          <a:p>
            <a:pPr marL="0" indent="0" algn="ctr">
              <a:lnSpc>
                <a:spcPts val="7400"/>
              </a:lnSpc>
              <a:buNone/>
            </a:pPr>
            <a:r>
              <a:rPr lang="en-US" sz="6218" b="1" kern="0" spc="3">
                <a:solidFill>
                  <a:srgbClr val="FFFFFF"/>
                </a:solidFill>
                <a:latin typeface="Inter" pitchFamily="34" charset="0"/>
                <a:ea typeface="Inter" pitchFamily="34" charset="-122"/>
                <a:cs typeface="Inter" pitchFamily="34" charset="-120"/>
              </a:rPr>
              <a:t>LEAP</a:t>
            </a:r>
            <a:endParaRPr lang="en-US" sz="6218"/>
          </a:p>
        </p:txBody>
      </p:sp>
      <p:sp>
        <p:nvSpPr>
          <p:cNvPr id="5" name="Text 2"/>
          <p:cNvSpPr/>
          <p:nvPr/>
        </p:nvSpPr>
        <p:spPr>
          <a:xfrm>
            <a:off x="914400" y="1966680"/>
            <a:ext cx="7315200" cy="276820"/>
          </a:xfrm>
          <a:prstGeom prst="rect">
            <a:avLst/>
          </a:prstGeom>
          <a:noFill/>
          <a:ln/>
        </p:spPr>
        <p:txBody>
          <a:bodyPr wrap="none" lIns="0" tIns="0" rIns="0" bIns="0" rtlCol="0" anchor="t">
            <a:spAutoFit/>
          </a:bodyPr>
          <a:lstStyle/>
          <a:p>
            <a:pPr marL="0" indent="0" algn="ctr">
              <a:lnSpc>
                <a:spcPts val="2200"/>
              </a:lnSpc>
              <a:buNone/>
            </a:pPr>
            <a:r>
              <a:rPr lang="en-US" sz="1602" b="1" kern="0" spc="1">
                <a:solidFill>
                  <a:srgbClr val="E0E1DD"/>
                </a:solidFill>
                <a:latin typeface="Inter" pitchFamily="34" charset="0"/>
                <a:ea typeface="Inter" pitchFamily="34" charset="-122"/>
                <a:cs typeface="Inter" pitchFamily="34" charset="-120"/>
              </a:rPr>
              <a:t>Lead Exposure Assistance Program</a:t>
            </a:r>
            <a:endParaRPr lang="en-US" sz="1602"/>
          </a:p>
        </p:txBody>
      </p:sp>
      <p:sp>
        <p:nvSpPr>
          <p:cNvPr id="6" name="Shape 3"/>
          <p:cNvSpPr/>
          <p:nvPr/>
        </p:nvSpPr>
        <p:spPr>
          <a:xfrm>
            <a:off x="1357313" y="2672128"/>
            <a:ext cx="6429375" cy="988684"/>
          </a:xfrm>
          <a:prstGeom prst="rect">
            <a:avLst/>
          </a:prstGeom>
          <a:solidFill>
            <a:srgbClr val="4BC0C8"/>
          </a:solidFill>
          <a:ln/>
        </p:spPr>
        <p:txBody>
          <a:bodyPr/>
          <a:lstStyle/>
          <a:p>
            <a:endParaRPr lang="en-US"/>
          </a:p>
        </p:txBody>
      </p:sp>
      <p:sp>
        <p:nvSpPr>
          <p:cNvPr id="7" name="Shape 4"/>
          <p:cNvSpPr/>
          <p:nvPr/>
        </p:nvSpPr>
        <p:spPr>
          <a:xfrm>
            <a:off x="1357313" y="2672125"/>
            <a:ext cx="57150" cy="988684"/>
          </a:xfrm>
          <a:prstGeom prst="rect">
            <a:avLst/>
          </a:prstGeom>
          <a:solidFill>
            <a:srgbClr val="F0A500"/>
          </a:solidFill>
          <a:ln/>
        </p:spPr>
        <p:txBody>
          <a:bodyPr/>
          <a:lstStyle/>
          <a:p>
            <a:endParaRPr lang="en-US"/>
          </a:p>
        </p:txBody>
      </p:sp>
      <p:sp>
        <p:nvSpPr>
          <p:cNvPr id="8" name="Text 5"/>
          <p:cNvSpPr/>
          <p:nvPr/>
        </p:nvSpPr>
        <p:spPr>
          <a:xfrm>
            <a:off x="1643063" y="2981032"/>
            <a:ext cx="5857875" cy="560059"/>
          </a:xfrm>
          <a:prstGeom prst="rect">
            <a:avLst/>
          </a:prstGeom>
          <a:noFill/>
          <a:ln/>
        </p:spPr>
        <p:txBody>
          <a:bodyPr wrap="square" lIns="0" tIns="0" rIns="0" bIns="0" rtlCol="0" anchor="t">
            <a:spAutoFit/>
          </a:bodyPr>
          <a:lstStyle/>
          <a:p>
            <a:pPr marL="0" indent="0" algn="ctr">
              <a:lnSpc>
                <a:spcPts val="2200"/>
              </a:lnSpc>
              <a:buNone/>
            </a:pPr>
            <a:r>
              <a:rPr lang="en-US" sz="1397" b="1">
                <a:solidFill>
                  <a:srgbClr val="0B132B"/>
                </a:solidFill>
                <a:latin typeface="Inter" pitchFamily="34" charset="0"/>
                <a:ea typeface="Inter" pitchFamily="34" charset="-122"/>
                <a:cs typeface="Inter" pitchFamily="34" charset="-120"/>
              </a:rPr>
              <a:t>"How much does Columbus need on hand today to fix 16,280 homes by 2037?"</a:t>
            </a:r>
            <a:endParaRPr lang="en-US" sz="1397"/>
          </a:p>
        </p:txBody>
      </p:sp>
      <p:sp>
        <p:nvSpPr>
          <p:cNvPr id="9" name="Text 6"/>
          <p:cNvSpPr/>
          <p:nvPr/>
        </p:nvSpPr>
        <p:spPr>
          <a:xfrm>
            <a:off x="3754472" y="4089434"/>
            <a:ext cx="1635064" cy="168059"/>
          </a:xfrm>
          <a:prstGeom prst="rect">
            <a:avLst/>
          </a:prstGeom>
          <a:noFill/>
          <a:ln/>
        </p:spPr>
        <p:txBody>
          <a:bodyPr wrap="none" lIns="0" tIns="0" rIns="0" bIns="0" rtlCol="0" anchor="t">
            <a:spAutoFit/>
          </a:bodyPr>
          <a:lstStyle/>
          <a:p>
            <a:pPr marL="0" indent="0" algn="ctr">
              <a:lnSpc>
                <a:spcPts val="1400"/>
              </a:lnSpc>
              <a:buNone/>
            </a:pPr>
            <a:r>
              <a:rPr lang="en-US" sz="987" b="1">
                <a:solidFill>
                  <a:srgbClr val="E0E1DD">
                    <a:alpha val="80000"/>
                  </a:srgbClr>
                </a:solidFill>
                <a:latin typeface="Inter" pitchFamily="34" charset="0"/>
                <a:ea typeface="Inter" pitchFamily="34" charset="-122"/>
                <a:cs typeface="Inter" pitchFamily="34" charset="-120"/>
              </a:rPr>
              <a:t>OSU Quantathon – March 2026</a:t>
            </a:r>
            <a:endParaRPr lang="en-US" sz="987"/>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428625"/>
            <a:ext cx="8001000" cy="173236"/>
          </a:xfrm>
          <a:prstGeom prst="rect">
            <a:avLst/>
          </a:prstGeom>
          <a:noFill/>
          <a:ln/>
        </p:spPr>
        <p:txBody>
          <a:bodyPr wrap="none" lIns="0" tIns="0" rIns="0" bIns="0" rtlCol="0" anchor="t">
            <a:spAutoFit/>
          </a:bodyPr>
          <a:lstStyle/>
          <a:p>
            <a:pPr marL="0" indent="0" algn="l">
              <a:lnSpc>
                <a:spcPts val="1400"/>
              </a:lnSpc>
              <a:buNone/>
            </a:pPr>
            <a:r>
              <a:rPr lang="en-US" sz="987" b="1" kern="0" spc="2">
                <a:solidFill>
                  <a:srgbClr val="F0A500"/>
                </a:solidFill>
                <a:latin typeface="Inter" pitchFamily="34" charset="0"/>
                <a:ea typeface="Inter" pitchFamily="34" charset="-122"/>
                <a:cs typeface="Inter" pitchFamily="34" charset="-120"/>
              </a:rPr>
              <a:t>THE PROBLEM</a:t>
            </a:r>
            <a:endParaRPr lang="en-US" sz="987"/>
          </a:p>
        </p:txBody>
      </p:sp>
      <p:sp>
        <p:nvSpPr>
          <p:cNvPr id="4" name="Text 1"/>
          <p:cNvSpPr/>
          <p:nvPr/>
        </p:nvSpPr>
        <p:spPr>
          <a:xfrm>
            <a:off x="571500" y="673298"/>
            <a:ext cx="7143750" cy="822927"/>
          </a:xfrm>
          <a:prstGeom prst="rect">
            <a:avLst/>
          </a:prstGeom>
          <a:noFill/>
          <a:ln/>
        </p:spPr>
        <p:txBody>
          <a:bodyPr wrap="square" lIns="0" tIns="0" rIns="0" bIns="0" rtlCol="0" anchor="t">
            <a:spAutoFit/>
          </a:bodyPr>
          <a:lstStyle/>
          <a:p>
            <a:pPr marL="0" indent="0" algn="l">
              <a:lnSpc>
                <a:spcPts val="3200"/>
              </a:lnSpc>
              <a:buNone/>
            </a:pPr>
            <a:r>
              <a:rPr lang="en-US" sz="2436" b="1">
                <a:solidFill>
                  <a:srgbClr val="FFFFFF"/>
                </a:solidFill>
                <a:latin typeface="Inter" pitchFamily="34" charset="0"/>
                <a:ea typeface="Inter" pitchFamily="34" charset="-122"/>
                <a:cs typeface="Inter" pitchFamily="34" charset="-120"/>
              </a:rPr>
              <a:t>A Federal Mandate Demands Immediate Action</a:t>
            </a:r>
            <a:endParaRPr lang="en-US" sz="2436"/>
          </a:p>
        </p:txBody>
      </p:sp>
      <p:sp>
        <p:nvSpPr>
          <p:cNvPr id="5" name="Text 2"/>
          <p:cNvSpPr/>
          <p:nvPr/>
        </p:nvSpPr>
        <p:spPr>
          <a:xfrm>
            <a:off x="571500" y="1710537"/>
            <a:ext cx="2143125" cy="342900"/>
          </a:xfrm>
          <a:prstGeom prst="rect">
            <a:avLst/>
          </a:prstGeom>
          <a:noFill/>
          <a:ln/>
        </p:spPr>
        <p:txBody>
          <a:bodyPr wrap="none" lIns="0" tIns="0" rIns="0" bIns="0" rtlCol="0" anchor="t">
            <a:spAutoFit/>
          </a:bodyPr>
          <a:lstStyle/>
          <a:p>
            <a:pPr marL="0" indent="0" algn="l">
              <a:lnSpc>
                <a:spcPts val="2700"/>
              </a:lnSpc>
              <a:buNone/>
            </a:pPr>
            <a:r>
              <a:rPr lang="en-US" sz="2436" b="1">
                <a:solidFill>
                  <a:srgbClr val="4BC0C8"/>
                </a:solidFill>
                <a:latin typeface="Inter" pitchFamily="34" charset="0"/>
                <a:ea typeface="Inter" pitchFamily="34" charset="-122"/>
                <a:cs typeface="Inter" pitchFamily="34" charset="-120"/>
              </a:rPr>
              <a:t>16,280</a:t>
            </a:r>
            <a:endParaRPr lang="en-US" sz="2436"/>
          </a:p>
        </p:txBody>
      </p:sp>
      <p:sp>
        <p:nvSpPr>
          <p:cNvPr id="6" name="Text 3"/>
          <p:cNvSpPr/>
          <p:nvPr/>
        </p:nvSpPr>
        <p:spPr>
          <a:xfrm>
            <a:off x="571500" y="2124875"/>
            <a:ext cx="1056571" cy="167097"/>
          </a:xfrm>
          <a:prstGeom prst="rect">
            <a:avLst/>
          </a:prstGeom>
          <a:noFill/>
          <a:ln/>
        </p:spPr>
        <p:txBody>
          <a:bodyPr wrap="none" lIns="0" tIns="0" rIns="0" bIns="0" rtlCol="0" anchor="t">
            <a:spAutoFit/>
          </a:bodyPr>
          <a:lstStyle/>
          <a:p>
            <a:pPr marL="0" indent="0" algn="l">
              <a:lnSpc>
                <a:spcPts val="1400"/>
              </a:lnSpc>
              <a:buNone/>
            </a:pPr>
            <a:r>
              <a:rPr lang="en-US" sz="987" b="1" kern="0" spc="1">
                <a:solidFill>
                  <a:srgbClr val="FFFFFF"/>
                </a:solidFill>
                <a:latin typeface="Inter" pitchFamily="34" charset="0"/>
                <a:ea typeface="Inter" pitchFamily="34" charset="-122"/>
                <a:cs typeface="Inter" pitchFamily="34" charset="-120"/>
              </a:rPr>
              <a:t>Targeted HOMES</a:t>
            </a:r>
            <a:endParaRPr lang="en-US" sz="987"/>
          </a:p>
        </p:txBody>
      </p:sp>
      <p:sp>
        <p:nvSpPr>
          <p:cNvPr id="7" name="Text 4"/>
          <p:cNvSpPr/>
          <p:nvPr/>
        </p:nvSpPr>
        <p:spPr>
          <a:xfrm>
            <a:off x="571500" y="2469561"/>
            <a:ext cx="2143125" cy="342900"/>
          </a:xfrm>
          <a:prstGeom prst="rect">
            <a:avLst/>
          </a:prstGeom>
          <a:noFill/>
          <a:ln/>
        </p:spPr>
        <p:txBody>
          <a:bodyPr wrap="none" lIns="0" tIns="0" rIns="0" bIns="0" rtlCol="0" anchor="t">
            <a:spAutoFit/>
          </a:bodyPr>
          <a:lstStyle/>
          <a:p>
            <a:pPr marL="0" indent="0" algn="l">
              <a:lnSpc>
                <a:spcPts val="2700"/>
              </a:lnSpc>
              <a:buNone/>
            </a:pPr>
            <a:r>
              <a:rPr lang="en-US" sz="2436" b="1">
                <a:solidFill>
                  <a:srgbClr val="4BC0C8"/>
                </a:solidFill>
                <a:latin typeface="Inter" pitchFamily="34" charset="0"/>
                <a:ea typeface="Inter" pitchFamily="34" charset="-122"/>
                <a:cs typeface="Inter" pitchFamily="34" charset="-120"/>
              </a:rPr>
              <a:t>$10k</a:t>
            </a:r>
            <a:endParaRPr lang="en-US" sz="2436"/>
          </a:p>
        </p:txBody>
      </p:sp>
      <p:sp>
        <p:nvSpPr>
          <p:cNvPr id="8" name="Text 5"/>
          <p:cNvSpPr/>
          <p:nvPr/>
        </p:nvSpPr>
        <p:spPr>
          <a:xfrm>
            <a:off x="571500" y="2883898"/>
            <a:ext cx="2143125" cy="173236"/>
          </a:xfrm>
          <a:prstGeom prst="rect">
            <a:avLst/>
          </a:prstGeom>
          <a:noFill/>
          <a:ln/>
        </p:spPr>
        <p:txBody>
          <a:bodyPr wrap="none" lIns="0" tIns="0" rIns="0" bIns="0" rtlCol="0" anchor="t">
            <a:spAutoFit/>
          </a:bodyPr>
          <a:lstStyle/>
          <a:p>
            <a:pPr marL="0" indent="0" algn="l">
              <a:lnSpc>
                <a:spcPts val="1400"/>
              </a:lnSpc>
              <a:buNone/>
            </a:pPr>
            <a:r>
              <a:rPr lang="en-US" sz="987" b="1" kern="0" spc="1">
                <a:solidFill>
                  <a:srgbClr val="FFFFFF"/>
                </a:solidFill>
                <a:latin typeface="Inter" pitchFamily="34" charset="0"/>
                <a:ea typeface="Inter" pitchFamily="34" charset="-122"/>
                <a:cs typeface="Inter" pitchFamily="34" charset="-120"/>
              </a:rPr>
              <a:t>LOAN CAP PER HOME</a:t>
            </a:r>
            <a:endParaRPr lang="en-US" sz="987"/>
          </a:p>
        </p:txBody>
      </p:sp>
      <p:sp>
        <p:nvSpPr>
          <p:cNvPr id="9" name="Text 6"/>
          <p:cNvSpPr/>
          <p:nvPr/>
        </p:nvSpPr>
        <p:spPr>
          <a:xfrm>
            <a:off x="571500" y="3228584"/>
            <a:ext cx="2143125" cy="342900"/>
          </a:xfrm>
          <a:prstGeom prst="rect">
            <a:avLst/>
          </a:prstGeom>
          <a:noFill/>
          <a:ln/>
        </p:spPr>
        <p:txBody>
          <a:bodyPr wrap="none" lIns="0" tIns="0" rIns="0" bIns="0" rtlCol="0" anchor="t">
            <a:spAutoFit/>
          </a:bodyPr>
          <a:lstStyle/>
          <a:p>
            <a:pPr marL="0" indent="0" algn="l">
              <a:lnSpc>
                <a:spcPts val="2700"/>
              </a:lnSpc>
              <a:buNone/>
            </a:pPr>
            <a:r>
              <a:rPr lang="en-US" sz="2436" b="1">
                <a:solidFill>
                  <a:srgbClr val="4BC0C8"/>
                </a:solidFill>
                <a:latin typeface="Inter" pitchFamily="34" charset="0"/>
                <a:ea typeface="Inter" pitchFamily="34" charset="-122"/>
                <a:cs typeface="Inter" pitchFamily="34" charset="-120"/>
              </a:rPr>
              <a:t>2037</a:t>
            </a:r>
            <a:endParaRPr lang="en-US" sz="2436"/>
          </a:p>
        </p:txBody>
      </p:sp>
      <p:sp>
        <p:nvSpPr>
          <p:cNvPr id="10" name="Text 7"/>
          <p:cNvSpPr/>
          <p:nvPr/>
        </p:nvSpPr>
        <p:spPr>
          <a:xfrm>
            <a:off x="571500" y="3642922"/>
            <a:ext cx="2143125" cy="173236"/>
          </a:xfrm>
          <a:prstGeom prst="rect">
            <a:avLst/>
          </a:prstGeom>
          <a:noFill/>
          <a:ln/>
        </p:spPr>
        <p:txBody>
          <a:bodyPr wrap="none" lIns="0" tIns="0" rIns="0" bIns="0" rtlCol="0" anchor="t">
            <a:spAutoFit/>
          </a:bodyPr>
          <a:lstStyle/>
          <a:p>
            <a:pPr marL="0" indent="0" algn="l">
              <a:lnSpc>
                <a:spcPts val="1400"/>
              </a:lnSpc>
              <a:buNone/>
            </a:pPr>
            <a:r>
              <a:rPr lang="en-US" sz="987" b="1" kern="0" spc="1">
                <a:solidFill>
                  <a:srgbClr val="FFFFFF"/>
                </a:solidFill>
                <a:latin typeface="Inter" pitchFamily="34" charset="0"/>
                <a:ea typeface="Inter" pitchFamily="34" charset="-122"/>
                <a:cs typeface="Inter" pitchFamily="34" charset="-120"/>
              </a:rPr>
              <a:t>FEDERAL DEADLINE</a:t>
            </a:r>
            <a:endParaRPr lang="en-US" sz="987"/>
          </a:p>
        </p:txBody>
      </p:sp>
      <p:sp>
        <p:nvSpPr>
          <p:cNvPr id="11" name="Text 8"/>
          <p:cNvSpPr/>
          <p:nvPr/>
        </p:nvSpPr>
        <p:spPr>
          <a:xfrm>
            <a:off x="3328988" y="1639100"/>
            <a:ext cx="5243513" cy="207169"/>
          </a:xfrm>
          <a:prstGeom prst="rect">
            <a:avLst/>
          </a:prstGeom>
          <a:noFill/>
          <a:ln/>
        </p:spPr>
        <p:txBody>
          <a:bodyPr wrap="none" lIns="0" tIns="0" rIns="0" bIns="0" rtlCol="0" anchor="t">
            <a:spAutoFit/>
          </a:bodyPr>
          <a:lstStyle/>
          <a:p>
            <a:pPr marL="0" indent="0" algn="l">
              <a:lnSpc>
                <a:spcPts val="1600"/>
              </a:lnSpc>
              <a:buNone/>
            </a:pPr>
            <a:r>
              <a:rPr lang="en-US" sz="1193" b="1">
                <a:solidFill>
                  <a:srgbClr val="FFFFFF"/>
                </a:solidFill>
                <a:latin typeface="Inter" pitchFamily="34" charset="0"/>
                <a:ea typeface="Inter" pitchFamily="34" charset="-122"/>
                <a:cs typeface="Inter" pitchFamily="34" charset="-120"/>
              </a:rPr>
              <a:t>The EPA Mandate</a:t>
            </a:r>
            <a:endParaRPr lang="en-US" sz="1193"/>
          </a:p>
        </p:txBody>
      </p:sp>
      <p:sp>
        <p:nvSpPr>
          <p:cNvPr id="12" name="Text 9"/>
          <p:cNvSpPr/>
          <p:nvPr/>
        </p:nvSpPr>
        <p:spPr>
          <a:xfrm>
            <a:off x="3328988" y="1917706"/>
            <a:ext cx="5243513" cy="428625"/>
          </a:xfrm>
          <a:prstGeom prst="rect">
            <a:avLst/>
          </a:prstGeom>
          <a:noFill/>
          <a:ln/>
        </p:spPr>
        <p:txBody>
          <a:bodyPr wrap="square" lIns="0" tIns="0" rIns="0" bIns="0" rtlCol="0" anchor="t">
            <a:spAutoFit/>
          </a:bodyPr>
          <a:lstStyle/>
          <a:p>
            <a:pPr marL="0" indent="0" algn="l">
              <a:lnSpc>
                <a:spcPts val="1700"/>
              </a:lnSpc>
              <a:buNone/>
            </a:pPr>
            <a:r>
              <a:rPr lang="en-US" sz="987" b="1">
                <a:solidFill>
                  <a:srgbClr val="E0E1DD"/>
                </a:solidFill>
                <a:latin typeface="Inter" pitchFamily="34" charset="0"/>
                <a:ea typeface="Inter" pitchFamily="34" charset="-122"/>
                <a:cs typeface="Inter" pitchFamily="34" charset="-120"/>
              </a:rPr>
              <a:t>EPA requires replacement of all lead service lines and galvanized pipes by </a:t>
            </a:r>
            <a:r>
              <a:rPr lang="en-US" sz="987" b="1">
                <a:solidFill>
                  <a:srgbClr val="4BC0C8"/>
                </a:solidFill>
                <a:latin typeface="Inter" pitchFamily="34" charset="0"/>
                <a:ea typeface="Inter" pitchFamily="34" charset="-122"/>
                <a:cs typeface="Inter" pitchFamily="34" charset="-120"/>
              </a:rPr>
              <a:t>2037</a:t>
            </a:r>
            <a:r>
              <a:rPr lang="en-US" sz="987" b="1">
                <a:solidFill>
                  <a:srgbClr val="E0E1DD"/>
                </a:solidFill>
                <a:latin typeface="Inter" pitchFamily="34" charset="0"/>
                <a:ea typeface="Inter" pitchFamily="34" charset="-122"/>
                <a:cs typeface="Inter" pitchFamily="34" charset="-120"/>
              </a:rPr>
              <a:t>, with no extensions.</a:t>
            </a:r>
            <a:endParaRPr lang="en-US" sz="987"/>
          </a:p>
        </p:txBody>
      </p:sp>
      <p:sp>
        <p:nvSpPr>
          <p:cNvPr id="13" name="Text 10"/>
          <p:cNvSpPr/>
          <p:nvPr/>
        </p:nvSpPr>
        <p:spPr>
          <a:xfrm>
            <a:off x="3328988" y="2446344"/>
            <a:ext cx="5243513" cy="207169"/>
          </a:xfrm>
          <a:prstGeom prst="rect">
            <a:avLst/>
          </a:prstGeom>
          <a:noFill/>
          <a:ln/>
        </p:spPr>
        <p:txBody>
          <a:bodyPr wrap="none" lIns="0" tIns="0" rIns="0" bIns="0" rtlCol="0" anchor="t">
            <a:spAutoFit/>
          </a:bodyPr>
          <a:lstStyle/>
          <a:p>
            <a:pPr marL="0" indent="0" algn="l">
              <a:lnSpc>
                <a:spcPts val="1600"/>
              </a:lnSpc>
              <a:buNone/>
            </a:pPr>
            <a:r>
              <a:rPr lang="en-US" sz="1193" b="1">
                <a:solidFill>
                  <a:srgbClr val="FFFFFF"/>
                </a:solidFill>
                <a:latin typeface="Inter" pitchFamily="34" charset="0"/>
                <a:ea typeface="Inter" pitchFamily="34" charset="-122"/>
                <a:cs typeface="Inter" pitchFamily="34" charset="-120"/>
              </a:rPr>
              <a:t>Columbus's Solution</a:t>
            </a:r>
            <a:endParaRPr lang="en-US" sz="1193"/>
          </a:p>
        </p:txBody>
      </p:sp>
      <p:sp>
        <p:nvSpPr>
          <p:cNvPr id="14" name="Text 11"/>
          <p:cNvSpPr/>
          <p:nvPr/>
        </p:nvSpPr>
        <p:spPr>
          <a:xfrm>
            <a:off x="3328988" y="2724950"/>
            <a:ext cx="5243513" cy="428625"/>
          </a:xfrm>
          <a:prstGeom prst="rect">
            <a:avLst/>
          </a:prstGeom>
          <a:noFill/>
          <a:ln/>
        </p:spPr>
        <p:txBody>
          <a:bodyPr wrap="square" lIns="0" tIns="0" rIns="0" bIns="0" rtlCol="0" anchor="t">
            <a:spAutoFit/>
          </a:bodyPr>
          <a:lstStyle/>
          <a:p>
            <a:pPr marL="0" indent="0" algn="l">
              <a:lnSpc>
                <a:spcPts val="1700"/>
              </a:lnSpc>
              <a:buNone/>
            </a:pPr>
            <a:r>
              <a:rPr lang="en-US" sz="987" b="1">
                <a:solidFill>
                  <a:srgbClr val="E0E1DD"/>
                </a:solidFill>
                <a:latin typeface="Inter" pitchFamily="34" charset="0"/>
                <a:ea typeface="Inter" pitchFamily="34" charset="-122"/>
                <a:cs typeface="Inter" pitchFamily="34" charset="-120"/>
              </a:rPr>
              <a:t>A </a:t>
            </a:r>
            <a:r>
              <a:rPr lang="en-US" sz="987" b="1">
                <a:solidFill>
                  <a:srgbClr val="4BC0C8"/>
                </a:solidFill>
                <a:latin typeface="Inter" pitchFamily="34" charset="0"/>
                <a:ea typeface="Inter" pitchFamily="34" charset="-122"/>
                <a:cs typeface="Inter" pitchFamily="34" charset="-120"/>
              </a:rPr>
              <a:t>0% interest, 99-year deferred loan</a:t>
            </a:r>
            <a:r>
              <a:rPr lang="en-US" sz="987" b="1">
                <a:solidFill>
                  <a:srgbClr val="E0E1DD"/>
                </a:solidFill>
                <a:latin typeface="Inter" pitchFamily="34" charset="0"/>
                <a:ea typeface="Inter" pitchFamily="34" charset="-122"/>
                <a:cs typeface="Inter" pitchFamily="34" charset="-120"/>
              </a:rPr>
              <a:t> up to $10,000 per household, repaid on sale, refinance, or qualifying aid.</a:t>
            </a:r>
            <a:endParaRPr lang="en-US" sz="987"/>
          </a:p>
        </p:txBody>
      </p:sp>
      <p:sp>
        <p:nvSpPr>
          <p:cNvPr id="15" name="Text 12"/>
          <p:cNvSpPr/>
          <p:nvPr/>
        </p:nvSpPr>
        <p:spPr>
          <a:xfrm>
            <a:off x="3328988" y="3298929"/>
            <a:ext cx="5243513" cy="207169"/>
          </a:xfrm>
          <a:prstGeom prst="rect">
            <a:avLst/>
          </a:prstGeom>
          <a:noFill/>
          <a:ln/>
        </p:spPr>
        <p:txBody>
          <a:bodyPr wrap="none" lIns="0" tIns="0" rIns="0" bIns="0" rtlCol="0" anchor="t">
            <a:spAutoFit/>
          </a:bodyPr>
          <a:lstStyle/>
          <a:p>
            <a:pPr marL="0" indent="0" algn="l">
              <a:lnSpc>
                <a:spcPts val="1600"/>
              </a:lnSpc>
              <a:buNone/>
            </a:pPr>
            <a:r>
              <a:rPr lang="en-US" sz="1193" b="1">
                <a:solidFill>
                  <a:srgbClr val="FFFFFF"/>
                </a:solidFill>
                <a:latin typeface="Inter" pitchFamily="34" charset="0"/>
                <a:ea typeface="Inter" pitchFamily="34" charset="-122"/>
                <a:cs typeface="Inter" pitchFamily="34" charset="-120"/>
              </a:rPr>
              <a:t>The Central Question</a:t>
            </a:r>
            <a:endParaRPr lang="en-US" sz="1193"/>
          </a:p>
        </p:txBody>
      </p:sp>
      <p:sp>
        <p:nvSpPr>
          <p:cNvPr id="16" name="Text 13"/>
          <p:cNvSpPr/>
          <p:nvPr/>
        </p:nvSpPr>
        <p:spPr>
          <a:xfrm>
            <a:off x="3328988" y="3532194"/>
            <a:ext cx="5243513" cy="428625"/>
          </a:xfrm>
          <a:prstGeom prst="rect">
            <a:avLst/>
          </a:prstGeom>
          <a:noFill/>
          <a:ln/>
        </p:spPr>
        <p:txBody>
          <a:bodyPr wrap="square" lIns="0" tIns="0" rIns="0" bIns="0" rtlCol="0" anchor="t">
            <a:spAutoFit/>
          </a:bodyPr>
          <a:lstStyle/>
          <a:p>
            <a:pPr marL="0" indent="0" algn="l">
              <a:lnSpc>
                <a:spcPts val="1700"/>
              </a:lnSpc>
              <a:buNone/>
            </a:pPr>
            <a:r>
              <a:rPr lang="en-US" sz="987" b="1">
                <a:solidFill>
                  <a:srgbClr val="E0E1DD"/>
                </a:solidFill>
                <a:latin typeface="Inter" pitchFamily="34" charset="0"/>
                <a:ea typeface="Inter" pitchFamily="34" charset="-122"/>
                <a:cs typeface="Inter" pitchFamily="34" charset="-120"/>
              </a:rPr>
              <a:t>How much </a:t>
            </a:r>
            <a:r>
              <a:rPr lang="en-US" sz="987" b="1">
                <a:solidFill>
                  <a:srgbClr val="4BC0C8"/>
                </a:solidFill>
                <a:latin typeface="Inter" pitchFamily="34" charset="0"/>
                <a:ea typeface="Inter" pitchFamily="34" charset="-122"/>
                <a:cs typeface="Inter" pitchFamily="34" charset="-120"/>
              </a:rPr>
              <a:t>upfront capital</a:t>
            </a:r>
            <a:r>
              <a:rPr lang="en-US" sz="987" b="1">
                <a:solidFill>
                  <a:srgbClr val="E0E1DD"/>
                </a:solidFill>
                <a:latin typeface="Inter" pitchFamily="34" charset="0"/>
                <a:ea typeface="Inter" pitchFamily="34" charset="-122"/>
                <a:cs typeface="Inter" pitchFamily="34" charset="-120"/>
              </a:rPr>
              <a:t> must the City reserve today to fund all loans until repayments begin?</a:t>
            </a:r>
            <a:endParaRPr lang="en-US" sz="987"/>
          </a:p>
        </p:txBody>
      </p:sp>
      <p:sp>
        <p:nvSpPr>
          <p:cNvPr id="17" name="Text 14"/>
          <p:cNvSpPr/>
          <p:nvPr/>
        </p:nvSpPr>
        <p:spPr>
          <a:xfrm>
            <a:off x="3328988" y="4060831"/>
            <a:ext cx="5243513" cy="207169"/>
          </a:xfrm>
          <a:prstGeom prst="rect">
            <a:avLst/>
          </a:prstGeom>
          <a:noFill/>
          <a:ln/>
        </p:spPr>
        <p:txBody>
          <a:bodyPr wrap="none" lIns="0" tIns="0" rIns="0" bIns="0" rtlCol="0" anchor="t">
            <a:spAutoFit/>
          </a:bodyPr>
          <a:lstStyle/>
          <a:p>
            <a:pPr marL="0" indent="0" algn="l">
              <a:lnSpc>
                <a:spcPts val="1600"/>
              </a:lnSpc>
              <a:buNone/>
            </a:pPr>
            <a:r>
              <a:rPr lang="en-US" sz="1193" b="1">
                <a:solidFill>
                  <a:srgbClr val="FFFFFF"/>
                </a:solidFill>
                <a:latin typeface="Inter" pitchFamily="34" charset="0"/>
                <a:ea typeface="Inter" pitchFamily="34" charset="-122"/>
                <a:cs typeface="Inter" pitchFamily="34" charset="-120"/>
              </a:rPr>
              <a:t>Why It Matters</a:t>
            </a:r>
            <a:endParaRPr lang="en-US" sz="1193"/>
          </a:p>
        </p:txBody>
      </p:sp>
      <p:sp>
        <p:nvSpPr>
          <p:cNvPr id="18" name="Text 15"/>
          <p:cNvSpPr/>
          <p:nvPr/>
        </p:nvSpPr>
        <p:spPr>
          <a:xfrm>
            <a:off x="3328988" y="4339437"/>
            <a:ext cx="5243513" cy="428625"/>
          </a:xfrm>
          <a:prstGeom prst="rect">
            <a:avLst/>
          </a:prstGeom>
          <a:noFill/>
          <a:ln/>
        </p:spPr>
        <p:txBody>
          <a:bodyPr wrap="square" lIns="0" tIns="0" rIns="0" bIns="0" rtlCol="0" anchor="t">
            <a:spAutoFit/>
          </a:bodyPr>
          <a:lstStyle/>
          <a:p>
            <a:pPr marL="0" indent="0" algn="l">
              <a:lnSpc>
                <a:spcPts val="1700"/>
              </a:lnSpc>
              <a:buNone/>
            </a:pPr>
            <a:r>
              <a:rPr lang="en-US" sz="987" b="1">
                <a:solidFill>
                  <a:srgbClr val="E0E1DD"/>
                </a:solidFill>
                <a:latin typeface="Inter" pitchFamily="34" charset="0"/>
                <a:ea typeface="Inter" pitchFamily="34" charset="-122"/>
                <a:cs typeface="Inter" pitchFamily="34" charset="-120"/>
              </a:rPr>
              <a:t>This is both a </a:t>
            </a:r>
            <a:r>
              <a:rPr lang="en-US" sz="987" b="1">
                <a:solidFill>
                  <a:srgbClr val="4BC0C8"/>
                </a:solidFill>
                <a:latin typeface="Inter" pitchFamily="34" charset="0"/>
                <a:ea typeface="Inter" pitchFamily="34" charset="-122"/>
                <a:cs typeface="Inter" pitchFamily="34" charset="-120"/>
              </a:rPr>
              <a:t>public health imperative</a:t>
            </a:r>
            <a:r>
              <a:rPr lang="en-US" sz="987" b="1">
                <a:solidFill>
                  <a:srgbClr val="E0E1DD"/>
                </a:solidFill>
                <a:latin typeface="Inter" pitchFamily="34" charset="0"/>
                <a:ea typeface="Inter" pitchFamily="34" charset="-122"/>
                <a:cs typeface="Inter" pitchFamily="34" charset="-120"/>
              </a:rPr>
              <a:t> and a </a:t>
            </a:r>
            <a:r>
              <a:rPr lang="en-US" sz="987" b="1">
                <a:solidFill>
                  <a:srgbClr val="4BC0C8"/>
                </a:solidFill>
                <a:latin typeface="Inter" pitchFamily="34" charset="0"/>
                <a:ea typeface="Inter" pitchFamily="34" charset="-122"/>
                <a:cs typeface="Inter" pitchFamily="34" charset="-120"/>
              </a:rPr>
              <a:t>fiscal responsibility</a:t>
            </a:r>
            <a:r>
              <a:rPr lang="en-US" sz="987" b="1">
                <a:solidFill>
                  <a:srgbClr val="E0E1DD"/>
                </a:solidFill>
                <a:latin typeface="Inter" pitchFamily="34" charset="0"/>
                <a:ea typeface="Inter" pitchFamily="34" charset="-122"/>
                <a:cs typeface="Inter" pitchFamily="34" charset="-120"/>
              </a:rPr>
              <a:t> for city planners.</a:t>
            </a:r>
            <a:endParaRPr lang="en-US" sz="987"/>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C1B2A"/>
        </a:solidFill>
        <a:effectLst/>
      </p:bgPr>
    </p:bg>
    <p:spTree>
      <p:nvGrpSpPr>
        <p:cNvPr id="1" name=""/>
        <p:cNvGrpSpPr/>
        <p:nvPr/>
      </p:nvGrpSpPr>
      <p:grpSpPr>
        <a:xfrm>
          <a:off x="0" y="0"/>
          <a:ext cx="0" cy="0"/>
          <a:chOff x="0" y="0"/>
          <a:chExt cx="0" cy="0"/>
        </a:xfrm>
      </p:grpSpPr>
      <p:sp>
        <p:nvSpPr>
          <p:cNvPr id="2" name="Shape 0"/>
          <p:cNvSpPr/>
          <p:nvPr/>
        </p:nvSpPr>
        <p:spPr>
          <a:xfrm>
            <a:off x="0" y="4960620"/>
            <a:ext cx="9144000" cy="182880"/>
          </a:xfrm>
          <a:prstGeom prst="rect">
            <a:avLst/>
          </a:prstGeom>
          <a:solidFill>
            <a:srgbClr val="00C8D4"/>
          </a:solidFill>
          <a:ln w="12700">
            <a:solidFill>
              <a:srgbClr val="00C8D4"/>
            </a:solidFill>
            <a:prstDash val="solid"/>
          </a:ln>
        </p:spPr>
        <p:txBody>
          <a:bodyPr/>
          <a:lstStyle/>
          <a:p>
            <a:endParaRPr lang="en-US"/>
          </a:p>
        </p:txBody>
      </p:sp>
      <p:sp>
        <p:nvSpPr>
          <p:cNvPr id="3" name="Text 1"/>
          <p:cNvSpPr/>
          <p:nvPr/>
        </p:nvSpPr>
        <p:spPr>
          <a:xfrm>
            <a:off x="457200" y="164592"/>
            <a:ext cx="8229600" cy="256032"/>
          </a:xfrm>
          <a:prstGeom prst="rect">
            <a:avLst/>
          </a:prstGeom>
          <a:noFill/>
          <a:ln/>
        </p:spPr>
        <p:txBody>
          <a:bodyPr wrap="square" lIns="0" tIns="0" rIns="0" bIns="0" rtlCol="0" anchor="ctr"/>
          <a:lstStyle/>
          <a:p>
            <a:pPr marL="0" indent="0" algn="l">
              <a:buNone/>
            </a:pPr>
            <a:r>
              <a:rPr lang="en-US" sz="1000" b="1">
                <a:solidFill>
                  <a:srgbClr val="F5A623"/>
                </a:solidFill>
                <a:latin typeface="Calibri" pitchFamily="34" charset="0"/>
                <a:ea typeface="Calibri" pitchFamily="34" charset="-122"/>
                <a:cs typeface="Calibri" pitchFamily="34" charset="-120"/>
              </a:rPr>
              <a:t>THE MODEL — REPAYMENT LOGIC</a:t>
            </a:r>
            <a:endParaRPr lang="en-US" sz="1000"/>
          </a:p>
        </p:txBody>
      </p:sp>
      <p:sp>
        <p:nvSpPr>
          <p:cNvPr id="4" name="Text 2"/>
          <p:cNvSpPr/>
          <p:nvPr/>
        </p:nvSpPr>
        <p:spPr>
          <a:xfrm>
            <a:off x="457200" y="438912"/>
            <a:ext cx="8229600" cy="685800"/>
          </a:xfrm>
          <a:prstGeom prst="rect">
            <a:avLst/>
          </a:prstGeom>
          <a:noFill/>
          <a:ln/>
        </p:spPr>
        <p:txBody>
          <a:bodyPr wrap="square" lIns="0" tIns="0" rIns="0" bIns="0" rtlCol="0" anchor="ctr"/>
          <a:lstStyle/>
          <a:p>
            <a:pPr marL="0" indent="0" algn="l">
              <a:buNone/>
            </a:pPr>
            <a:r>
              <a:rPr lang="en-US" sz="2600" b="1">
                <a:solidFill>
                  <a:srgbClr val="FFFFFF"/>
                </a:solidFill>
                <a:latin typeface="Calibri" pitchFamily="34" charset="0"/>
                <a:ea typeface="Calibri" pitchFamily="34" charset="-122"/>
                <a:cs typeface="Calibri" pitchFamily="34" charset="-120"/>
              </a:rPr>
              <a:t>Three Ways a Loan Closes — and One Way It Doesn't</a:t>
            </a:r>
            <a:endParaRPr lang="en-US" sz="2600"/>
          </a:p>
        </p:txBody>
      </p:sp>
      <p:sp>
        <p:nvSpPr>
          <p:cNvPr id="5" name="Shape 3"/>
          <p:cNvSpPr/>
          <p:nvPr/>
        </p:nvSpPr>
        <p:spPr>
          <a:xfrm>
            <a:off x="457200" y="1170432"/>
            <a:ext cx="8229600" cy="27432"/>
          </a:xfrm>
          <a:prstGeom prst="rect">
            <a:avLst/>
          </a:prstGeom>
          <a:solidFill>
            <a:srgbClr val="1E3A52"/>
          </a:solidFill>
          <a:ln w="12700">
            <a:solidFill>
              <a:srgbClr val="1E3A52"/>
            </a:solidFill>
            <a:prstDash val="solid"/>
          </a:ln>
        </p:spPr>
        <p:txBody>
          <a:bodyPr/>
          <a:lstStyle/>
          <a:p>
            <a:endParaRPr lang="en-US"/>
          </a:p>
        </p:txBody>
      </p:sp>
      <p:sp>
        <p:nvSpPr>
          <p:cNvPr id="6" name="Shape 4"/>
          <p:cNvSpPr/>
          <p:nvPr/>
        </p:nvSpPr>
        <p:spPr>
          <a:xfrm>
            <a:off x="411480" y="1298448"/>
            <a:ext cx="64008" cy="1005840"/>
          </a:xfrm>
          <a:prstGeom prst="rect">
            <a:avLst/>
          </a:prstGeom>
          <a:solidFill>
            <a:srgbClr val="00C8D4"/>
          </a:solidFill>
          <a:ln w="12700">
            <a:solidFill>
              <a:srgbClr val="00C8D4"/>
            </a:solidFill>
            <a:prstDash val="solid"/>
          </a:ln>
        </p:spPr>
        <p:txBody>
          <a:bodyPr/>
          <a:lstStyle/>
          <a:p>
            <a:endParaRPr lang="en-US"/>
          </a:p>
        </p:txBody>
      </p:sp>
      <p:sp>
        <p:nvSpPr>
          <p:cNvPr id="7" name="Text 5"/>
          <p:cNvSpPr/>
          <p:nvPr/>
        </p:nvSpPr>
        <p:spPr>
          <a:xfrm>
            <a:off x="594360" y="1344168"/>
            <a:ext cx="1005840" cy="384048"/>
          </a:xfrm>
          <a:prstGeom prst="rect">
            <a:avLst/>
          </a:prstGeom>
          <a:noFill/>
          <a:ln/>
        </p:spPr>
        <p:txBody>
          <a:bodyPr wrap="square" lIns="0" tIns="0" rIns="0" bIns="0" rtlCol="0" anchor="ctr"/>
          <a:lstStyle/>
          <a:p>
            <a:pPr marL="0" indent="0" algn="l">
              <a:buNone/>
            </a:pPr>
            <a:r>
              <a:rPr lang="en-US" sz="2200" b="1">
                <a:solidFill>
                  <a:srgbClr val="00C8D4"/>
                </a:solidFill>
                <a:latin typeface="Calibri" pitchFamily="34" charset="0"/>
                <a:ea typeface="Calibri" pitchFamily="34" charset="-122"/>
                <a:cs typeface="Calibri" pitchFamily="34" charset="-120"/>
              </a:rPr>
              <a:t>8.78%</a:t>
            </a:r>
            <a:endParaRPr lang="en-US" sz="2200"/>
          </a:p>
        </p:txBody>
      </p:sp>
      <p:sp>
        <p:nvSpPr>
          <p:cNvPr id="8" name="Text 6"/>
          <p:cNvSpPr/>
          <p:nvPr/>
        </p:nvSpPr>
        <p:spPr>
          <a:xfrm>
            <a:off x="1664208" y="1389888"/>
            <a:ext cx="2560320" cy="320040"/>
          </a:xfrm>
          <a:prstGeom prst="rect">
            <a:avLst/>
          </a:prstGeom>
          <a:noFill/>
          <a:ln/>
        </p:spPr>
        <p:txBody>
          <a:bodyPr wrap="square" lIns="0" tIns="0" rIns="0" bIns="0" rtlCol="0" anchor="ctr"/>
          <a:lstStyle/>
          <a:p>
            <a:pPr marL="0" indent="0" algn="l">
              <a:buNone/>
            </a:pPr>
            <a:r>
              <a:rPr lang="en-US" sz="1300" b="1">
                <a:solidFill>
                  <a:srgbClr val="FFFFFF"/>
                </a:solidFill>
                <a:latin typeface="Calibri" pitchFamily="34" charset="0"/>
                <a:ea typeface="Calibri" pitchFamily="34" charset="-122"/>
                <a:cs typeface="Calibri" pitchFamily="34" charset="-120"/>
              </a:rPr>
              <a:t>Home Sale</a:t>
            </a:r>
            <a:endParaRPr lang="en-US" sz="1300"/>
          </a:p>
        </p:txBody>
      </p:sp>
      <p:sp>
        <p:nvSpPr>
          <p:cNvPr id="9" name="Text 7"/>
          <p:cNvSpPr/>
          <p:nvPr/>
        </p:nvSpPr>
        <p:spPr>
          <a:xfrm>
            <a:off x="594360" y="1755648"/>
            <a:ext cx="3749040" cy="512064"/>
          </a:xfrm>
          <a:prstGeom prst="rect">
            <a:avLst/>
          </a:prstGeom>
          <a:noFill/>
          <a:ln/>
        </p:spPr>
        <p:txBody>
          <a:bodyPr wrap="square" lIns="0" tIns="0" rIns="0" bIns="0" rtlCol="0" anchor="t"/>
          <a:lstStyle/>
          <a:p>
            <a:pPr marL="0" indent="0" algn="l">
              <a:buNone/>
            </a:pPr>
            <a:r>
              <a:rPr lang="en-US" sz="1000">
                <a:solidFill>
                  <a:srgbClr val="C8D8E8"/>
                </a:solidFill>
                <a:latin typeface="Calibri" pitchFamily="34" charset="0"/>
                <a:ea typeface="Calibri" pitchFamily="34" charset="-122"/>
                <a:cs typeface="Calibri" pitchFamily="34" charset="-120"/>
              </a:rPr>
              <a:t>Each year, an 8.78% chance the homeowner sells. On sale, the full loan balance is repaid — capital returned to the City's revolving fund.</a:t>
            </a:r>
          </a:p>
          <a:p>
            <a:pPr marL="0" indent="0" algn="l">
              <a:buNone/>
            </a:pPr>
            <a:r>
              <a:rPr lang="en-US" sz="1000">
                <a:solidFill>
                  <a:srgbClr val="C8D8E8"/>
                </a:solidFill>
                <a:latin typeface="Calibri" pitchFamily="34" charset="0"/>
                <a:ea typeface="Calibri" pitchFamily="34" charset="-122"/>
                <a:cs typeface="Calibri" pitchFamily="34" charset="-120"/>
              </a:rPr>
              <a:t>Source: </a:t>
            </a:r>
            <a:r>
              <a:rPr lang="en-US" sz="1000" err="1">
                <a:solidFill>
                  <a:srgbClr val="C8D8E8"/>
                </a:solidFill>
                <a:latin typeface="Calibri" pitchFamily="34" charset="0"/>
                <a:ea typeface="Calibri" pitchFamily="34" charset="-122"/>
                <a:cs typeface="Calibri" pitchFamily="34" charset="-120"/>
              </a:rPr>
              <a:t>ColumbusRealators.com</a:t>
            </a:r>
            <a:endParaRPr lang="en-US" sz="1000">
              <a:solidFill>
                <a:srgbClr val="C8D8E8"/>
              </a:solidFill>
              <a:latin typeface="Calibri" pitchFamily="34" charset="0"/>
              <a:ea typeface="Calibri" pitchFamily="34" charset="-122"/>
              <a:cs typeface="Calibri" pitchFamily="34" charset="-120"/>
            </a:endParaRPr>
          </a:p>
          <a:p>
            <a:pPr marL="0" indent="0" algn="l">
              <a:buNone/>
            </a:pPr>
            <a:endParaRPr lang="en-US" sz="1000">
              <a:solidFill>
                <a:schemeClr val="bg1"/>
              </a:solidFill>
            </a:endParaRPr>
          </a:p>
        </p:txBody>
      </p:sp>
      <p:sp>
        <p:nvSpPr>
          <p:cNvPr id="10" name="Shape 8"/>
          <p:cNvSpPr/>
          <p:nvPr/>
        </p:nvSpPr>
        <p:spPr>
          <a:xfrm>
            <a:off x="411480" y="2441448"/>
            <a:ext cx="64008" cy="1005840"/>
          </a:xfrm>
          <a:prstGeom prst="rect">
            <a:avLst/>
          </a:prstGeom>
          <a:solidFill>
            <a:srgbClr val="F5A623"/>
          </a:solidFill>
          <a:ln w="12700">
            <a:solidFill>
              <a:srgbClr val="F5A623"/>
            </a:solidFill>
            <a:prstDash val="solid"/>
          </a:ln>
        </p:spPr>
        <p:txBody>
          <a:bodyPr/>
          <a:lstStyle/>
          <a:p>
            <a:endParaRPr lang="en-US"/>
          </a:p>
        </p:txBody>
      </p:sp>
      <p:sp>
        <p:nvSpPr>
          <p:cNvPr id="11" name="Text 9"/>
          <p:cNvSpPr/>
          <p:nvPr/>
        </p:nvSpPr>
        <p:spPr>
          <a:xfrm>
            <a:off x="594360" y="2487168"/>
            <a:ext cx="1005840" cy="384048"/>
          </a:xfrm>
          <a:prstGeom prst="rect">
            <a:avLst/>
          </a:prstGeom>
          <a:noFill/>
          <a:ln/>
        </p:spPr>
        <p:txBody>
          <a:bodyPr wrap="square" lIns="0" tIns="0" rIns="0" bIns="0" rtlCol="0" anchor="ctr"/>
          <a:lstStyle/>
          <a:p>
            <a:pPr marL="0" indent="0" algn="l">
              <a:buNone/>
            </a:pPr>
            <a:r>
              <a:rPr lang="en-US" sz="2200" b="1">
                <a:solidFill>
                  <a:srgbClr val="F5A623"/>
                </a:solidFill>
                <a:latin typeface="Calibri" pitchFamily="34" charset="0"/>
                <a:ea typeface="Calibri" pitchFamily="34" charset="-122"/>
                <a:cs typeface="Calibri" pitchFamily="34" charset="-120"/>
              </a:rPr>
              <a:t>3.25%</a:t>
            </a:r>
            <a:endParaRPr lang="en-US" sz="2200"/>
          </a:p>
        </p:txBody>
      </p:sp>
      <p:sp>
        <p:nvSpPr>
          <p:cNvPr id="12" name="Text 10"/>
          <p:cNvSpPr/>
          <p:nvPr/>
        </p:nvSpPr>
        <p:spPr>
          <a:xfrm>
            <a:off x="1664208" y="2532888"/>
            <a:ext cx="2560320" cy="320040"/>
          </a:xfrm>
          <a:prstGeom prst="rect">
            <a:avLst/>
          </a:prstGeom>
          <a:noFill/>
          <a:ln/>
        </p:spPr>
        <p:txBody>
          <a:bodyPr wrap="square" lIns="0" tIns="0" rIns="0" bIns="0" rtlCol="0" anchor="ctr"/>
          <a:lstStyle/>
          <a:p>
            <a:pPr marL="0" indent="0" algn="l">
              <a:buNone/>
            </a:pPr>
            <a:r>
              <a:rPr lang="en-US" sz="1300" b="1">
                <a:solidFill>
                  <a:srgbClr val="FFFFFF"/>
                </a:solidFill>
                <a:latin typeface="Calibri" pitchFamily="34" charset="0"/>
                <a:ea typeface="Calibri" pitchFamily="34" charset="-122"/>
                <a:cs typeface="Calibri" pitchFamily="34" charset="-120"/>
              </a:rPr>
              <a:t>Refinance</a:t>
            </a:r>
            <a:endParaRPr lang="en-US" sz="1300"/>
          </a:p>
        </p:txBody>
      </p:sp>
      <p:sp>
        <p:nvSpPr>
          <p:cNvPr id="13" name="Text 11"/>
          <p:cNvSpPr/>
          <p:nvPr/>
        </p:nvSpPr>
        <p:spPr>
          <a:xfrm>
            <a:off x="594360" y="2898648"/>
            <a:ext cx="3749040" cy="512064"/>
          </a:xfrm>
          <a:prstGeom prst="rect">
            <a:avLst/>
          </a:prstGeom>
          <a:noFill/>
          <a:ln/>
        </p:spPr>
        <p:txBody>
          <a:bodyPr wrap="square" lIns="0" tIns="0" rIns="0" bIns="0" rtlCol="0" anchor="t"/>
          <a:lstStyle/>
          <a:p>
            <a:pPr marL="0" indent="0" algn="l">
              <a:buNone/>
            </a:pPr>
            <a:r>
              <a:rPr lang="en-US" sz="1000">
                <a:solidFill>
                  <a:srgbClr val="C8D8E8"/>
                </a:solidFill>
                <a:latin typeface="Calibri" pitchFamily="34" charset="0"/>
                <a:ea typeface="Calibri" pitchFamily="34" charset="-122"/>
                <a:cs typeface="Calibri" pitchFamily="34" charset="-120"/>
              </a:rPr>
              <a:t>A 3.25% annual refinance probability. When homeowners refinance, the deferred lien is typically cleared at closing — another repayment event. Source: </a:t>
            </a:r>
            <a:r>
              <a:rPr lang="en-US" sz="1000" err="1">
                <a:solidFill>
                  <a:srgbClr val="C8D8E8"/>
                </a:solidFill>
                <a:latin typeface="Calibri" pitchFamily="34" charset="0"/>
                <a:ea typeface="Calibri" pitchFamily="34" charset="-122"/>
                <a:cs typeface="Calibri" pitchFamily="34" charset="-120"/>
              </a:rPr>
              <a:t>FreddieMac.com</a:t>
            </a:r>
            <a:endParaRPr lang="en-US" sz="1000">
              <a:solidFill>
                <a:srgbClr val="C8D8E8"/>
              </a:solidFill>
              <a:latin typeface="Calibri" pitchFamily="34" charset="0"/>
              <a:ea typeface="Calibri" pitchFamily="34" charset="-122"/>
              <a:cs typeface="Calibri" pitchFamily="34" charset="-120"/>
            </a:endParaRPr>
          </a:p>
        </p:txBody>
      </p:sp>
      <p:sp>
        <p:nvSpPr>
          <p:cNvPr id="14" name="Shape 12"/>
          <p:cNvSpPr/>
          <p:nvPr/>
        </p:nvSpPr>
        <p:spPr>
          <a:xfrm>
            <a:off x="411480" y="3584448"/>
            <a:ext cx="64008" cy="1005840"/>
          </a:xfrm>
          <a:prstGeom prst="rect">
            <a:avLst/>
          </a:prstGeom>
          <a:solidFill>
            <a:srgbClr val="E05B5B"/>
          </a:solidFill>
          <a:ln w="12700">
            <a:solidFill>
              <a:srgbClr val="E05B5B"/>
            </a:solidFill>
            <a:prstDash val="solid"/>
          </a:ln>
        </p:spPr>
        <p:txBody>
          <a:bodyPr/>
          <a:lstStyle/>
          <a:p>
            <a:endParaRPr lang="en-US"/>
          </a:p>
        </p:txBody>
      </p:sp>
      <p:sp>
        <p:nvSpPr>
          <p:cNvPr id="15" name="Text 13"/>
          <p:cNvSpPr/>
          <p:nvPr/>
        </p:nvSpPr>
        <p:spPr>
          <a:xfrm>
            <a:off x="594360" y="3567413"/>
            <a:ext cx="1005840" cy="384048"/>
          </a:xfrm>
          <a:prstGeom prst="rect">
            <a:avLst/>
          </a:prstGeom>
          <a:noFill/>
          <a:ln/>
        </p:spPr>
        <p:txBody>
          <a:bodyPr wrap="square" lIns="0" tIns="0" rIns="0" bIns="0" rtlCol="0" anchor="ctr"/>
          <a:lstStyle/>
          <a:p>
            <a:pPr marL="0" indent="0" algn="l">
              <a:buNone/>
            </a:pPr>
            <a:r>
              <a:rPr lang="en-US" sz="2200" b="1">
                <a:solidFill>
                  <a:srgbClr val="E05B5B"/>
                </a:solidFill>
                <a:latin typeface="Calibri" pitchFamily="34" charset="0"/>
                <a:ea typeface="Calibri" pitchFamily="34" charset="-122"/>
                <a:cs typeface="Calibri" pitchFamily="34" charset="-120"/>
              </a:rPr>
              <a:t>3.82%</a:t>
            </a:r>
            <a:endParaRPr lang="en-US" sz="2200"/>
          </a:p>
        </p:txBody>
      </p:sp>
      <p:sp>
        <p:nvSpPr>
          <p:cNvPr id="16" name="Text 14"/>
          <p:cNvSpPr/>
          <p:nvPr/>
        </p:nvSpPr>
        <p:spPr>
          <a:xfrm>
            <a:off x="1664208" y="3613133"/>
            <a:ext cx="2560320" cy="320040"/>
          </a:xfrm>
          <a:prstGeom prst="rect">
            <a:avLst/>
          </a:prstGeom>
          <a:noFill/>
          <a:ln/>
        </p:spPr>
        <p:txBody>
          <a:bodyPr wrap="square" lIns="0" tIns="0" rIns="0" bIns="0" rtlCol="0" anchor="ctr"/>
          <a:lstStyle/>
          <a:p>
            <a:pPr marL="0" indent="0" algn="l">
              <a:buNone/>
            </a:pPr>
            <a:r>
              <a:rPr lang="en-US" sz="1300" b="1">
                <a:solidFill>
                  <a:srgbClr val="FFFFFF"/>
                </a:solidFill>
                <a:latin typeface="Calibri" pitchFamily="34" charset="0"/>
                <a:ea typeface="Calibri" pitchFamily="34" charset="-122"/>
                <a:cs typeface="Calibri" pitchFamily="34" charset="-120"/>
              </a:rPr>
              <a:t>Aid / Forgiven</a:t>
            </a:r>
            <a:endParaRPr lang="en-US" sz="1300"/>
          </a:p>
        </p:txBody>
      </p:sp>
      <p:sp>
        <p:nvSpPr>
          <p:cNvPr id="17" name="Text 15"/>
          <p:cNvSpPr/>
          <p:nvPr/>
        </p:nvSpPr>
        <p:spPr>
          <a:xfrm>
            <a:off x="594360" y="3978893"/>
            <a:ext cx="3749040" cy="512064"/>
          </a:xfrm>
          <a:prstGeom prst="rect">
            <a:avLst/>
          </a:prstGeom>
          <a:noFill/>
          <a:ln/>
        </p:spPr>
        <p:txBody>
          <a:bodyPr wrap="square" lIns="0" tIns="0" rIns="0" bIns="0" rtlCol="0" anchor="t"/>
          <a:lstStyle/>
          <a:p>
            <a:pPr marL="0" indent="0" algn="l">
              <a:buNone/>
            </a:pPr>
            <a:r>
              <a:rPr lang="en-US" sz="1000">
                <a:solidFill>
                  <a:srgbClr val="C8D8E8"/>
                </a:solidFill>
                <a:latin typeface="Calibri" pitchFamily="34" charset="0"/>
                <a:ea typeface="Calibri" pitchFamily="34" charset="-122"/>
                <a:cs typeface="Calibri" pitchFamily="34" charset="-120"/>
              </a:rPr>
              <a:t>3.82% of recipients qualify for assistance — their loan is forgiven and never repaid. Modeled as permanent outflows with zero recovery.</a:t>
            </a:r>
          </a:p>
          <a:p>
            <a:pPr marL="0" indent="0" algn="l">
              <a:buNone/>
            </a:pPr>
            <a:r>
              <a:rPr lang="en-US" sz="1000">
                <a:solidFill>
                  <a:srgbClr val="C8D8E8"/>
                </a:solidFill>
                <a:latin typeface="Calibri" pitchFamily="34" charset="0"/>
                <a:ea typeface="Calibri" pitchFamily="34" charset="-122"/>
                <a:cs typeface="Calibri" pitchFamily="34" charset="-120"/>
              </a:rPr>
              <a:t>Source: Homeowners Poverty Rate</a:t>
            </a:r>
          </a:p>
          <a:p>
            <a:pPr marL="0" indent="0" algn="l">
              <a:buNone/>
            </a:pPr>
            <a:endParaRPr lang="en-US" sz="1000"/>
          </a:p>
        </p:txBody>
      </p:sp>
      <p:sp>
        <p:nvSpPr>
          <p:cNvPr id="18" name="Shape 16"/>
          <p:cNvSpPr/>
          <p:nvPr/>
        </p:nvSpPr>
        <p:spPr>
          <a:xfrm>
            <a:off x="4480560" y="1234440"/>
            <a:ext cx="27432" cy="3520440"/>
          </a:xfrm>
          <a:prstGeom prst="rect">
            <a:avLst/>
          </a:prstGeom>
          <a:solidFill>
            <a:srgbClr val="1E3A52"/>
          </a:solidFill>
          <a:ln w="12700">
            <a:solidFill>
              <a:srgbClr val="1E3A52"/>
            </a:solidFill>
            <a:prstDash val="solid"/>
          </a:ln>
        </p:spPr>
        <p:txBody>
          <a:bodyPr/>
          <a:lstStyle/>
          <a:p>
            <a:endParaRPr lang="en-US"/>
          </a:p>
        </p:txBody>
      </p:sp>
      <p:sp>
        <p:nvSpPr>
          <p:cNvPr id="19" name="Text 17"/>
          <p:cNvSpPr/>
          <p:nvPr/>
        </p:nvSpPr>
        <p:spPr>
          <a:xfrm>
            <a:off x="4663440" y="1261872"/>
            <a:ext cx="4023360" cy="347472"/>
          </a:xfrm>
          <a:prstGeom prst="rect">
            <a:avLst/>
          </a:prstGeom>
          <a:noFill/>
          <a:ln/>
        </p:spPr>
        <p:txBody>
          <a:bodyPr wrap="square" lIns="0" tIns="0" rIns="0" bIns="0" rtlCol="0" anchor="ctr"/>
          <a:lstStyle/>
          <a:p>
            <a:pPr marL="0" indent="0" algn="l">
              <a:buNone/>
            </a:pPr>
            <a:r>
              <a:rPr lang="en-US" sz="1300" b="1">
                <a:solidFill>
                  <a:srgbClr val="FFFFFF"/>
                </a:solidFill>
                <a:latin typeface="Calibri" pitchFamily="34" charset="0"/>
                <a:ea typeface="Calibri" pitchFamily="34" charset="-122"/>
                <a:cs typeface="Calibri" pitchFamily="34" charset="-120"/>
              </a:rPr>
              <a:t>What Happens to Each Loan</a:t>
            </a:r>
            <a:endParaRPr lang="en-US" sz="1300"/>
          </a:p>
        </p:txBody>
      </p:sp>
      <p:sp>
        <p:nvSpPr>
          <p:cNvPr id="20" name="Shape 18"/>
          <p:cNvSpPr/>
          <p:nvPr/>
        </p:nvSpPr>
        <p:spPr>
          <a:xfrm>
            <a:off x="5532120" y="1691640"/>
            <a:ext cx="2286000" cy="457200"/>
          </a:xfrm>
          <a:prstGeom prst="rect">
            <a:avLst/>
          </a:prstGeom>
          <a:solidFill>
            <a:srgbClr val="162840"/>
          </a:solidFill>
          <a:ln w="19050">
            <a:solidFill>
              <a:srgbClr val="00C8D4"/>
            </a:solidFill>
            <a:prstDash val="solid"/>
          </a:ln>
        </p:spPr>
        <p:txBody>
          <a:bodyPr/>
          <a:lstStyle/>
          <a:p>
            <a:endParaRPr lang="en-US"/>
          </a:p>
        </p:txBody>
      </p:sp>
      <p:sp>
        <p:nvSpPr>
          <p:cNvPr id="21" name="Text 19"/>
          <p:cNvSpPr/>
          <p:nvPr/>
        </p:nvSpPr>
        <p:spPr>
          <a:xfrm>
            <a:off x="5532120" y="1691640"/>
            <a:ext cx="2286000" cy="457200"/>
          </a:xfrm>
          <a:prstGeom prst="rect">
            <a:avLst/>
          </a:prstGeom>
          <a:noFill/>
          <a:ln/>
        </p:spPr>
        <p:txBody>
          <a:bodyPr wrap="square" lIns="0" tIns="0" rIns="0" bIns="0" rtlCol="0" anchor="ctr"/>
          <a:lstStyle/>
          <a:p>
            <a:pPr marL="0" indent="0" algn="ctr">
              <a:buNone/>
            </a:pPr>
            <a:r>
              <a:rPr lang="en-US" sz="1200" b="1">
                <a:solidFill>
                  <a:srgbClr val="00C8D4"/>
                </a:solidFill>
                <a:latin typeface="Calibri" pitchFamily="34" charset="0"/>
                <a:ea typeface="Calibri" pitchFamily="34" charset="-122"/>
                <a:cs typeface="Calibri" pitchFamily="34" charset="-120"/>
              </a:rPr>
              <a:t>Loan Issued</a:t>
            </a:r>
            <a:endParaRPr lang="en-US" sz="1200"/>
          </a:p>
        </p:txBody>
      </p:sp>
      <p:sp>
        <p:nvSpPr>
          <p:cNvPr id="22" name="Shape 20"/>
          <p:cNvSpPr/>
          <p:nvPr/>
        </p:nvSpPr>
        <p:spPr>
          <a:xfrm>
            <a:off x="6620256" y="2148840"/>
            <a:ext cx="27432" cy="274320"/>
          </a:xfrm>
          <a:prstGeom prst="rect">
            <a:avLst/>
          </a:prstGeom>
          <a:solidFill>
            <a:srgbClr val="8899AA"/>
          </a:solidFill>
          <a:ln w="12700">
            <a:solidFill>
              <a:srgbClr val="8899AA"/>
            </a:solidFill>
            <a:prstDash val="solid"/>
          </a:ln>
        </p:spPr>
        <p:txBody>
          <a:bodyPr/>
          <a:lstStyle/>
          <a:p>
            <a:endParaRPr lang="en-US"/>
          </a:p>
        </p:txBody>
      </p:sp>
      <p:sp>
        <p:nvSpPr>
          <p:cNvPr id="23" name="Shape 21"/>
          <p:cNvSpPr/>
          <p:nvPr/>
        </p:nvSpPr>
        <p:spPr>
          <a:xfrm>
            <a:off x="5303520" y="2423160"/>
            <a:ext cx="2743200" cy="411480"/>
          </a:xfrm>
          <a:prstGeom prst="rect">
            <a:avLst/>
          </a:prstGeom>
          <a:solidFill>
            <a:srgbClr val="0A2540"/>
          </a:solidFill>
          <a:ln w="12700">
            <a:solidFill>
              <a:srgbClr val="8899AA"/>
            </a:solidFill>
            <a:prstDash val="solid"/>
          </a:ln>
        </p:spPr>
        <p:txBody>
          <a:bodyPr/>
          <a:lstStyle/>
          <a:p>
            <a:endParaRPr lang="en-US"/>
          </a:p>
        </p:txBody>
      </p:sp>
      <p:sp>
        <p:nvSpPr>
          <p:cNvPr id="24" name="Text 22"/>
          <p:cNvSpPr/>
          <p:nvPr/>
        </p:nvSpPr>
        <p:spPr>
          <a:xfrm>
            <a:off x="5303520" y="2423160"/>
            <a:ext cx="2743200" cy="411480"/>
          </a:xfrm>
          <a:prstGeom prst="rect">
            <a:avLst/>
          </a:prstGeom>
          <a:noFill/>
          <a:ln/>
        </p:spPr>
        <p:txBody>
          <a:bodyPr wrap="square" lIns="0" tIns="0" rIns="0" bIns="0" rtlCol="0" anchor="ctr"/>
          <a:lstStyle/>
          <a:p>
            <a:pPr marL="0" indent="0" algn="ctr">
              <a:buNone/>
            </a:pPr>
            <a:r>
              <a:rPr lang="en-US" sz="1000" i="1">
                <a:solidFill>
                  <a:srgbClr val="8899AA"/>
                </a:solidFill>
                <a:latin typeface="Calibri" pitchFamily="34" charset="0"/>
                <a:ea typeface="Calibri" pitchFamily="34" charset="-122"/>
                <a:cs typeface="Calibri" pitchFamily="34" charset="-120"/>
              </a:rPr>
              <a:t>Each Future Year</a:t>
            </a:r>
            <a:endParaRPr lang="en-US" sz="1000"/>
          </a:p>
        </p:txBody>
      </p:sp>
      <p:sp>
        <p:nvSpPr>
          <p:cNvPr id="25" name="Shape 23"/>
          <p:cNvSpPr/>
          <p:nvPr/>
        </p:nvSpPr>
        <p:spPr>
          <a:xfrm flipH="1">
            <a:off x="5334106" y="2834640"/>
            <a:ext cx="45719" cy="228600"/>
          </a:xfrm>
          <a:prstGeom prst="rect">
            <a:avLst/>
          </a:prstGeom>
          <a:solidFill>
            <a:srgbClr val="00C8D4"/>
          </a:solidFill>
          <a:ln w="12700">
            <a:solidFill>
              <a:srgbClr val="00C8D4"/>
            </a:solidFill>
            <a:prstDash val="solid"/>
          </a:ln>
        </p:spPr>
        <p:txBody>
          <a:bodyPr/>
          <a:lstStyle/>
          <a:p>
            <a:endParaRPr lang="en-US"/>
          </a:p>
        </p:txBody>
      </p:sp>
      <p:sp>
        <p:nvSpPr>
          <p:cNvPr id="26" name="Shape 24"/>
          <p:cNvSpPr/>
          <p:nvPr/>
        </p:nvSpPr>
        <p:spPr>
          <a:xfrm>
            <a:off x="4663440" y="3063240"/>
            <a:ext cx="1234440" cy="685800"/>
          </a:xfrm>
          <a:prstGeom prst="rect">
            <a:avLst/>
          </a:prstGeom>
          <a:solidFill>
            <a:srgbClr val="162840"/>
          </a:solidFill>
          <a:ln w="19050">
            <a:solidFill>
              <a:srgbClr val="00C8D4"/>
            </a:solidFill>
            <a:prstDash val="solid"/>
          </a:ln>
        </p:spPr>
        <p:txBody>
          <a:bodyPr/>
          <a:lstStyle/>
          <a:p>
            <a:endParaRPr lang="en-US"/>
          </a:p>
        </p:txBody>
      </p:sp>
      <p:sp>
        <p:nvSpPr>
          <p:cNvPr id="27" name="Text 25"/>
          <p:cNvSpPr/>
          <p:nvPr/>
        </p:nvSpPr>
        <p:spPr>
          <a:xfrm>
            <a:off x="4663440" y="3090672"/>
            <a:ext cx="1234440" cy="320040"/>
          </a:xfrm>
          <a:prstGeom prst="rect">
            <a:avLst/>
          </a:prstGeom>
          <a:noFill/>
          <a:ln/>
        </p:spPr>
        <p:txBody>
          <a:bodyPr wrap="square" lIns="0" tIns="0" rIns="0" bIns="0" rtlCol="0" anchor="ctr"/>
          <a:lstStyle/>
          <a:p>
            <a:pPr marL="0" indent="0" algn="ctr">
              <a:buNone/>
            </a:pPr>
            <a:r>
              <a:rPr lang="en-US" sz="1100" b="1">
                <a:solidFill>
                  <a:srgbClr val="00C8D4"/>
                </a:solidFill>
                <a:latin typeface="Calibri" pitchFamily="34" charset="0"/>
                <a:ea typeface="Calibri" pitchFamily="34" charset="-122"/>
                <a:cs typeface="Calibri" pitchFamily="34" charset="-120"/>
              </a:rPr>
              <a:t>Sale</a:t>
            </a:r>
            <a:endParaRPr lang="en-US" sz="1100"/>
          </a:p>
        </p:txBody>
      </p:sp>
      <p:sp>
        <p:nvSpPr>
          <p:cNvPr id="28" name="Text 26"/>
          <p:cNvSpPr/>
          <p:nvPr/>
        </p:nvSpPr>
        <p:spPr>
          <a:xfrm>
            <a:off x="4663440" y="3401568"/>
            <a:ext cx="1234440" cy="274320"/>
          </a:xfrm>
          <a:prstGeom prst="rect">
            <a:avLst/>
          </a:prstGeom>
          <a:noFill/>
          <a:ln/>
        </p:spPr>
        <p:txBody>
          <a:bodyPr wrap="square" lIns="0" tIns="0" rIns="0" bIns="0" rtlCol="0" anchor="ctr"/>
          <a:lstStyle/>
          <a:p>
            <a:pPr marL="0" indent="0" algn="ctr">
              <a:buNone/>
            </a:pPr>
            <a:r>
              <a:rPr lang="en-US" sz="900">
                <a:solidFill>
                  <a:srgbClr val="C8D8E8"/>
                </a:solidFill>
                <a:latin typeface="Calibri" pitchFamily="34" charset="0"/>
                <a:ea typeface="Calibri" pitchFamily="34" charset="-122"/>
                <a:cs typeface="Calibri" pitchFamily="34" charset="-120"/>
              </a:rPr>
              <a:t>8.78%/yr</a:t>
            </a:r>
            <a:endParaRPr lang="en-US" sz="900"/>
          </a:p>
        </p:txBody>
      </p:sp>
      <p:sp>
        <p:nvSpPr>
          <p:cNvPr id="29" name="Shape 27"/>
          <p:cNvSpPr/>
          <p:nvPr/>
        </p:nvSpPr>
        <p:spPr>
          <a:xfrm>
            <a:off x="6519673" y="2834640"/>
            <a:ext cx="45719" cy="228600"/>
          </a:xfrm>
          <a:prstGeom prst="rect">
            <a:avLst/>
          </a:prstGeom>
          <a:solidFill>
            <a:srgbClr val="F5A623"/>
          </a:solidFill>
          <a:ln w="12700">
            <a:solidFill>
              <a:srgbClr val="F5A623"/>
            </a:solidFill>
            <a:prstDash val="solid"/>
          </a:ln>
        </p:spPr>
        <p:txBody>
          <a:bodyPr/>
          <a:lstStyle/>
          <a:p>
            <a:endParaRPr lang="en-US"/>
          </a:p>
        </p:txBody>
      </p:sp>
      <p:sp>
        <p:nvSpPr>
          <p:cNvPr id="30" name="Shape 28"/>
          <p:cNvSpPr/>
          <p:nvPr/>
        </p:nvSpPr>
        <p:spPr>
          <a:xfrm>
            <a:off x="5989320" y="3063240"/>
            <a:ext cx="1234440" cy="685800"/>
          </a:xfrm>
          <a:prstGeom prst="rect">
            <a:avLst/>
          </a:prstGeom>
          <a:solidFill>
            <a:srgbClr val="162840"/>
          </a:solidFill>
          <a:ln w="19050">
            <a:solidFill>
              <a:srgbClr val="F5A623"/>
            </a:solidFill>
            <a:prstDash val="solid"/>
          </a:ln>
        </p:spPr>
        <p:txBody>
          <a:bodyPr/>
          <a:lstStyle/>
          <a:p>
            <a:endParaRPr lang="en-US"/>
          </a:p>
        </p:txBody>
      </p:sp>
      <p:sp>
        <p:nvSpPr>
          <p:cNvPr id="31" name="Text 29"/>
          <p:cNvSpPr/>
          <p:nvPr/>
        </p:nvSpPr>
        <p:spPr>
          <a:xfrm>
            <a:off x="5989320" y="3090672"/>
            <a:ext cx="1234440" cy="320040"/>
          </a:xfrm>
          <a:prstGeom prst="rect">
            <a:avLst/>
          </a:prstGeom>
          <a:noFill/>
          <a:ln/>
        </p:spPr>
        <p:txBody>
          <a:bodyPr wrap="square" lIns="0" tIns="0" rIns="0" bIns="0" rtlCol="0" anchor="ctr"/>
          <a:lstStyle/>
          <a:p>
            <a:pPr marL="0" indent="0" algn="ctr">
              <a:buNone/>
            </a:pPr>
            <a:r>
              <a:rPr lang="en-US" sz="1100" b="1">
                <a:solidFill>
                  <a:srgbClr val="F5A623"/>
                </a:solidFill>
                <a:latin typeface="Calibri" pitchFamily="34" charset="0"/>
                <a:ea typeface="Calibri" pitchFamily="34" charset="-122"/>
                <a:cs typeface="Calibri" pitchFamily="34" charset="-120"/>
              </a:rPr>
              <a:t>Refi</a:t>
            </a:r>
            <a:endParaRPr lang="en-US" sz="1100"/>
          </a:p>
        </p:txBody>
      </p:sp>
      <p:sp>
        <p:nvSpPr>
          <p:cNvPr id="32" name="Text 30"/>
          <p:cNvSpPr/>
          <p:nvPr/>
        </p:nvSpPr>
        <p:spPr>
          <a:xfrm>
            <a:off x="5989320" y="3401568"/>
            <a:ext cx="1234440" cy="274320"/>
          </a:xfrm>
          <a:prstGeom prst="rect">
            <a:avLst/>
          </a:prstGeom>
          <a:noFill/>
          <a:ln/>
        </p:spPr>
        <p:txBody>
          <a:bodyPr wrap="square" lIns="0" tIns="0" rIns="0" bIns="0" rtlCol="0" anchor="ctr"/>
          <a:lstStyle/>
          <a:p>
            <a:pPr marL="0" indent="0" algn="ctr">
              <a:buNone/>
            </a:pPr>
            <a:r>
              <a:rPr lang="en-US" sz="900">
                <a:solidFill>
                  <a:srgbClr val="C8D8E8"/>
                </a:solidFill>
                <a:latin typeface="Calibri" pitchFamily="34" charset="0"/>
                <a:ea typeface="Calibri" pitchFamily="34" charset="-122"/>
                <a:cs typeface="Calibri" pitchFamily="34" charset="-120"/>
              </a:rPr>
              <a:t>3.25%/yr</a:t>
            </a:r>
            <a:endParaRPr lang="en-US" sz="900"/>
          </a:p>
        </p:txBody>
      </p:sp>
      <p:sp>
        <p:nvSpPr>
          <p:cNvPr id="33" name="Shape 31"/>
          <p:cNvSpPr/>
          <p:nvPr/>
        </p:nvSpPr>
        <p:spPr>
          <a:xfrm>
            <a:off x="7845553" y="2834640"/>
            <a:ext cx="45719" cy="228600"/>
          </a:xfrm>
          <a:prstGeom prst="rect">
            <a:avLst/>
          </a:prstGeom>
          <a:solidFill>
            <a:srgbClr val="E05B5B"/>
          </a:solidFill>
          <a:ln w="12700">
            <a:solidFill>
              <a:srgbClr val="E05B5B"/>
            </a:solidFill>
            <a:prstDash val="solid"/>
          </a:ln>
        </p:spPr>
        <p:txBody>
          <a:bodyPr/>
          <a:lstStyle/>
          <a:p>
            <a:endParaRPr lang="en-US"/>
          </a:p>
        </p:txBody>
      </p:sp>
      <p:sp>
        <p:nvSpPr>
          <p:cNvPr id="34" name="Shape 32"/>
          <p:cNvSpPr/>
          <p:nvPr/>
        </p:nvSpPr>
        <p:spPr>
          <a:xfrm>
            <a:off x="7315200" y="3063240"/>
            <a:ext cx="1234440" cy="685800"/>
          </a:xfrm>
          <a:prstGeom prst="rect">
            <a:avLst/>
          </a:prstGeom>
          <a:solidFill>
            <a:srgbClr val="162840"/>
          </a:solidFill>
          <a:ln w="19050">
            <a:solidFill>
              <a:srgbClr val="E05B5B"/>
            </a:solidFill>
            <a:prstDash val="solid"/>
          </a:ln>
        </p:spPr>
        <p:txBody>
          <a:bodyPr/>
          <a:lstStyle/>
          <a:p>
            <a:endParaRPr lang="en-US"/>
          </a:p>
        </p:txBody>
      </p:sp>
      <p:sp>
        <p:nvSpPr>
          <p:cNvPr id="35" name="Text 33"/>
          <p:cNvSpPr/>
          <p:nvPr/>
        </p:nvSpPr>
        <p:spPr>
          <a:xfrm>
            <a:off x="7315200" y="3090672"/>
            <a:ext cx="1234440" cy="320040"/>
          </a:xfrm>
          <a:prstGeom prst="rect">
            <a:avLst/>
          </a:prstGeom>
          <a:noFill/>
          <a:ln/>
        </p:spPr>
        <p:txBody>
          <a:bodyPr wrap="square" lIns="0" tIns="0" rIns="0" bIns="0" rtlCol="0" anchor="ctr"/>
          <a:lstStyle/>
          <a:p>
            <a:pPr marL="0" indent="0" algn="ctr">
              <a:buNone/>
            </a:pPr>
            <a:r>
              <a:rPr lang="en-US" sz="1100" b="1">
                <a:solidFill>
                  <a:srgbClr val="E05B5B"/>
                </a:solidFill>
                <a:latin typeface="Calibri" pitchFamily="34" charset="0"/>
                <a:ea typeface="Calibri" pitchFamily="34" charset="-122"/>
                <a:cs typeface="Calibri" pitchFamily="34" charset="-120"/>
              </a:rPr>
              <a:t>Forgiven</a:t>
            </a:r>
            <a:endParaRPr lang="en-US" sz="1100"/>
          </a:p>
        </p:txBody>
      </p:sp>
      <p:sp>
        <p:nvSpPr>
          <p:cNvPr id="36" name="Text 34"/>
          <p:cNvSpPr/>
          <p:nvPr/>
        </p:nvSpPr>
        <p:spPr>
          <a:xfrm>
            <a:off x="7315200" y="3401568"/>
            <a:ext cx="1234440" cy="274320"/>
          </a:xfrm>
          <a:prstGeom prst="rect">
            <a:avLst/>
          </a:prstGeom>
          <a:noFill/>
          <a:ln/>
        </p:spPr>
        <p:txBody>
          <a:bodyPr wrap="square" lIns="0" tIns="0" rIns="0" bIns="0" rtlCol="0" anchor="ctr"/>
          <a:lstStyle/>
          <a:p>
            <a:pPr marL="0" indent="0" algn="ctr">
              <a:buNone/>
            </a:pPr>
            <a:r>
              <a:rPr lang="en-US" sz="900">
                <a:solidFill>
                  <a:srgbClr val="C8D8E8"/>
                </a:solidFill>
                <a:latin typeface="Calibri" pitchFamily="34" charset="0"/>
                <a:ea typeface="Calibri" pitchFamily="34" charset="-122"/>
                <a:cs typeface="Calibri" pitchFamily="34" charset="-120"/>
              </a:rPr>
              <a:t>3.82% ever</a:t>
            </a:r>
            <a:endParaRPr lang="en-US" sz="900"/>
          </a:p>
        </p:txBody>
      </p:sp>
      <p:sp>
        <p:nvSpPr>
          <p:cNvPr id="37" name="Text 35"/>
          <p:cNvSpPr/>
          <p:nvPr/>
        </p:nvSpPr>
        <p:spPr>
          <a:xfrm>
            <a:off x="4663440" y="3776472"/>
            <a:ext cx="1234440" cy="228600"/>
          </a:xfrm>
          <a:prstGeom prst="rect">
            <a:avLst/>
          </a:prstGeom>
          <a:noFill/>
          <a:ln/>
        </p:spPr>
        <p:txBody>
          <a:bodyPr wrap="square" lIns="0" tIns="0" rIns="0" bIns="0" rtlCol="0" anchor="ctr"/>
          <a:lstStyle/>
          <a:p>
            <a:pPr marL="0" indent="0" algn="ctr">
              <a:buNone/>
            </a:pPr>
            <a:r>
              <a:rPr lang="en-US" sz="900" b="1">
                <a:solidFill>
                  <a:srgbClr val="00C8D4"/>
                </a:solidFill>
                <a:latin typeface="Calibri" pitchFamily="34" charset="0"/>
                <a:ea typeface="Calibri" pitchFamily="34" charset="-122"/>
                <a:cs typeface="Calibri" pitchFamily="34" charset="-120"/>
              </a:rPr>
              <a:t>Repaid</a:t>
            </a:r>
            <a:endParaRPr lang="en-US" sz="900"/>
          </a:p>
        </p:txBody>
      </p:sp>
      <p:sp>
        <p:nvSpPr>
          <p:cNvPr id="38" name="Text 36"/>
          <p:cNvSpPr/>
          <p:nvPr/>
        </p:nvSpPr>
        <p:spPr>
          <a:xfrm>
            <a:off x="5989320" y="3776472"/>
            <a:ext cx="1234440" cy="228600"/>
          </a:xfrm>
          <a:prstGeom prst="rect">
            <a:avLst/>
          </a:prstGeom>
          <a:noFill/>
          <a:ln/>
        </p:spPr>
        <p:txBody>
          <a:bodyPr wrap="square" lIns="0" tIns="0" rIns="0" bIns="0" rtlCol="0" anchor="ctr"/>
          <a:lstStyle/>
          <a:p>
            <a:pPr marL="0" indent="0" algn="ctr">
              <a:buNone/>
            </a:pPr>
            <a:r>
              <a:rPr lang="en-US" sz="900" b="1">
                <a:solidFill>
                  <a:srgbClr val="F5A623"/>
                </a:solidFill>
                <a:latin typeface="Calibri" pitchFamily="34" charset="0"/>
                <a:ea typeface="Calibri" pitchFamily="34" charset="-122"/>
                <a:cs typeface="Calibri" pitchFamily="34" charset="-120"/>
              </a:rPr>
              <a:t>Repaid</a:t>
            </a:r>
            <a:endParaRPr lang="en-US" sz="900"/>
          </a:p>
        </p:txBody>
      </p:sp>
      <p:sp>
        <p:nvSpPr>
          <p:cNvPr id="39" name="Text 37"/>
          <p:cNvSpPr/>
          <p:nvPr/>
        </p:nvSpPr>
        <p:spPr>
          <a:xfrm>
            <a:off x="7315200" y="3776472"/>
            <a:ext cx="1234440" cy="228600"/>
          </a:xfrm>
          <a:prstGeom prst="rect">
            <a:avLst/>
          </a:prstGeom>
          <a:noFill/>
          <a:ln/>
        </p:spPr>
        <p:txBody>
          <a:bodyPr wrap="square" lIns="0" tIns="0" rIns="0" bIns="0" rtlCol="0" anchor="ctr"/>
          <a:lstStyle/>
          <a:p>
            <a:pPr marL="0" indent="0" algn="ctr">
              <a:buNone/>
            </a:pPr>
            <a:r>
              <a:rPr lang="en-US" sz="900" b="1">
                <a:solidFill>
                  <a:srgbClr val="E05B5B"/>
                </a:solidFill>
                <a:latin typeface="Calibri" pitchFamily="34" charset="0"/>
                <a:ea typeface="Calibri" pitchFamily="34" charset="-122"/>
                <a:cs typeface="Calibri" pitchFamily="34" charset="-120"/>
              </a:rPr>
              <a:t>Lost</a:t>
            </a:r>
            <a:endParaRPr lang="en-US" sz="900"/>
          </a:p>
        </p:txBody>
      </p:sp>
      <p:sp>
        <p:nvSpPr>
          <p:cNvPr id="40" name="Text 38"/>
          <p:cNvSpPr/>
          <p:nvPr/>
        </p:nvSpPr>
        <p:spPr>
          <a:xfrm>
            <a:off x="4663440" y="4041648"/>
            <a:ext cx="4023360" cy="320040"/>
          </a:xfrm>
          <a:prstGeom prst="rect">
            <a:avLst/>
          </a:prstGeom>
          <a:noFill/>
          <a:ln/>
        </p:spPr>
        <p:txBody>
          <a:bodyPr wrap="square" lIns="0" tIns="0" rIns="0" bIns="0" rtlCol="0" anchor="ctr"/>
          <a:lstStyle/>
          <a:p>
            <a:pPr marL="0" indent="0" algn="l">
              <a:buNone/>
            </a:pPr>
            <a:r>
              <a:rPr lang="en-US" sz="850" i="1">
                <a:solidFill>
                  <a:srgbClr val="8899AA"/>
                </a:solidFill>
                <a:latin typeface="Calibri" pitchFamily="34" charset="0"/>
                <a:ea typeface="Calibri" pitchFamily="34" charset="-122"/>
                <a:cs typeface="Calibri" pitchFamily="34" charset="-120"/>
              </a:rPr>
              <a:t>Loans not repaid within 2026–2037 excluded (conservative assumption)</a:t>
            </a:r>
            <a:endParaRPr lang="en-US" sz="850"/>
          </a:p>
        </p:txBody>
      </p:sp>
      <p:sp>
        <p:nvSpPr>
          <p:cNvPr id="41" name="Shape 39"/>
          <p:cNvSpPr/>
          <p:nvPr/>
        </p:nvSpPr>
        <p:spPr>
          <a:xfrm>
            <a:off x="411480" y="4434840"/>
            <a:ext cx="3977640" cy="475488"/>
          </a:xfrm>
          <a:prstGeom prst="rect">
            <a:avLst/>
          </a:prstGeom>
          <a:solidFill>
            <a:srgbClr val="0A2540"/>
          </a:solidFill>
          <a:ln w="12700">
            <a:solidFill>
              <a:srgbClr val="F5A623"/>
            </a:solidFill>
            <a:prstDash val="solid"/>
          </a:ln>
        </p:spPr>
        <p:txBody>
          <a:bodyPr/>
          <a:lstStyle/>
          <a:p>
            <a:endParaRPr lang="en-US"/>
          </a:p>
        </p:txBody>
      </p:sp>
      <p:sp>
        <p:nvSpPr>
          <p:cNvPr id="42" name="Text 40"/>
          <p:cNvSpPr/>
          <p:nvPr/>
        </p:nvSpPr>
        <p:spPr>
          <a:xfrm>
            <a:off x="502920" y="4475988"/>
            <a:ext cx="3794760" cy="425196"/>
          </a:xfrm>
          <a:prstGeom prst="rect">
            <a:avLst/>
          </a:prstGeom>
          <a:noFill/>
          <a:ln/>
        </p:spPr>
        <p:txBody>
          <a:bodyPr wrap="square" lIns="0" tIns="0" rIns="0" bIns="0" rtlCol="0" anchor="ctr"/>
          <a:lstStyle/>
          <a:p>
            <a:pPr marL="0" indent="0" algn="l">
              <a:buNone/>
            </a:pPr>
            <a:r>
              <a:rPr lang="en-US" sz="900">
                <a:solidFill>
                  <a:srgbClr val="F5A623"/>
                </a:solidFill>
                <a:latin typeface="Calibri" pitchFamily="34" charset="0"/>
                <a:ea typeface="Calibri" pitchFamily="34" charset="-122"/>
                <a:cs typeface="Calibri" pitchFamily="34" charset="-120"/>
              </a:rPr>
              <a:t>Key: forgiven loans are permanent costs, not deferred ones. Yet 96.18% of loans do eventually repay — that is why the loan structure saves $54.6M versus a pure grant program.</a:t>
            </a:r>
            <a:endParaRPr lang="en-US" sz="9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32A"/>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B4D8"/>
          </a:solidFill>
          <a:ln w="12700">
            <a:solidFill>
              <a:srgbClr val="00B4D8"/>
            </a:solidFill>
            <a:prstDash val="solid"/>
          </a:ln>
        </p:spPr>
        <p:txBody>
          <a:bodyPr/>
          <a:lstStyle/>
          <a:p>
            <a:endParaRPr lang="en-US"/>
          </a:p>
        </p:txBody>
      </p:sp>
      <p:sp>
        <p:nvSpPr>
          <p:cNvPr id="3" name="Text 1"/>
          <p:cNvSpPr/>
          <p:nvPr/>
        </p:nvSpPr>
        <p:spPr>
          <a:xfrm>
            <a:off x="365760" y="274320"/>
            <a:ext cx="8412480" cy="502920"/>
          </a:xfrm>
          <a:prstGeom prst="rect">
            <a:avLst/>
          </a:prstGeom>
          <a:noFill/>
          <a:ln/>
        </p:spPr>
        <p:txBody>
          <a:bodyPr wrap="square" lIns="0" tIns="0" rIns="0" bIns="0" rtlCol="0" anchor="ctr"/>
          <a:lstStyle/>
          <a:p>
            <a:pPr marL="0" indent="0" algn="l">
              <a:buNone/>
            </a:pPr>
            <a:r>
              <a:rPr lang="en-US" sz="2800" b="1">
                <a:solidFill>
                  <a:srgbClr val="FFFFFF"/>
                </a:solidFill>
                <a:latin typeface="Calibri" pitchFamily="34" charset="0"/>
                <a:ea typeface="Calibri" pitchFamily="34" charset="-122"/>
                <a:cs typeface="Calibri" pitchFamily="34" charset="-120"/>
              </a:rPr>
              <a:t>Key Assumptions</a:t>
            </a:r>
            <a:endParaRPr lang="en-US" sz="2800"/>
          </a:p>
        </p:txBody>
      </p:sp>
      <p:sp>
        <p:nvSpPr>
          <p:cNvPr id="4" name="Shape 2"/>
          <p:cNvSpPr/>
          <p:nvPr/>
        </p:nvSpPr>
        <p:spPr>
          <a:xfrm>
            <a:off x="365760" y="841248"/>
            <a:ext cx="8412480" cy="16459"/>
          </a:xfrm>
          <a:prstGeom prst="rect">
            <a:avLst/>
          </a:prstGeom>
          <a:solidFill>
            <a:srgbClr val="00B4D8"/>
          </a:solidFill>
          <a:ln w="12700">
            <a:solidFill>
              <a:srgbClr val="00B4D8"/>
            </a:solidFill>
            <a:prstDash val="solid"/>
          </a:ln>
        </p:spPr>
        <p:txBody>
          <a:bodyPr/>
          <a:lstStyle/>
          <a:p>
            <a:endParaRPr lang="en-US"/>
          </a:p>
        </p:txBody>
      </p:sp>
      <p:sp>
        <p:nvSpPr>
          <p:cNvPr id="5" name="Shape 3"/>
          <p:cNvSpPr/>
          <p:nvPr/>
        </p:nvSpPr>
        <p:spPr>
          <a:xfrm>
            <a:off x="365760" y="1005840"/>
            <a:ext cx="4069080" cy="3383280"/>
          </a:xfrm>
          <a:prstGeom prst="rect">
            <a:avLst/>
          </a:prstGeom>
          <a:solidFill>
            <a:srgbClr val="14253A"/>
          </a:solidFill>
          <a:ln w="6350">
            <a:solidFill>
              <a:srgbClr val="1E3A52"/>
            </a:solidFill>
            <a:prstDash val="solid"/>
          </a:ln>
        </p:spPr>
        <p:txBody>
          <a:bodyPr/>
          <a:lstStyle/>
          <a:p>
            <a:endParaRPr lang="en-US"/>
          </a:p>
        </p:txBody>
      </p:sp>
      <p:sp>
        <p:nvSpPr>
          <p:cNvPr id="6" name="Shape 4"/>
          <p:cNvSpPr/>
          <p:nvPr/>
        </p:nvSpPr>
        <p:spPr>
          <a:xfrm>
            <a:off x="365760" y="1005840"/>
            <a:ext cx="4069080" cy="36576"/>
          </a:xfrm>
          <a:prstGeom prst="rect">
            <a:avLst/>
          </a:prstGeom>
          <a:solidFill>
            <a:srgbClr val="00B4D8"/>
          </a:solidFill>
          <a:ln w="12700">
            <a:solidFill>
              <a:srgbClr val="00B4D8"/>
            </a:solidFill>
            <a:prstDash val="solid"/>
          </a:ln>
        </p:spPr>
        <p:txBody>
          <a:bodyPr/>
          <a:lstStyle/>
          <a:p>
            <a:endParaRPr lang="en-US"/>
          </a:p>
        </p:txBody>
      </p:sp>
      <p:sp>
        <p:nvSpPr>
          <p:cNvPr id="7" name="Text 5"/>
          <p:cNvSpPr/>
          <p:nvPr/>
        </p:nvSpPr>
        <p:spPr>
          <a:xfrm>
            <a:off x="530352" y="1115568"/>
            <a:ext cx="3739896" cy="201168"/>
          </a:xfrm>
          <a:prstGeom prst="rect">
            <a:avLst/>
          </a:prstGeom>
          <a:noFill/>
          <a:ln/>
        </p:spPr>
        <p:txBody>
          <a:bodyPr wrap="square" lIns="0" tIns="0" rIns="0" bIns="0" rtlCol="0" anchor="ctr"/>
          <a:lstStyle/>
          <a:p>
            <a:pPr marL="0" indent="0">
              <a:buNone/>
            </a:pPr>
            <a:r>
              <a:rPr lang="en-US" sz="900" b="1" kern="0" spc="200">
                <a:solidFill>
                  <a:srgbClr val="00B4D8"/>
                </a:solidFill>
                <a:latin typeface="Calibri" pitchFamily="34" charset="0"/>
                <a:ea typeface="Calibri" pitchFamily="34" charset="-122"/>
                <a:cs typeface="Calibri" pitchFamily="34" charset="-120"/>
              </a:rPr>
              <a:t>GALVANIZED PIPE ESTIMATE</a:t>
            </a:r>
            <a:endParaRPr lang="en-US" sz="900"/>
          </a:p>
        </p:txBody>
      </p:sp>
      <p:sp>
        <p:nvSpPr>
          <p:cNvPr id="8" name="Text 6"/>
          <p:cNvSpPr/>
          <p:nvPr/>
        </p:nvSpPr>
        <p:spPr>
          <a:xfrm>
            <a:off x="530352" y="1353312"/>
            <a:ext cx="3739896" cy="658368"/>
          </a:xfrm>
          <a:prstGeom prst="rect">
            <a:avLst/>
          </a:prstGeom>
          <a:noFill/>
          <a:ln/>
        </p:spPr>
        <p:txBody>
          <a:bodyPr wrap="square" lIns="0" tIns="0" rIns="0" bIns="0" rtlCol="0" anchor="ctr"/>
          <a:lstStyle/>
          <a:p>
            <a:pPr marL="0" indent="0" algn="l">
              <a:buNone/>
            </a:pPr>
            <a:r>
              <a:rPr lang="en-US" sz="5200" b="1">
                <a:solidFill>
                  <a:srgbClr val="FFFFFF"/>
                </a:solidFill>
                <a:latin typeface="Calibri" pitchFamily="34" charset="0"/>
                <a:ea typeface="Calibri" pitchFamily="34" charset="-122"/>
                <a:cs typeface="Calibri" pitchFamily="34" charset="-120"/>
              </a:rPr>
              <a:t>16,280</a:t>
            </a:r>
            <a:endParaRPr lang="en-US" sz="5200"/>
          </a:p>
        </p:txBody>
      </p:sp>
      <p:sp>
        <p:nvSpPr>
          <p:cNvPr id="9" name="Text 7"/>
          <p:cNvSpPr/>
          <p:nvPr/>
        </p:nvSpPr>
        <p:spPr>
          <a:xfrm>
            <a:off x="530352" y="1993392"/>
            <a:ext cx="3739896" cy="256032"/>
          </a:xfrm>
          <a:prstGeom prst="rect">
            <a:avLst/>
          </a:prstGeom>
          <a:noFill/>
          <a:ln/>
        </p:spPr>
        <p:txBody>
          <a:bodyPr wrap="square" lIns="0" tIns="0" rIns="0" bIns="0" rtlCol="0" anchor="ctr"/>
          <a:lstStyle/>
          <a:p>
            <a:pPr marL="0" indent="0">
              <a:buNone/>
            </a:pPr>
            <a:r>
              <a:rPr lang="en-US" sz="1100">
                <a:solidFill>
                  <a:srgbClr val="8BA8C0"/>
                </a:solidFill>
                <a:latin typeface="Calibri" pitchFamily="34" charset="0"/>
                <a:ea typeface="Calibri" pitchFamily="34" charset="-122"/>
                <a:cs typeface="Calibri" pitchFamily="34" charset="-120"/>
              </a:rPr>
              <a:t>homes estimated to have galvanized pipes</a:t>
            </a:r>
            <a:endParaRPr lang="en-US" sz="1100"/>
          </a:p>
        </p:txBody>
      </p:sp>
      <p:sp>
        <p:nvSpPr>
          <p:cNvPr id="10" name="Shape 8"/>
          <p:cNvSpPr/>
          <p:nvPr/>
        </p:nvSpPr>
        <p:spPr>
          <a:xfrm>
            <a:off x="530352" y="2322576"/>
            <a:ext cx="3739896" cy="10973"/>
          </a:xfrm>
          <a:prstGeom prst="rect">
            <a:avLst/>
          </a:prstGeom>
          <a:solidFill>
            <a:srgbClr val="1E3A52"/>
          </a:solidFill>
          <a:ln w="12700">
            <a:solidFill>
              <a:srgbClr val="1E3A52"/>
            </a:solidFill>
            <a:prstDash val="solid"/>
          </a:ln>
        </p:spPr>
        <p:txBody>
          <a:bodyPr/>
          <a:lstStyle/>
          <a:p>
            <a:endParaRPr lang="en-US"/>
          </a:p>
        </p:txBody>
      </p:sp>
      <p:sp>
        <p:nvSpPr>
          <p:cNvPr id="11" name="Text 9"/>
          <p:cNvSpPr/>
          <p:nvPr/>
        </p:nvSpPr>
        <p:spPr>
          <a:xfrm>
            <a:off x="530352" y="2423160"/>
            <a:ext cx="1645920" cy="347472"/>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228,416</a:t>
            </a:r>
            <a:endParaRPr lang="en-US" sz="2200"/>
          </a:p>
        </p:txBody>
      </p:sp>
      <p:sp>
        <p:nvSpPr>
          <p:cNvPr id="12" name="Text 10"/>
          <p:cNvSpPr/>
          <p:nvPr/>
        </p:nvSpPr>
        <p:spPr>
          <a:xfrm>
            <a:off x="530352" y="2761488"/>
            <a:ext cx="1645920" cy="201168"/>
          </a:xfrm>
          <a:prstGeom prst="rect">
            <a:avLst/>
          </a:prstGeom>
          <a:noFill/>
          <a:ln/>
        </p:spPr>
        <p:txBody>
          <a:bodyPr wrap="square" lIns="0" tIns="0" rIns="0" bIns="0" rtlCol="0" anchor="ctr"/>
          <a:lstStyle/>
          <a:p>
            <a:pPr marL="0" indent="0">
              <a:buNone/>
            </a:pPr>
            <a:r>
              <a:rPr lang="en-US" sz="1000">
                <a:solidFill>
                  <a:srgbClr val="8BA8C0"/>
                </a:solidFill>
                <a:latin typeface="Calibri" pitchFamily="34" charset="0"/>
                <a:ea typeface="Calibri" pitchFamily="34" charset="-122"/>
                <a:cs typeface="Calibri" pitchFamily="34" charset="-120"/>
              </a:rPr>
              <a:t>known material</a:t>
            </a:r>
            <a:endParaRPr lang="en-US" sz="1000"/>
          </a:p>
        </p:txBody>
      </p:sp>
      <p:sp>
        <p:nvSpPr>
          <p:cNvPr id="13" name="Text 11"/>
          <p:cNvSpPr/>
          <p:nvPr/>
        </p:nvSpPr>
        <p:spPr>
          <a:xfrm>
            <a:off x="2468880" y="2423160"/>
            <a:ext cx="1645920" cy="347472"/>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59,973</a:t>
            </a:r>
            <a:endParaRPr lang="en-US" sz="2200"/>
          </a:p>
        </p:txBody>
      </p:sp>
      <p:sp>
        <p:nvSpPr>
          <p:cNvPr id="14" name="Text 12"/>
          <p:cNvSpPr/>
          <p:nvPr/>
        </p:nvSpPr>
        <p:spPr>
          <a:xfrm>
            <a:off x="2468880" y="2761488"/>
            <a:ext cx="1645920" cy="201168"/>
          </a:xfrm>
          <a:prstGeom prst="rect">
            <a:avLst/>
          </a:prstGeom>
          <a:noFill/>
          <a:ln/>
        </p:spPr>
        <p:txBody>
          <a:bodyPr wrap="square" lIns="0" tIns="0" rIns="0" bIns="0" rtlCol="0" anchor="ctr"/>
          <a:lstStyle/>
          <a:p>
            <a:pPr marL="0" indent="0">
              <a:buNone/>
            </a:pPr>
            <a:r>
              <a:rPr lang="en-US" sz="1000">
                <a:solidFill>
                  <a:srgbClr val="8BA8C0"/>
                </a:solidFill>
                <a:latin typeface="Calibri" pitchFamily="34" charset="0"/>
                <a:ea typeface="Calibri" pitchFamily="34" charset="-122"/>
                <a:cs typeface="Calibri" pitchFamily="34" charset="-120"/>
              </a:rPr>
              <a:t>unknown material</a:t>
            </a:r>
            <a:endParaRPr lang="en-US" sz="1000"/>
          </a:p>
        </p:txBody>
      </p:sp>
      <p:sp>
        <p:nvSpPr>
          <p:cNvPr id="15" name="Shape 13"/>
          <p:cNvSpPr/>
          <p:nvPr/>
        </p:nvSpPr>
        <p:spPr>
          <a:xfrm>
            <a:off x="530352" y="3090672"/>
            <a:ext cx="3739896" cy="10973"/>
          </a:xfrm>
          <a:prstGeom prst="rect">
            <a:avLst/>
          </a:prstGeom>
          <a:solidFill>
            <a:srgbClr val="1E3A52"/>
          </a:solidFill>
          <a:ln w="12700">
            <a:solidFill>
              <a:srgbClr val="1E3A52"/>
            </a:solidFill>
            <a:prstDash val="solid"/>
          </a:ln>
        </p:spPr>
        <p:txBody>
          <a:bodyPr/>
          <a:lstStyle/>
          <a:p>
            <a:endParaRPr lang="en-US"/>
          </a:p>
        </p:txBody>
      </p:sp>
      <p:sp>
        <p:nvSpPr>
          <p:cNvPr id="16" name="Text 14"/>
          <p:cNvSpPr/>
          <p:nvPr/>
        </p:nvSpPr>
        <p:spPr>
          <a:xfrm>
            <a:off x="530352" y="3182112"/>
            <a:ext cx="3739896" cy="1005840"/>
          </a:xfrm>
          <a:prstGeom prst="rect">
            <a:avLst/>
          </a:prstGeom>
          <a:noFill/>
          <a:ln/>
        </p:spPr>
        <p:txBody>
          <a:bodyPr wrap="square" lIns="0" tIns="0" rIns="0" bIns="0" rtlCol="0" anchor="ctr"/>
          <a:lstStyle/>
          <a:p>
            <a:pPr marL="0" indent="0">
              <a:buNone/>
            </a:pPr>
            <a:r>
              <a:rPr lang="en-US" sz="1000" b="1">
                <a:solidFill>
                  <a:srgbClr val="00B4D8"/>
                </a:solidFill>
                <a:latin typeface="Calibri" pitchFamily="34" charset="0"/>
                <a:ea typeface="Calibri" pitchFamily="34" charset="-122"/>
                <a:cs typeface="Calibri" pitchFamily="34" charset="-120"/>
              </a:rPr>
              <a:t>Method: </a:t>
            </a:r>
            <a:r>
              <a:rPr lang="en-US" sz="1000">
                <a:solidFill>
                  <a:srgbClr val="8BA8C0"/>
                </a:solidFill>
                <a:latin typeface="Calibri" pitchFamily="34" charset="0"/>
                <a:ea typeface="Calibri" pitchFamily="34" charset="-122"/>
                <a:cs typeface="Calibri" pitchFamily="34" charset="-120"/>
              </a:rPr>
              <a:t>6.28% galvanized rate found in known material → extrapolated 3,769 additional homes from unknowns → added to 12,511 confirmed = 16,280 total</a:t>
            </a:r>
            <a:endParaRPr lang="en-US" sz="1000"/>
          </a:p>
        </p:txBody>
      </p:sp>
      <p:sp>
        <p:nvSpPr>
          <p:cNvPr id="17" name="Shape 15"/>
          <p:cNvSpPr/>
          <p:nvPr/>
        </p:nvSpPr>
        <p:spPr>
          <a:xfrm>
            <a:off x="4709160" y="1005840"/>
            <a:ext cx="4069080" cy="1600200"/>
          </a:xfrm>
          <a:prstGeom prst="rect">
            <a:avLst/>
          </a:prstGeom>
          <a:solidFill>
            <a:srgbClr val="14253A"/>
          </a:solidFill>
          <a:ln w="6350">
            <a:solidFill>
              <a:srgbClr val="1E3A52"/>
            </a:solidFill>
            <a:prstDash val="solid"/>
          </a:ln>
        </p:spPr>
        <p:txBody>
          <a:bodyPr/>
          <a:lstStyle/>
          <a:p>
            <a:endParaRPr lang="en-US"/>
          </a:p>
        </p:txBody>
      </p:sp>
      <p:sp>
        <p:nvSpPr>
          <p:cNvPr id="18" name="Shape 16"/>
          <p:cNvSpPr/>
          <p:nvPr/>
        </p:nvSpPr>
        <p:spPr>
          <a:xfrm>
            <a:off x="4709160" y="1005840"/>
            <a:ext cx="4069080" cy="36576"/>
          </a:xfrm>
          <a:prstGeom prst="rect">
            <a:avLst/>
          </a:prstGeom>
          <a:solidFill>
            <a:srgbClr val="F97316"/>
          </a:solidFill>
          <a:ln w="12700">
            <a:solidFill>
              <a:srgbClr val="F97316"/>
            </a:solidFill>
            <a:prstDash val="solid"/>
          </a:ln>
        </p:spPr>
        <p:txBody>
          <a:bodyPr/>
          <a:lstStyle/>
          <a:p>
            <a:endParaRPr lang="en-US"/>
          </a:p>
        </p:txBody>
      </p:sp>
      <p:sp>
        <p:nvSpPr>
          <p:cNvPr id="19" name="Text 17"/>
          <p:cNvSpPr/>
          <p:nvPr/>
        </p:nvSpPr>
        <p:spPr>
          <a:xfrm>
            <a:off x="4873752" y="1115568"/>
            <a:ext cx="3739896" cy="201168"/>
          </a:xfrm>
          <a:prstGeom prst="rect">
            <a:avLst/>
          </a:prstGeom>
          <a:noFill/>
          <a:ln/>
        </p:spPr>
        <p:txBody>
          <a:bodyPr wrap="square" lIns="0" tIns="0" rIns="0" bIns="0" rtlCol="0" anchor="ctr"/>
          <a:lstStyle/>
          <a:p>
            <a:pPr marL="0" indent="0">
              <a:buNone/>
            </a:pPr>
            <a:r>
              <a:rPr lang="en-US" sz="900" b="1" kern="0" spc="200">
                <a:solidFill>
                  <a:srgbClr val="F97316"/>
                </a:solidFill>
                <a:latin typeface="Calibri" pitchFamily="34" charset="0"/>
                <a:ea typeface="Calibri" pitchFamily="34" charset="-122"/>
                <a:cs typeface="Calibri" pitchFamily="34" charset="-120"/>
              </a:rPr>
              <a:t>LOW-INCOME HOUSEHOLDS AFFECTED</a:t>
            </a:r>
            <a:endParaRPr lang="en-US" sz="900"/>
          </a:p>
        </p:txBody>
      </p:sp>
      <p:sp>
        <p:nvSpPr>
          <p:cNvPr id="20" name="Text 18"/>
          <p:cNvSpPr/>
          <p:nvPr/>
        </p:nvSpPr>
        <p:spPr>
          <a:xfrm>
            <a:off x="4873752" y="1353312"/>
            <a:ext cx="2011680" cy="566928"/>
          </a:xfrm>
          <a:prstGeom prst="rect">
            <a:avLst/>
          </a:prstGeom>
          <a:noFill/>
          <a:ln/>
        </p:spPr>
        <p:txBody>
          <a:bodyPr wrap="square" lIns="0" tIns="0" rIns="0" bIns="0" rtlCol="0" anchor="ctr"/>
          <a:lstStyle/>
          <a:p>
            <a:pPr marL="0" indent="0">
              <a:buNone/>
            </a:pPr>
            <a:r>
              <a:rPr lang="en-US" sz="4400" b="1">
                <a:solidFill>
                  <a:srgbClr val="FFFFFF"/>
                </a:solidFill>
                <a:latin typeface="Calibri" pitchFamily="34" charset="0"/>
                <a:ea typeface="Calibri" pitchFamily="34" charset="-122"/>
                <a:cs typeface="Calibri" pitchFamily="34" charset="-120"/>
              </a:rPr>
              <a:t>3.82%</a:t>
            </a:r>
            <a:endParaRPr lang="en-US" sz="4400"/>
          </a:p>
        </p:txBody>
      </p:sp>
      <p:sp>
        <p:nvSpPr>
          <p:cNvPr id="21" name="Text 19"/>
          <p:cNvSpPr/>
          <p:nvPr/>
        </p:nvSpPr>
        <p:spPr>
          <a:xfrm>
            <a:off x="4873752" y="1920240"/>
            <a:ext cx="3739896" cy="512064"/>
          </a:xfrm>
          <a:prstGeom prst="rect">
            <a:avLst/>
          </a:prstGeom>
          <a:noFill/>
          <a:ln/>
        </p:spPr>
        <p:txBody>
          <a:bodyPr wrap="square" lIns="0" tIns="0" rIns="0" bIns="0" rtlCol="0" anchor="ctr"/>
          <a:lstStyle/>
          <a:p>
            <a:pPr marL="0" indent="0">
              <a:buNone/>
            </a:pPr>
            <a:r>
              <a:rPr lang="en-US" sz="1050">
                <a:solidFill>
                  <a:srgbClr val="8BA8C0"/>
                </a:solidFill>
                <a:latin typeface="Calibri" pitchFamily="34" charset="0"/>
                <a:ea typeface="Calibri" pitchFamily="34" charset="-122"/>
                <a:cs typeface="Calibri" pitchFamily="34" charset="-120"/>
              </a:rPr>
              <a:t>16,051 of 420,068 total homes</a:t>
            </a:r>
            <a:endParaRPr lang="en-US" sz="1050"/>
          </a:p>
          <a:p>
            <a:pPr marL="0" indent="0">
              <a:buNone/>
            </a:pPr>
            <a:r>
              <a:rPr lang="en-US" sz="1050">
                <a:solidFill>
                  <a:srgbClr val="8BA8C0"/>
                </a:solidFill>
                <a:latin typeface="Calibri" pitchFamily="34" charset="0"/>
                <a:ea typeface="Calibri" pitchFamily="34" charset="-122"/>
                <a:cs typeface="Calibri" pitchFamily="34" charset="-120"/>
              </a:rPr>
              <a:t>owned by households under $20k income</a:t>
            </a:r>
            <a:endParaRPr lang="en-US" sz="1050"/>
          </a:p>
        </p:txBody>
      </p:sp>
      <p:sp>
        <p:nvSpPr>
          <p:cNvPr id="22" name="Shape 20"/>
          <p:cNvSpPr/>
          <p:nvPr/>
        </p:nvSpPr>
        <p:spPr>
          <a:xfrm>
            <a:off x="4709160" y="2788920"/>
            <a:ext cx="4069080" cy="1600200"/>
          </a:xfrm>
          <a:prstGeom prst="rect">
            <a:avLst/>
          </a:prstGeom>
          <a:solidFill>
            <a:srgbClr val="14253A"/>
          </a:solidFill>
          <a:ln w="6350">
            <a:solidFill>
              <a:srgbClr val="1E3A52"/>
            </a:solidFill>
            <a:prstDash val="solid"/>
          </a:ln>
        </p:spPr>
        <p:txBody>
          <a:bodyPr/>
          <a:lstStyle/>
          <a:p>
            <a:endParaRPr lang="en-US"/>
          </a:p>
        </p:txBody>
      </p:sp>
      <p:sp>
        <p:nvSpPr>
          <p:cNvPr id="23" name="Shape 21"/>
          <p:cNvSpPr/>
          <p:nvPr/>
        </p:nvSpPr>
        <p:spPr>
          <a:xfrm>
            <a:off x="4709160" y="2788920"/>
            <a:ext cx="4069080" cy="36576"/>
          </a:xfrm>
          <a:prstGeom prst="rect">
            <a:avLst/>
          </a:prstGeom>
          <a:solidFill>
            <a:srgbClr val="22C55E"/>
          </a:solidFill>
          <a:ln w="12700">
            <a:solidFill>
              <a:srgbClr val="22C55E"/>
            </a:solidFill>
            <a:prstDash val="solid"/>
          </a:ln>
        </p:spPr>
        <p:txBody>
          <a:bodyPr/>
          <a:lstStyle/>
          <a:p>
            <a:endParaRPr lang="en-US"/>
          </a:p>
        </p:txBody>
      </p:sp>
      <p:sp>
        <p:nvSpPr>
          <p:cNvPr id="24" name="Text 22"/>
          <p:cNvSpPr/>
          <p:nvPr/>
        </p:nvSpPr>
        <p:spPr>
          <a:xfrm>
            <a:off x="4873752" y="2898648"/>
            <a:ext cx="3739896" cy="201168"/>
          </a:xfrm>
          <a:prstGeom prst="rect">
            <a:avLst/>
          </a:prstGeom>
          <a:noFill/>
          <a:ln/>
        </p:spPr>
        <p:txBody>
          <a:bodyPr wrap="square" lIns="0" tIns="0" rIns="0" bIns="0" rtlCol="0" anchor="ctr"/>
          <a:lstStyle/>
          <a:p>
            <a:pPr marL="0" indent="0">
              <a:buNone/>
            </a:pPr>
            <a:r>
              <a:rPr lang="en-US" sz="900" b="1" kern="0" spc="200">
                <a:solidFill>
                  <a:srgbClr val="22C55E"/>
                </a:solidFill>
                <a:latin typeface="Calibri" pitchFamily="34" charset="0"/>
                <a:ea typeface="Calibri" pitchFamily="34" charset="-122"/>
                <a:cs typeface="Calibri" pitchFamily="34" charset="-120"/>
              </a:rPr>
              <a:t>PROGRAM REACH &amp; CONVERSION</a:t>
            </a:r>
            <a:endParaRPr lang="en-US" sz="900"/>
          </a:p>
        </p:txBody>
      </p:sp>
      <p:sp>
        <p:nvSpPr>
          <p:cNvPr id="25" name="Text 23"/>
          <p:cNvSpPr/>
          <p:nvPr/>
        </p:nvSpPr>
        <p:spPr>
          <a:xfrm>
            <a:off x="4873752" y="3191256"/>
            <a:ext cx="1188720" cy="438912"/>
          </a:xfrm>
          <a:prstGeom prst="rect">
            <a:avLst/>
          </a:prstGeom>
          <a:noFill/>
          <a:ln/>
        </p:spPr>
        <p:txBody>
          <a:bodyPr wrap="square" lIns="0" tIns="0" rIns="0" bIns="0" rtlCol="0" anchor="ctr"/>
          <a:lstStyle/>
          <a:p>
            <a:pPr marL="0" indent="0">
              <a:buNone/>
            </a:pPr>
            <a:r>
              <a:rPr lang="en-US" sz="2600" b="1">
                <a:solidFill>
                  <a:srgbClr val="FFFFFF"/>
                </a:solidFill>
                <a:latin typeface="Calibri" pitchFamily="34" charset="0"/>
                <a:ea typeface="Calibri" pitchFamily="34" charset="-122"/>
                <a:cs typeface="Calibri" pitchFamily="34" charset="-120"/>
              </a:rPr>
              <a:t>5–7%</a:t>
            </a:r>
            <a:endParaRPr lang="en-US" sz="2600"/>
          </a:p>
        </p:txBody>
      </p:sp>
      <p:sp>
        <p:nvSpPr>
          <p:cNvPr id="26" name="Text 24"/>
          <p:cNvSpPr/>
          <p:nvPr/>
        </p:nvSpPr>
        <p:spPr>
          <a:xfrm>
            <a:off x="4873752" y="3666744"/>
            <a:ext cx="1188720" cy="548640"/>
          </a:xfrm>
          <a:prstGeom prst="rect">
            <a:avLst/>
          </a:prstGeom>
          <a:noFill/>
          <a:ln/>
        </p:spPr>
        <p:txBody>
          <a:bodyPr wrap="square" lIns="0" tIns="0" rIns="0" bIns="0" rtlCol="0" anchor="ctr"/>
          <a:lstStyle/>
          <a:p>
            <a:pPr marL="0" indent="0">
              <a:buNone/>
            </a:pPr>
            <a:r>
              <a:rPr lang="en-US" sz="950">
                <a:solidFill>
                  <a:srgbClr val="8BA8C0"/>
                </a:solidFill>
                <a:latin typeface="Calibri" pitchFamily="34" charset="0"/>
                <a:ea typeface="Calibri" pitchFamily="34" charset="-122"/>
                <a:cs typeface="Calibri" pitchFamily="34" charset="-120"/>
              </a:rPr>
              <a:t>homes reached</a:t>
            </a:r>
            <a:endParaRPr lang="en-US" sz="950"/>
          </a:p>
          <a:p>
            <a:pPr marL="0" indent="0">
              <a:buNone/>
            </a:pPr>
            <a:r>
              <a:rPr lang="en-US" sz="950">
                <a:solidFill>
                  <a:srgbClr val="8BA8C0"/>
                </a:solidFill>
                <a:latin typeface="Calibri" pitchFamily="34" charset="0"/>
                <a:ea typeface="Calibri" pitchFamily="34" charset="-122"/>
                <a:cs typeface="Calibri" pitchFamily="34" charset="-120"/>
              </a:rPr>
              <a:t>(goal: 10%)</a:t>
            </a:r>
            <a:endParaRPr lang="en-US" sz="950"/>
          </a:p>
        </p:txBody>
      </p:sp>
      <p:sp>
        <p:nvSpPr>
          <p:cNvPr id="27" name="Shape 25"/>
          <p:cNvSpPr/>
          <p:nvPr/>
        </p:nvSpPr>
        <p:spPr>
          <a:xfrm>
            <a:off x="6044184" y="3191256"/>
            <a:ext cx="10973" cy="1005840"/>
          </a:xfrm>
          <a:prstGeom prst="rect">
            <a:avLst/>
          </a:prstGeom>
          <a:solidFill>
            <a:srgbClr val="1E3A52"/>
          </a:solidFill>
          <a:ln w="12700">
            <a:solidFill>
              <a:srgbClr val="1E3A52"/>
            </a:solidFill>
            <a:prstDash val="solid"/>
          </a:ln>
        </p:spPr>
        <p:txBody>
          <a:bodyPr/>
          <a:lstStyle/>
          <a:p>
            <a:endParaRPr lang="en-US"/>
          </a:p>
        </p:txBody>
      </p:sp>
      <p:sp>
        <p:nvSpPr>
          <p:cNvPr id="28" name="Text 26"/>
          <p:cNvSpPr/>
          <p:nvPr/>
        </p:nvSpPr>
        <p:spPr>
          <a:xfrm>
            <a:off x="6172200" y="3191256"/>
            <a:ext cx="1188720" cy="438912"/>
          </a:xfrm>
          <a:prstGeom prst="rect">
            <a:avLst/>
          </a:prstGeom>
          <a:noFill/>
          <a:ln/>
        </p:spPr>
        <p:txBody>
          <a:bodyPr wrap="square" lIns="0" tIns="0" rIns="0" bIns="0" rtlCol="0" anchor="ctr"/>
          <a:lstStyle/>
          <a:p>
            <a:pPr marL="0" indent="0">
              <a:buNone/>
            </a:pPr>
            <a:r>
              <a:rPr lang="en-US" sz="2600" b="1">
                <a:solidFill>
                  <a:srgbClr val="FFFFFF"/>
                </a:solidFill>
                <a:latin typeface="Calibri" pitchFamily="34" charset="0"/>
                <a:ea typeface="Calibri" pitchFamily="34" charset="-122"/>
                <a:cs typeface="Calibri" pitchFamily="34" charset="-120"/>
              </a:rPr>
              <a:t>70%</a:t>
            </a:r>
            <a:endParaRPr lang="en-US" sz="2600"/>
          </a:p>
        </p:txBody>
      </p:sp>
      <p:sp>
        <p:nvSpPr>
          <p:cNvPr id="29" name="Text 27"/>
          <p:cNvSpPr/>
          <p:nvPr/>
        </p:nvSpPr>
        <p:spPr>
          <a:xfrm>
            <a:off x="6172200" y="3666744"/>
            <a:ext cx="1188720" cy="548640"/>
          </a:xfrm>
          <a:prstGeom prst="rect">
            <a:avLst/>
          </a:prstGeom>
          <a:noFill/>
          <a:ln/>
        </p:spPr>
        <p:txBody>
          <a:bodyPr wrap="square" lIns="0" tIns="0" rIns="0" bIns="0" rtlCol="0" anchor="ctr"/>
          <a:lstStyle/>
          <a:p>
            <a:pPr marL="0" indent="0">
              <a:buNone/>
            </a:pPr>
            <a:r>
              <a:rPr lang="en-US" sz="950">
                <a:solidFill>
                  <a:srgbClr val="8BA8C0"/>
                </a:solidFill>
                <a:latin typeface="Calibri" pitchFamily="34" charset="0"/>
                <a:ea typeface="Calibri" pitchFamily="34" charset="-122"/>
                <a:cs typeface="Calibri" pitchFamily="34" charset="-120"/>
              </a:rPr>
              <a:t>pass stochastic</a:t>
            </a:r>
            <a:endParaRPr lang="en-US" sz="950"/>
          </a:p>
          <a:p>
            <a:pPr marL="0" indent="0">
              <a:buNone/>
            </a:pPr>
            <a:r>
              <a:rPr lang="en-US" sz="950">
                <a:solidFill>
                  <a:srgbClr val="8BA8C0"/>
                </a:solidFill>
                <a:latin typeface="Calibri" pitchFamily="34" charset="0"/>
                <a:ea typeface="Calibri" pitchFamily="34" charset="-122"/>
                <a:cs typeface="Calibri" pitchFamily="34" charset="-120"/>
              </a:rPr>
              <a:t>filter</a:t>
            </a:r>
            <a:endParaRPr lang="en-US" sz="950"/>
          </a:p>
        </p:txBody>
      </p:sp>
      <p:sp>
        <p:nvSpPr>
          <p:cNvPr id="30" name="Shape 28"/>
          <p:cNvSpPr/>
          <p:nvPr/>
        </p:nvSpPr>
        <p:spPr>
          <a:xfrm>
            <a:off x="7342632" y="3191256"/>
            <a:ext cx="10973" cy="1005840"/>
          </a:xfrm>
          <a:prstGeom prst="rect">
            <a:avLst/>
          </a:prstGeom>
          <a:solidFill>
            <a:srgbClr val="1E3A52"/>
          </a:solidFill>
          <a:ln w="12700">
            <a:solidFill>
              <a:srgbClr val="1E3A52"/>
            </a:solidFill>
            <a:prstDash val="solid"/>
          </a:ln>
        </p:spPr>
        <p:txBody>
          <a:bodyPr/>
          <a:lstStyle/>
          <a:p>
            <a:endParaRPr lang="en-US"/>
          </a:p>
        </p:txBody>
      </p:sp>
      <p:sp>
        <p:nvSpPr>
          <p:cNvPr id="31" name="Text 29"/>
          <p:cNvSpPr/>
          <p:nvPr/>
        </p:nvSpPr>
        <p:spPr>
          <a:xfrm>
            <a:off x="7470648" y="3191256"/>
            <a:ext cx="1188720" cy="438912"/>
          </a:xfrm>
          <a:prstGeom prst="rect">
            <a:avLst/>
          </a:prstGeom>
          <a:noFill/>
          <a:ln/>
        </p:spPr>
        <p:txBody>
          <a:bodyPr wrap="square" lIns="0" tIns="0" rIns="0" bIns="0" rtlCol="0" anchor="ctr"/>
          <a:lstStyle/>
          <a:p>
            <a:pPr marL="0" indent="0">
              <a:buNone/>
            </a:pPr>
            <a:r>
              <a:rPr lang="en-US" sz="2600" b="1">
                <a:solidFill>
                  <a:srgbClr val="FFFFFF"/>
                </a:solidFill>
                <a:latin typeface="Calibri" pitchFamily="34" charset="0"/>
                <a:ea typeface="Calibri" pitchFamily="34" charset="-122"/>
                <a:cs typeface="Calibri" pitchFamily="34" charset="-120"/>
              </a:rPr>
              <a:t>70%</a:t>
            </a:r>
            <a:endParaRPr lang="en-US" sz="2600"/>
          </a:p>
        </p:txBody>
      </p:sp>
      <p:sp>
        <p:nvSpPr>
          <p:cNvPr id="32" name="Text 30"/>
          <p:cNvSpPr/>
          <p:nvPr/>
        </p:nvSpPr>
        <p:spPr>
          <a:xfrm>
            <a:off x="7470648" y="3666744"/>
            <a:ext cx="1188720" cy="548640"/>
          </a:xfrm>
          <a:prstGeom prst="rect">
            <a:avLst/>
          </a:prstGeom>
          <a:noFill/>
          <a:ln/>
        </p:spPr>
        <p:txBody>
          <a:bodyPr wrap="square" lIns="0" tIns="0" rIns="0" bIns="0" rtlCol="0" anchor="ctr"/>
          <a:lstStyle/>
          <a:p>
            <a:pPr marL="0" indent="0">
              <a:buNone/>
            </a:pPr>
            <a:r>
              <a:rPr lang="en-US" sz="950">
                <a:solidFill>
                  <a:srgbClr val="8BA8C0"/>
                </a:solidFill>
                <a:latin typeface="Calibri" pitchFamily="34" charset="0"/>
                <a:ea typeface="Calibri" pitchFamily="34" charset="-122"/>
                <a:cs typeface="Calibri" pitchFamily="34" charset="-120"/>
              </a:rPr>
              <a:t>loan approval</a:t>
            </a:r>
            <a:endParaRPr lang="en-US" sz="950"/>
          </a:p>
          <a:p>
            <a:pPr marL="0" indent="0">
              <a:buNone/>
            </a:pPr>
            <a:r>
              <a:rPr lang="en-US" sz="950">
                <a:solidFill>
                  <a:srgbClr val="8BA8C0"/>
                </a:solidFill>
                <a:latin typeface="Calibri" pitchFamily="34" charset="0"/>
                <a:ea typeface="Calibri" pitchFamily="34" charset="-122"/>
                <a:cs typeface="Calibri" pitchFamily="34" charset="-120"/>
              </a:rPr>
              <a:t>rate (LEAP)</a:t>
            </a:r>
            <a:endParaRPr lang="en-US" sz="950"/>
          </a:p>
        </p:txBody>
      </p:sp>
      <p:sp>
        <p:nvSpPr>
          <p:cNvPr id="33" name="Text 31"/>
          <p:cNvSpPr/>
          <p:nvPr/>
        </p:nvSpPr>
        <p:spPr>
          <a:xfrm>
            <a:off x="365760" y="4800600"/>
            <a:ext cx="8412480" cy="201168"/>
          </a:xfrm>
          <a:prstGeom prst="rect">
            <a:avLst/>
          </a:prstGeom>
          <a:noFill/>
          <a:ln/>
        </p:spPr>
        <p:txBody>
          <a:bodyPr wrap="square" lIns="0" tIns="0" rIns="0" bIns="0" rtlCol="0" anchor="ctr"/>
          <a:lstStyle/>
          <a:p>
            <a:pPr marL="0" indent="0" algn="r">
              <a:buNone/>
            </a:pPr>
            <a:r>
              <a:rPr lang="en-US" sz="900">
                <a:solidFill>
                  <a:srgbClr val="3D5A73"/>
                </a:solidFill>
                <a:latin typeface="Calibri" pitchFamily="34" charset="0"/>
                <a:ea typeface="Calibri" pitchFamily="34" charset="-122"/>
                <a:cs typeface="Calibri" pitchFamily="34" charset="-120"/>
              </a:rPr>
              <a:t>Total universe: 288,389 service lines</a:t>
            </a:r>
            <a:endParaRPr lang="en-US" sz="9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95A14-2021-0E86-3E95-C20C8C3BDB2C}"/>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26AF9297-9088-E46E-491F-A0CB22951F69}"/>
              </a:ext>
            </a:extLst>
          </p:cNvPr>
          <p:cNvPicPr>
            <a:picLocks noChangeAspect="1"/>
          </p:cNvPicPr>
          <p:nvPr/>
        </p:nvPicPr>
        <p:blipFill>
          <a:blip r:embed="rId3"/>
          <a:stretch>
            <a:fillRect/>
          </a:stretch>
        </p:blipFill>
        <p:spPr>
          <a:xfrm>
            <a:off x="0" y="0"/>
            <a:ext cx="9144000" cy="5143500"/>
          </a:xfrm>
          <a:prstGeom prst="rect">
            <a:avLst/>
          </a:prstGeom>
        </p:spPr>
      </p:pic>
      <p:sp>
        <p:nvSpPr>
          <p:cNvPr id="3" name="Text 0">
            <a:extLst>
              <a:ext uri="{FF2B5EF4-FFF2-40B4-BE49-F238E27FC236}">
                <a16:creationId xmlns:a16="http://schemas.microsoft.com/office/drawing/2014/main" id="{6962EDD8-0BEE-D8A1-A072-C3F3557EB48E}"/>
              </a:ext>
            </a:extLst>
          </p:cNvPr>
          <p:cNvSpPr/>
          <p:nvPr/>
        </p:nvSpPr>
        <p:spPr>
          <a:xfrm>
            <a:off x="571500" y="428625"/>
            <a:ext cx="8001000" cy="173236"/>
          </a:xfrm>
          <a:prstGeom prst="rect">
            <a:avLst/>
          </a:prstGeom>
          <a:noFill/>
          <a:ln/>
        </p:spPr>
        <p:txBody>
          <a:bodyPr wrap="none" lIns="0" tIns="0" rIns="0" bIns="0" rtlCol="0" anchor="t">
            <a:spAutoFit/>
          </a:bodyPr>
          <a:lstStyle/>
          <a:p>
            <a:pPr marL="0" indent="0" algn="l">
              <a:lnSpc>
                <a:spcPts val="1400"/>
              </a:lnSpc>
              <a:buNone/>
            </a:pPr>
            <a:r>
              <a:rPr lang="en-US" sz="987" b="1" kern="0" spc="2">
                <a:solidFill>
                  <a:srgbClr val="F0A500"/>
                </a:solidFill>
                <a:latin typeface="Inter" pitchFamily="34" charset="0"/>
                <a:ea typeface="Inter" pitchFamily="34" charset="-122"/>
                <a:cs typeface="Inter" pitchFamily="34" charset="-120"/>
              </a:rPr>
              <a:t>KEY ASSUMPTIONS</a:t>
            </a:r>
            <a:endParaRPr lang="en-US" sz="987"/>
          </a:p>
        </p:txBody>
      </p:sp>
      <p:sp>
        <p:nvSpPr>
          <p:cNvPr id="4" name="Text 1">
            <a:extLst>
              <a:ext uri="{FF2B5EF4-FFF2-40B4-BE49-F238E27FC236}">
                <a16:creationId xmlns:a16="http://schemas.microsoft.com/office/drawing/2014/main" id="{AC7C6C5E-7DA9-D1B5-2DE3-E7346BE4FCEA}"/>
              </a:ext>
            </a:extLst>
          </p:cNvPr>
          <p:cNvSpPr/>
          <p:nvPr/>
        </p:nvSpPr>
        <p:spPr>
          <a:xfrm>
            <a:off x="571500" y="673298"/>
            <a:ext cx="7858125" cy="822927"/>
          </a:xfrm>
          <a:prstGeom prst="rect">
            <a:avLst/>
          </a:prstGeom>
          <a:noFill/>
          <a:ln/>
        </p:spPr>
        <p:txBody>
          <a:bodyPr wrap="square" lIns="0" tIns="0" rIns="0" bIns="0" rtlCol="0" anchor="t">
            <a:spAutoFit/>
          </a:bodyPr>
          <a:lstStyle/>
          <a:p>
            <a:pPr marL="0" indent="0" algn="l">
              <a:lnSpc>
                <a:spcPts val="3200"/>
              </a:lnSpc>
              <a:buNone/>
            </a:pPr>
            <a:r>
              <a:rPr lang="en-US" sz="2436" b="1">
                <a:solidFill>
                  <a:srgbClr val="FFFFFF"/>
                </a:solidFill>
                <a:latin typeface="Inter" pitchFamily="34" charset="0"/>
                <a:ea typeface="Inter" pitchFamily="34" charset="-122"/>
                <a:cs typeface="Inter" pitchFamily="34" charset="-120"/>
              </a:rPr>
              <a:t>Transparent Assumptions Drive a Credible Model</a:t>
            </a:r>
            <a:endParaRPr lang="en-US" sz="2436"/>
          </a:p>
        </p:txBody>
      </p:sp>
      <p:sp>
        <p:nvSpPr>
          <p:cNvPr id="5" name="Text 2">
            <a:extLst>
              <a:ext uri="{FF2B5EF4-FFF2-40B4-BE49-F238E27FC236}">
                <a16:creationId xmlns:a16="http://schemas.microsoft.com/office/drawing/2014/main" id="{0DA888AD-56D8-C76E-A71C-8761F63D5E6D}"/>
              </a:ext>
            </a:extLst>
          </p:cNvPr>
          <p:cNvSpPr/>
          <p:nvPr/>
        </p:nvSpPr>
        <p:spPr>
          <a:xfrm>
            <a:off x="571500" y="1781975"/>
            <a:ext cx="1459139" cy="333970"/>
          </a:xfrm>
          <a:prstGeom prst="rect">
            <a:avLst/>
          </a:prstGeom>
          <a:noFill/>
          <a:ln/>
        </p:spPr>
        <p:txBody>
          <a:bodyPr wrap="square" lIns="127508" tIns="102108" rIns="127508" bIns="102108" rtlCol="0" anchor="ctr">
            <a:spAutoFit/>
          </a:bodyPr>
          <a:lstStyle/>
          <a:p>
            <a:pPr marL="0" indent="0" algn="l">
              <a:lnSpc>
                <a:spcPts val="1200"/>
              </a:lnSpc>
              <a:buNone/>
            </a:pPr>
            <a:r>
              <a:rPr lang="en-US" sz="885" b="1" dirty="0">
                <a:solidFill>
                  <a:srgbClr val="FFFFFF"/>
                </a:solidFill>
                <a:latin typeface="Inter" pitchFamily="34" charset="0"/>
                <a:ea typeface="Inter" pitchFamily="34" charset="-122"/>
                <a:cs typeface="Inter" pitchFamily="34" charset="-120"/>
              </a:rPr>
              <a:t>PARAMETER</a:t>
            </a:r>
            <a:endParaRPr lang="en-US" sz="885" dirty="0"/>
          </a:p>
        </p:txBody>
      </p:sp>
      <p:sp>
        <p:nvSpPr>
          <p:cNvPr id="6" name="Text 3">
            <a:extLst>
              <a:ext uri="{FF2B5EF4-FFF2-40B4-BE49-F238E27FC236}">
                <a16:creationId xmlns:a16="http://schemas.microsoft.com/office/drawing/2014/main" id="{3BBA1A50-CCA1-607C-582D-D87CBE74C06C}"/>
              </a:ext>
            </a:extLst>
          </p:cNvPr>
          <p:cNvSpPr/>
          <p:nvPr/>
        </p:nvSpPr>
        <p:spPr>
          <a:xfrm>
            <a:off x="2030639" y="1781975"/>
            <a:ext cx="1374670" cy="333970"/>
          </a:xfrm>
          <a:prstGeom prst="rect">
            <a:avLst/>
          </a:prstGeom>
          <a:noFill/>
          <a:ln/>
        </p:spPr>
        <p:txBody>
          <a:bodyPr wrap="square" lIns="127508" tIns="102108" rIns="127508" bIns="102108" rtlCol="0" anchor="ctr">
            <a:spAutoFit/>
          </a:bodyPr>
          <a:lstStyle/>
          <a:p>
            <a:pPr marL="0" indent="0" algn="l">
              <a:lnSpc>
                <a:spcPts val="1200"/>
              </a:lnSpc>
              <a:buNone/>
            </a:pPr>
            <a:r>
              <a:rPr lang="en-US" sz="885" b="1">
                <a:solidFill>
                  <a:srgbClr val="FFFFFF"/>
                </a:solidFill>
                <a:latin typeface="Inter" pitchFamily="34" charset="0"/>
                <a:ea typeface="Inter" pitchFamily="34" charset="-122"/>
                <a:cs typeface="Inter" pitchFamily="34" charset="-120"/>
              </a:rPr>
              <a:t>BASE VALUE</a:t>
            </a:r>
            <a:endParaRPr lang="en-US" sz="885"/>
          </a:p>
        </p:txBody>
      </p:sp>
      <p:sp>
        <p:nvSpPr>
          <p:cNvPr id="7" name="Text 4">
            <a:extLst>
              <a:ext uri="{FF2B5EF4-FFF2-40B4-BE49-F238E27FC236}">
                <a16:creationId xmlns:a16="http://schemas.microsoft.com/office/drawing/2014/main" id="{966A3130-71BC-7B3A-7E77-8DA37849053C}"/>
              </a:ext>
            </a:extLst>
          </p:cNvPr>
          <p:cNvSpPr/>
          <p:nvPr/>
        </p:nvSpPr>
        <p:spPr>
          <a:xfrm>
            <a:off x="3405308" y="1781975"/>
            <a:ext cx="1566742" cy="333970"/>
          </a:xfrm>
          <a:prstGeom prst="rect">
            <a:avLst/>
          </a:prstGeom>
          <a:noFill/>
          <a:ln/>
        </p:spPr>
        <p:txBody>
          <a:bodyPr wrap="square" lIns="127508" tIns="102108" rIns="127508" bIns="102108" rtlCol="0" anchor="ctr">
            <a:spAutoFit/>
          </a:bodyPr>
          <a:lstStyle/>
          <a:p>
            <a:pPr marL="0" indent="0" algn="l">
              <a:lnSpc>
                <a:spcPts val="1200"/>
              </a:lnSpc>
              <a:buNone/>
            </a:pPr>
            <a:r>
              <a:rPr lang="en-US" sz="885" b="1">
                <a:solidFill>
                  <a:srgbClr val="FFFFFF"/>
                </a:solidFill>
                <a:latin typeface="Inter" pitchFamily="34" charset="0"/>
                <a:ea typeface="Inter" pitchFamily="34" charset="-122"/>
                <a:cs typeface="Inter" pitchFamily="34" charset="-120"/>
              </a:rPr>
              <a:t>UNCERTAINTY</a:t>
            </a:r>
            <a:endParaRPr lang="en-US" sz="885"/>
          </a:p>
        </p:txBody>
      </p:sp>
      <p:sp>
        <p:nvSpPr>
          <p:cNvPr id="8" name="Text 5">
            <a:extLst>
              <a:ext uri="{FF2B5EF4-FFF2-40B4-BE49-F238E27FC236}">
                <a16:creationId xmlns:a16="http://schemas.microsoft.com/office/drawing/2014/main" id="{5D2440F5-815F-B4F5-F92E-5137FD5A9CD1}"/>
              </a:ext>
            </a:extLst>
          </p:cNvPr>
          <p:cNvSpPr/>
          <p:nvPr/>
        </p:nvSpPr>
        <p:spPr>
          <a:xfrm>
            <a:off x="571500" y="2106510"/>
            <a:ext cx="1459139" cy="338554"/>
          </a:xfrm>
          <a:prstGeom prst="rect">
            <a:avLst/>
          </a:prstGeom>
          <a:noFill/>
          <a:ln/>
        </p:spPr>
        <p:txBody>
          <a:bodyPr wrap="square" lIns="127508" tIns="102108" rIns="127508" bIns="102108" rtlCol="0" anchor="ctr">
            <a:spAutoFit/>
          </a:bodyPr>
          <a:lstStyle/>
          <a:p>
            <a:pPr marL="0" indent="0" algn="l">
              <a:lnSpc>
                <a:spcPts val="1100"/>
              </a:lnSpc>
              <a:buNone/>
            </a:pPr>
            <a:r>
              <a:rPr lang="en-US" sz="784" b="1">
                <a:solidFill>
                  <a:srgbClr val="E0E1DD"/>
                </a:solidFill>
                <a:latin typeface="Inter" pitchFamily="34" charset="0"/>
                <a:ea typeface="Inter" pitchFamily="34" charset="-122"/>
                <a:cs typeface="Inter" pitchFamily="34" charset="-120"/>
              </a:rPr>
              <a:t>Homes in Pool</a:t>
            </a:r>
            <a:endParaRPr lang="en-US" sz="784"/>
          </a:p>
        </p:txBody>
      </p:sp>
      <p:sp>
        <p:nvSpPr>
          <p:cNvPr id="9" name="Text 6">
            <a:extLst>
              <a:ext uri="{FF2B5EF4-FFF2-40B4-BE49-F238E27FC236}">
                <a16:creationId xmlns:a16="http://schemas.microsoft.com/office/drawing/2014/main" id="{5B831C19-ABEF-816C-9310-A45FE9D46518}"/>
              </a:ext>
            </a:extLst>
          </p:cNvPr>
          <p:cNvSpPr/>
          <p:nvPr/>
        </p:nvSpPr>
        <p:spPr>
          <a:xfrm>
            <a:off x="2030639" y="2115945"/>
            <a:ext cx="1374670" cy="319683"/>
          </a:xfrm>
          <a:prstGeom prst="rect">
            <a:avLst/>
          </a:prstGeom>
          <a:noFill/>
          <a:ln/>
        </p:spPr>
        <p:txBody>
          <a:bodyPr wrap="square" lIns="127508" tIns="102108" rIns="127508" bIns="102108" rtlCol="0" anchor="ctr">
            <a:spAutoFit/>
          </a:bodyPr>
          <a:lstStyle/>
          <a:p>
            <a:pPr marL="0" indent="0" algn="l">
              <a:lnSpc>
                <a:spcPts val="1100"/>
              </a:lnSpc>
              <a:buNone/>
            </a:pPr>
            <a:r>
              <a:rPr lang="en-US" sz="784" b="1">
                <a:solidFill>
                  <a:srgbClr val="E0E1DD"/>
                </a:solidFill>
                <a:latin typeface="Inter" pitchFamily="34" charset="0"/>
                <a:ea typeface="Inter" pitchFamily="34" charset="-122"/>
                <a:cs typeface="Inter" pitchFamily="34" charset="-120"/>
              </a:rPr>
              <a:t>16,280</a:t>
            </a:r>
            <a:endParaRPr lang="en-US" sz="784"/>
          </a:p>
        </p:txBody>
      </p:sp>
      <p:sp>
        <p:nvSpPr>
          <p:cNvPr id="10" name="Text 7">
            <a:extLst>
              <a:ext uri="{FF2B5EF4-FFF2-40B4-BE49-F238E27FC236}">
                <a16:creationId xmlns:a16="http://schemas.microsoft.com/office/drawing/2014/main" id="{FC23E0C4-560D-5F6A-B9D2-54424DBCAF5C}"/>
              </a:ext>
            </a:extLst>
          </p:cNvPr>
          <p:cNvSpPr/>
          <p:nvPr/>
        </p:nvSpPr>
        <p:spPr>
          <a:xfrm>
            <a:off x="3405308" y="2115945"/>
            <a:ext cx="1566742" cy="319683"/>
          </a:xfrm>
          <a:prstGeom prst="rect">
            <a:avLst/>
          </a:prstGeom>
          <a:noFill/>
          <a:ln/>
        </p:spPr>
        <p:txBody>
          <a:bodyPr wrap="square" lIns="127508" tIns="102108" rIns="127508" bIns="102108" rtlCol="0" anchor="ctr">
            <a:spAutoFit/>
          </a:bodyPr>
          <a:lstStyle/>
          <a:p>
            <a:pPr marL="0" indent="0" algn="l">
              <a:lnSpc>
                <a:spcPts val="1100"/>
              </a:lnSpc>
              <a:buNone/>
            </a:pPr>
            <a:r>
              <a:rPr lang="en-US" sz="784" b="1">
                <a:solidFill>
                  <a:srgbClr val="E0E1DD"/>
                </a:solidFill>
                <a:latin typeface="Inter" pitchFamily="34" charset="0"/>
                <a:ea typeface="Inter" pitchFamily="34" charset="-122"/>
                <a:cs typeface="Inter" pitchFamily="34" charset="-120"/>
              </a:rPr>
              <a:t>Fixed</a:t>
            </a:r>
            <a:endParaRPr lang="en-US" sz="784"/>
          </a:p>
        </p:txBody>
      </p:sp>
      <p:sp>
        <p:nvSpPr>
          <p:cNvPr id="11" name="Shape 8">
            <a:extLst>
              <a:ext uri="{FF2B5EF4-FFF2-40B4-BE49-F238E27FC236}">
                <a16:creationId xmlns:a16="http://schemas.microsoft.com/office/drawing/2014/main" id="{2BF9FF5A-33B3-DDDE-E50F-C6F69CC75CFC}"/>
              </a:ext>
            </a:extLst>
          </p:cNvPr>
          <p:cNvSpPr/>
          <p:nvPr/>
        </p:nvSpPr>
        <p:spPr>
          <a:xfrm>
            <a:off x="571500" y="2435628"/>
            <a:ext cx="1459139" cy="316111"/>
          </a:xfrm>
          <a:prstGeom prst="rect">
            <a:avLst/>
          </a:prstGeom>
          <a:solidFill>
            <a:srgbClr val="4BC0C8">
              <a:alpha val="15000"/>
            </a:srgbClr>
          </a:solidFill>
          <a:ln/>
        </p:spPr>
        <p:txBody>
          <a:bodyPr/>
          <a:lstStyle/>
          <a:p>
            <a:endParaRPr lang="en-US"/>
          </a:p>
        </p:txBody>
      </p:sp>
      <p:sp>
        <p:nvSpPr>
          <p:cNvPr id="12" name="Shape 9">
            <a:extLst>
              <a:ext uri="{FF2B5EF4-FFF2-40B4-BE49-F238E27FC236}">
                <a16:creationId xmlns:a16="http://schemas.microsoft.com/office/drawing/2014/main" id="{D3659F3A-4101-173B-E00B-DB4B2A243468}"/>
              </a:ext>
            </a:extLst>
          </p:cNvPr>
          <p:cNvSpPr/>
          <p:nvPr/>
        </p:nvSpPr>
        <p:spPr>
          <a:xfrm>
            <a:off x="571500" y="2744595"/>
            <a:ext cx="1459139" cy="7144"/>
          </a:xfrm>
          <a:prstGeom prst="rect">
            <a:avLst/>
          </a:prstGeom>
          <a:solidFill>
            <a:srgbClr val="4BC0C8"/>
          </a:solidFill>
          <a:ln/>
        </p:spPr>
        <p:txBody>
          <a:bodyPr/>
          <a:lstStyle/>
          <a:p>
            <a:endParaRPr lang="en-US"/>
          </a:p>
        </p:txBody>
      </p:sp>
      <p:sp>
        <p:nvSpPr>
          <p:cNvPr id="13" name="Text 10">
            <a:extLst>
              <a:ext uri="{FF2B5EF4-FFF2-40B4-BE49-F238E27FC236}">
                <a16:creationId xmlns:a16="http://schemas.microsoft.com/office/drawing/2014/main" id="{B22CA50A-2388-BA6C-9188-B3F864617470}"/>
              </a:ext>
            </a:extLst>
          </p:cNvPr>
          <p:cNvSpPr/>
          <p:nvPr/>
        </p:nvSpPr>
        <p:spPr>
          <a:xfrm>
            <a:off x="571500" y="2435628"/>
            <a:ext cx="1459139" cy="316111"/>
          </a:xfrm>
          <a:prstGeom prst="rect">
            <a:avLst/>
          </a:prstGeom>
          <a:noFill/>
          <a:ln/>
        </p:spPr>
        <p:txBody>
          <a:bodyPr wrap="square" lIns="127508" tIns="102108" rIns="127508" bIns="102108" rtlCol="0" anchor="ctr">
            <a:spAutoFit/>
          </a:bodyPr>
          <a:lstStyle/>
          <a:p>
            <a:pPr marL="0" indent="0" algn="l">
              <a:lnSpc>
                <a:spcPts val="1100"/>
              </a:lnSpc>
              <a:buNone/>
            </a:pPr>
            <a:r>
              <a:rPr lang="en-US" sz="784" b="1">
                <a:solidFill>
                  <a:srgbClr val="FFFFFF"/>
                </a:solidFill>
                <a:latin typeface="Inter" pitchFamily="34" charset="0"/>
                <a:ea typeface="Inter" pitchFamily="34" charset="-122"/>
                <a:cs typeface="Inter" pitchFamily="34" charset="-120"/>
              </a:rPr>
              <a:t>Participation Rate</a:t>
            </a:r>
            <a:endParaRPr lang="en-US" sz="784"/>
          </a:p>
        </p:txBody>
      </p:sp>
      <p:sp>
        <p:nvSpPr>
          <p:cNvPr id="14" name="Shape 11">
            <a:extLst>
              <a:ext uri="{FF2B5EF4-FFF2-40B4-BE49-F238E27FC236}">
                <a16:creationId xmlns:a16="http://schemas.microsoft.com/office/drawing/2014/main" id="{A3D32346-6AD8-8820-9105-B37611AF5C25}"/>
              </a:ext>
            </a:extLst>
          </p:cNvPr>
          <p:cNvSpPr/>
          <p:nvPr/>
        </p:nvSpPr>
        <p:spPr>
          <a:xfrm>
            <a:off x="2030639" y="2435628"/>
            <a:ext cx="1374670" cy="316111"/>
          </a:xfrm>
          <a:prstGeom prst="rect">
            <a:avLst/>
          </a:prstGeom>
          <a:solidFill>
            <a:srgbClr val="4BC0C8">
              <a:alpha val="15000"/>
            </a:srgbClr>
          </a:solidFill>
          <a:ln/>
        </p:spPr>
        <p:txBody>
          <a:bodyPr/>
          <a:lstStyle/>
          <a:p>
            <a:endParaRPr lang="en-US"/>
          </a:p>
        </p:txBody>
      </p:sp>
      <p:sp>
        <p:nvSpPr>
          <p:cNvPr id="15" name="Shape 12">
            <a:extLst>
              <a:ext uri="{FF2B5EF4-FFF2-40B4-BE49-F238E27FC236}">
                <a16:creationId xmlns:a16="http://schemas.microsoft.com/office/drawing/2014/main" id="{1498355F-39DD-6626-3D40-C8AAB5A8921F}"/>
              </a:ext>
            </a:extLst>
          </p:cNvPr>
          <p:cNvSpPr/>
          <p:nvPr/>
        </p:nvSpPr>
        <p:spPr>
          <a:xfrm>
            <a:off x="2030639" y="2744595"/>
            <a:ext cx="1374670" cy="7144"/>
          </a:xfrm>
          <a:prstGeom prst="rect">
            <a:avLst/>
          </a:prstGeom>
          <a:solidFill>
            <a:srgbClr val="4BC0C8"/>
          </a:solidFill>
          <a:ln/>
        </p:spPr>
        <p:txBody>
          <a:bodyPr/>
          <a:lstStyle/>
          <a:p>
            <a:endParaRPr lang="en-US"/>
          </a:p>
        </p:txBody>
      </p:sp>
      <p:sp>
        <p:nvSpPr>
          <p:cNvPr id="16" name="Text 13">
            <a:extLst>
              <a:ext uri="{FF2B5EF4-FFF2-40B4-BE49-F238E27FC236}">
                <a16:creationId xmlns:a16="http://schemas.microsoft.com/office/drawing/2014/main" id="{9F519DF5-B86A-15E7-BFFC-E1B200584CB0}"/>
              </a:ext>
            </a:extLst>
          </p:cNvPr>
          <p:cNvSpPr/>
          <p:nvPr/>
        </p:nvSpPr>
        <p:spPr>
          <a:xfrm>
            <a:off x="2030639" y="2435628"/>
            <a:ext cx="1374670" cy="316111"/>
          </a:xfrm>
          <a:prstGeom prst="rect">
            <a:avLst/>
          </a:prstGeom>
          <a:noFill/>
          <a:ln/>
        </p:spPr>
        <p:txBody>
          <a:bodyPr wrap="square" lIns="127508" tIns="102108" rIns="127508" bIns="102108" rtlCol="0" anchor="ctr">
            <a:spAutoFit/>
          </a:bodyPr>
          <a:lstStyle/>
          <a:p>
            <a:pPr marL="0" indent="0" algn="l">
              <a:lnSpc>
                <a:spcPts val="1100"/>
              </a:lnSpc>
              <a:buNone/>
            </a:pPr>
            <a:r>
              <a:rPr lang="en-US" sz="784" b="1">
                <a:solidFill>
                  <a:srgbClr val="FFFFFF"/>
                </a:solidFill>
                <a:latin typeface="Inter" pitchFamily="34" charset="0"/>
                <a:ea typeface="Inter" pitchFamily="34" charset="-122"/>
                <a:cs typeface="Inter" pitchFamily="34" charset="-120"/>
              </a:rPr>
              <a:t>70%</a:t>
            </a:r>
            <a:endParaRPr lang="en-US" sz="784"/>
          </a:p>
        </p:txBody>
      </p:sp>
      <p:sp>
        <p:nvSpPr>
          <p:cNvPr id="17" name="Shape 14">
            <a:extLst>
              <a:ext uri="{FF2B5EF4-FFF2-40B4-BE49-F238E27FC236}">
                <a16:creationId xmlns:a16="http://schemas.microsoft.com/office/drawing/2014/main" id="{73EE9720-2EFD-5877-AE6E-0F9288169148}"/>
              </a:ext>
            </a:extLst>
          </p:cNvPr>
          <p:cNvSpPr/>
          <p:nvPr/>
        </p:nvSpPr>
        <p:spPr>
          <a:xfrm>
            <a:off x="3405308" y="2435628"/>
            <a:ext cx="1566742" cy="316111"/>
          </a:xfrm>
          <a:prstGeom prst="rect">
            <a:avLst/>
          </a:prstGeom>
          <a:solidFill>
            <a:srgbClr val="4BC0C8">
              <a:alpha val="15000"/>
            </a:srgbClr>
          </a:solidFill>
          <a:ln/>
        </p:spPr>
        <p:txBody>
          <a:bodyPr/>
          <a:lstStyle/>
          <a:p>
            <a:endParaRPr lang="en-US"/>
          </a:p>
        </p:txBody>
      </p:sp>
      <p:sp>
        <p:nvSpPr>
          <p:cNvPr id="18" name="Shape 15">
            <a:extLst>
              <a:ext uri="{FF2B5EF4-FFF2-40B4-BE49-F238E27FC236}">
                <a16:creationId xmlns:a16="http://schemas.microsoft.com/office/drawing/2014/main" id="{E1C48DD2-3D2E-66D5-DF1F-3DCA811B80F4}"/>
              </a:ext>
            </a:extLst>
          </p:cNvPr>
          <p:cNvSpPr/>
          <p:nvPr/>
        </p:nvSpPr>
        <p:spPr>
          <a:xfrm>
            <a:off x="3405308" y="2744595"/>
            <a:ext cx="1566742" cy="7144"/>
          </a:xfrm>
          <a:prstGeom prst="rect">
            <a:avLst/>
          </a:prstGeom>
          <a:solidFill>
            <a:srgbClr val="4BC0C8"/>
          </a:solidFill>
          <a:ln/>
        </p:spPr>
        <p:txBody>
          <a:bodyPr/>
          <a:lstStyle/>
          <a:p>
            <a:endParaRPr lang="en-US"/>
          </a:p>
        </p:txBody>
      </p:sp>
      <p:sp>
        <p:nvSpPr>
          <p:cNvPr id="19" name="Text 16">
            <a:extLst>
              <a:ext uri="{FF2B5EF4-FFF2-40B4-BE49-F238E27FC236}">
                <a16:creationId xmlns:a16="http://schemas.microsoft.com/office/drawing/2014/main" id="{8A6D6661-78F9-91B9-55E6-3850D0D090A0}"/>
              </a:ext>
            </a:extLst>
          </p:cNvPr>
          <p:cNvSpPr/>
          <p:nvPr/>
        </p:nvSpPr>
        <p:spPr>
          <a:xfrm>
            <a:off x="3405308" y="2435628"/>
            <a:ext cx="1566742" cy="316111"/>
          </a:xfrm>
          <a:prstGeom prst="rect">
            <a:avLst/>
          </a:prstGeom>
          <a:noFill/>
          <a:ln/>
        </p:spPr>
        <p:txBody>
          <a:bodyPr wrap="square" lIns="127508" tIns="102108" rIns="127508" bIns="102108" rtlCol="0" anchor="ctr">
            <a:spAutoFit/>
          </a:bodyPr>
          <a:lstStyle/>
          <a:p>
            <a:pPr marL="0" indent="0" algn="l">
              <a:lnSpc>
                <a:spcPts val="1100"/>
              </a:lnSpc>
              <a:buNone/>
            </a:pPr>
            <a:r>
              <a:rPr lang="en-US" sz="784" b="1">
                <a:solidFill>
                  <a:srgbClr val="FFFFFF"/>
                </a:solidFill>
                <a:latin typeface="Inter" pitchFamily="34" charset="0"/>
                <a:ea typeface="Inter" pitchFamily="34" charset="-122"/>
                <a:cs typeface="Inter" pitchFamily="34" charset="-120"/>
              </a:rPr>
              <a:t>±5% (stochastic)</a:t>
            </a:r>
            <a:endParaRPr lang="en-US" sz="784"/>
          </a:p>
        </p:txBody>
      </p:sp>
      <p:sp>
        <p:nvSpPr>
          <p:cNvPr id="20" name="Shape 17">
            <a:extLst>
              <a:ext uri="{FF2B5EF4-FFF2-40B4-BE49-F238E27FC236}">
                <a16:creationId xmlns:a16="http://schemas.microsoft.com/office/drawing/2014/main" id="{80A2A652-A796-17BF-FA61-911830C6CB89}"/>
              </a:ext>
            </a:extLst>
          </p:cNvPr>
          <p:cNvSpPr/>
          <p:nvPr/>
        </p:nvSpPr>
        <p:spPr>
          <a:xfrm>
            <a:off x="571500" y="2748167"/>
            <a:ext cx="1459139" cy="450056"/>
          </a:xfrm>
          <a:prstGeom prst="rect">
            <a:avLst/>
          </a:prstGeom>
          <a:solidFill>
            <a:srgbClr val="4BC0C8">
              <a:alpha val="15000"/>
            </a:srgbClr>
          </a:solidFill>
          <a:ln/>
        </p:spPr>
        <p:txBody>
          <a:bodyPr/>
          <a:lstStyle/>
          <a:p>
            <a:endParaRPr lang="en-US"/>
          </a:p>
        </p:txBody>
      </p:sp>
      <p:sp>
        <p:nvSpPr>
          <p:cNvPr id="21" name="Shape 18">
            <a:extLst>
              <a:ext uri="{FF2B5EF4-FFF2-40B4-BE49-F238E27FC236}">
                <a16:creationId xmlns:a16="http://schemas.microsoft.com/office/drawing/2014/main" id="{C6C0BF24-A416-3AED-F86D-0567C0076A42}"/>
              </a:ext>
            </a:extLst>
          </p:cNvPr>
          <p:cNvSpPr/>
          <p:nvPr/>
        </p:nvSpPr>
        <p:spPr>
          <a:xfrm>
            <a:off x="571500" y="3191080"/>
            <a:ext cx="1459139" cy="7144"/>
          </a:xfrm>
          <a:prstGeom prst="rect">
            <a:avLst/>
          </a:prstGeom>
          <a:solidFill>
            <a:srgbClr val="4BC0C8"/>
          </a:solidFill>
          <a:ln/>
        </p:spPr>
        <p:txBody>
          <a:bodyPr/>
          <a:lstStyle/>
          <a:p>
            <a:endParaRPr lang="en-US"/>
          </a:p>
        </p:txBody>
      </p:sp>
      <p:sp>
        <p:nvSpPr>
          <p:cNvPr id="22" name="Text 19">
            <a:extLst>
              <a:ext uri="{FF2B5EF4-FFF2-40B4-BE49-F238E27FC236}">
                <a16:creationId xmlns:a16="http://schemas.microsoft.com/office/drawing/2014/main" id="{8E8EA5E1-098F-FF3A-E353-51AD8FC3B4D7}"/>
              </a:ext>
            </a:extLst>
          </p:cNvPr>
          <p:cNvSpPr/>
          <p:nvPr/>
        </p:nvSpPr>
        <p:spPr>
          <a:xfrm>
            <a:off x="571500" y="2748167"/>
            <a:ext cx="1459139" cy="450056"/>
          </a:xfrm>
          <a:prstGeom prst="rect">
            <a:avLst/>
          </a:prstGeom>
          <a:noFill/>
          <a:ln/>
        </p:spPr>
        <p:txBody>
          <a:bodyPr wrap="square" lIns="127508" tIns="102108" rIns="127508" bIns="102108" rtlCol="0" anchor="ctr">
            <a:spAutoFit/>
          </a:bodyPr>
          <a:lstStyle/>
          <a:p>
            <a:pPr marL="0" indent="0" algn="l">
              <a:lnSpc>
                <a:spcPts val="1100"/>
              </a:lnSpc>
              <a:buNone/>
            </a:pPr>
            <a:r>
              <a:rPr lang="en-US" sz="784" b="1">
                <a:solidFill>
                  <a:srgbClr val="FFFFFF"/>
                </a:solidFill>
                <a:latin typeface="Inter" pitchFamily="34" charset="0"/>
                <a:ea typeface="Inter" pitchFamily="34" charset="-122"/>
                <a:cs typeface="Inter" pitchFamily="34" charset="-120"/>
              </a:rPr>
              <a:t>Avg Replacement Cost</a:t>
            </a:r>
            <a:endParaRPr lang="en-US" sz="784"/>
          </a:p>
        </p:txBody>
      </p:sp>
      <p:sp>
        <p:nvSpPr>
          <p:cNvPr id="23" name="Shape 20">
            <a:extLst>
              <a:ext uri="{FF2B5EF4-FFF2-40B4-BE49-F238E27FC236}">
                <a16:creationId xmlns:a16="http://schemas.microsoft.com/office/drawing/2014/main" id="{71CED343-33EE-361F-CC70-7589C08287D7}"/>
              </a:ext>
            </a:extLst>
          </p:cNvPr>
          <p:cNvSpPr/>
          <p:nvPr/>
        </p:nvSpPr>
        <p:spPr>
          <a:xfrm>
            <a:off x="2030639" y="2748167"/>
            <a:ext cx="1374670" cy="450056"/>
          </a:xfrm>
          <a:prstGeom prst="rect">
            <a:avLst/>
          </a:prstGeom>
          <a:solidFill>
            <a:srgbClr val="4BC0C8">
              <a:alpha val="15000"/>
            </a:srgbClr>
          </a:solidFill>
          <a:ln/>
        </p:spPr>
        <p:txBody>
          <a:bodyPr/>
          <a:lstStyle/>
          <a:p>
            <a:endParaRPr lang="en-US"/>
          </a:p>
        </p:txBody>
      </p:sp>
      <p:sp>
        <p:nvSpPr>
          <p:cNvPr id="24" name="Shape 21">
            <a:extLst>
              <a:ext uri="{FF2B5EF4-FFF2-40B4-BE49-F238E27FC236}">
                <a16:creationId xmlns:a16="http://schemas.microsoft.com/office/drawing/2014/main" id="{7E33327A-40DB-2268-24FA-4E54353C7534}"/>
              </a:ext>
            </a:extLst>
          </p:cNvPr>
          <p:cNvSpPr/>
          <p:nvPr/>
        </p:nvSpPr>
        <p:spPr>
          <a:xfrm>
            <a:off x="2030639" y="3191080"/>
            <a:ext cx="1374670" cy="7144"/>
          </a:xfrm>
          <a:prstGeom prst="rect">
            <a:avLst/>
          </a:prstGeom>
          <a:solidFill>
            <a:srgbClr val="4BC0C8"/>
          </a:solidFill>
          <a:ln/>
        </p:spPr>
        <p:txBody>
          <a:bodyPr/>
          <a:lstStyle/>
          <a:p>
            <a:endParaRPr lang="en-US"/>
          </a:p>
        </p:txBody>
      </p:sp>
      <p:sp>
        <p:nvSpPr>
          <p:cNvPr id="25" name="Text 22">
            <a:extLst>
              <a:ext uri="{FF2B5EF4-FFF2-40B4-BE49-F238E27FC236}">
                <a16:creationId xmlns:a16="http://schemas.microsoft.com/office/drawing/2014/main" id="{9B18FB0F-76D3-6840-7D8D-E366FD39976E}"/>
              </a:ext>
            </a:extLst>
          </p:cNvPr>
          <p:cNvSpPr/>
          <p:nvPr/>
        </p:nvSpPr>
        <p:spPr>
          <a:xfrm>
            <a:off x="2030639" y="2748167"/>
            <a:ext cx="1374670" cy="450056"/>
          </a:xfrm>
          <a:prstGeom prst="rect">
            <a:avLst/>
          </a:prstGeom>
          <a:noFill/>
          <a:ln/>
        </p:spPr>
        <p:txBody>
          <a:bodyPr wrap="square" lIns="127508" tIns="102108" rIns="127508" bIns="102108" rtlCol="0" anchor="ctr">
            <a:spAutoFit/>
          </a:bodyPr>
          <a:lstStyle/>
          <a:p>
            <a:pPr marL="0" indent="0" algn="l">
              <a:lnSpc>
                <a:spcPts val="1100"/>
              </a:lnSpc>
              <a:buNone/>
            </a:pPr>
            <a:r>
              <a:rPr lang="en-US" sz="784" b="1">
                <a:solidFill>
                  <a:srgbClr val="FFFFFF"/>
                </a:solidFill>
                <a:latin typeface="Inter" pitchFamily="34" charset="0"/>
                <a:ea typeface="Inter" pitchFamily="34" charset="-122"/>
                <a:cs typeface="Inter" pitchFamily="34" charset="-120"/>
              </a:rPr>
              <a:t>$7,386 (cap $10,000)</a:t>
            </a:r>
            <a:endParaRPr lang="en-US" sz="784"/>
          </a:p>
        </p:txBody>
      </p:sp>
      <p:sp>
        <p:nvSpPr>
          <p:cNvPr id="26" name="Shape 23">
            <a:extLst>
              <a:ext uri="{FF2B5EF4-FFF2-40B4-BE49-F238E27FC236}">
                <a16:creationId xmlns:a16="http://schemas.microsoft.com/office/drawing/2014/main" id="{AC574DFE-44DF-8411-7BFF-8DF3773BA59D}"/>
              </a:ext>
            </a:extLst>
          </p:cNvPr>
          <p:cNvSpPr/>
          <p:nvPr/>
        </p:nvSpPr>
        <p:spPr>
          <a:xfrm>
            <a:off x="3405308" y="2748167"/>
            <a:ext cx="1566742" cy="450056"/>
          </a:xfrm>
          <a:prstGeom prst="rect">
            <a:avLst/>
          </a:prstGeom>
          <a:solidFill>
            <a:srgbClr val="4BC0C8">
              <a:alpha val="15000"/>
            </a:srgbClr>
          </a:solidFill>
          <a:ln/>
        </p:spPr>
        <p:txBody>
          <a:bodyPr/>
          <a:lstStyle/>
          <a:p>
            <a:endParaRPr lang="en-US"/>
          </a:p>
        </p:txBody>
      </p:sp>
      <p:sp>
        <p:nvSpPr>
          <p:cNvPr id="27" name="Shape 24">
            <a:extLst>
              <a:ext uri="{FF2B5EF4-FFF2-40B4-BE49-F238E27FC236}">
                <a16:creationId xmlns:a16="http://schemas.microsoft.com/office/drawing/2014/main" id="{2EF8A6CC-B224-F4CA-C453-112B4FA7A3CD}"/>
              </a:ext>
            </a:extLst>
          </p:cNvPr>
          <p:cNvSpPr/>
          <p:nvPr/>
        </p:nvSpPr>
        <p:spPr>
          <a:xfrm>
            <a:off x="3405308" y="3191080"/>
            <a:ext cx="1566742" cy="7144"/>
          </a:xfrm>
          <a:prstGeom prst="rect">
            <a:avLst/>
          </a:prstGeom>
          <a:solidFill>
            <a:srgbClr val="4BC0C8"/>
          </a:solidFill>
          <a:ln/>
        </p:spPr>
        <p:txBody>
          <a:bodyPr/>
          <a:lstStyle/>
          <a:p>
            <a:endParaRPr lang="en-US"/>
          </a:p>
        </p:txBody>
      </p:sp>
      <p:sp>
        <p:nvSpPr>
          <p:cNvPr id="28" name="Text 25">
            <a:extLst>
              <a:ext uri="{FF2B5EF4-FFF2-40B4-BE49-F238E27FC236}">
                <a16:creationId xmlns:a16="http://schemas.microsoft.com/office/drawing/2014/main" id="{8C580E4B-7756-F18F-4472-16A17303A394}"/>
              </a:ext>
            </a:extLst>
          </p:cNvPr>
          <p:cNvSpPr/>
          <p:nvPr/>
        </p:nvSpPr>
        <p:spPr>
          <a:xfrm>
            <a:off x="3405308" y="2804751"/>
            <a:ext cx="1566742" cy="336887"/>
          </a:xfrm>
          <a:prstGeom prst="rect">
            <a:avLst/>
          </a:prstGeom>
          <a:noFill/>
          <a:ln/>
        </p:spPr>
        <p:txBody>
          <a:bodyPr wrap="square" lIns="127508" tIns="102108" rIns="127508" bIns="102108" rtlCol="0" anchor="ctr">
            <a:spAutoFit/>
          </a:bodyPr>
          <a:lstStyle/>
          <a:p>
            <a:pPr marL="0" indent="0" algn="l">
              <a:lnSpc>
                <a:spcPts val="1100"/>
              </a:lnSpc>
              <a:buNone/>
            </a:pPr>
            <a:r>
              <a:rPr lang="en-US" sz="750" b="1">
                <a:solidFill>
                  <a:srgbClr val="FFFFFF"/>
                </a:solidFill>
                <a:latin typeface="Inter"/>
                <a:ea typeface="Inter"/>
                <a:cs typeface="Inter" pitchFamily="34" charset="-120"/>
              </a:rPr>
              <a:t>Inflation 3.2%/yr ±1.93%</a:t>
            </a:r>
            <a:endParaRPr lang="en-US" sz="750">
              <a:latin typeface="Inter"/>
            </a:endParaRPr>
          </a:p>
        </p:txBody>
      </p:sp>
      <p:sp>
        <p:nvSpPr>
          <p:cNvPr id="29" name="Text 26">
            <a:extLst>
              <a:ext uri="{FF2B5EF4-FFF2-40B4-BE49-F238E27FC236}">
                <a16:creationId xmlns:a16="http://schemas.microsoft.com/office/drawing/2014/main" id="{C1B81CDC-D428-D5D1-5D16-318232A87656}"/>
              </a:ext>
            </a:extLst>
          </p:cNvPr>
          <p:cNvSpPr/>
          <p:nvPr/>
        </p:nvSpPr>
        <p:spPr>
          <a:xfrm>
            <a:off x="571500" y="3194652"/>
            <a:ext cx="1459139" cy="312539"/>
          </a:xfrm>
          <a:prstGeom prst="rect">
            <a:avLst/>
          </a:prstGeom>
          <a:noFill/>
          <a:ln/>
        </p:spPr>
        <p:txBody>
          <a:bodyPr wrap="square" lIns="127508" tIns="102108" rIns="127508" bIns="102108" rtlCol="0" anchor="ctr">
            <a:spAutoFit/>
          </a:bodyPr>
          <a:lstStyle/>
          <a:p>
            <a:pPr marL="0" indent="0" algn="l">
              <a:lnSpc>
                <a:spcPts val="1100"/>
              </a:lnSpc>
              <a:buNone/>
            </a:pPr>
            <a:r>
              <a:rPr lang="en-US" sz="784" b="1">
                <a:solidFill>
                  <a:srgbClr val="E0E1DD"/>
                </a:solidFill>
                <a:latin typeface="Inter" pitchFamily="34" charset="0"/>
                <a:ea typeface="Inter" pitchFamily="34" charset="-122"/>
                <a:cs typeface="Inter" pitchFamily="34" charset="-120"/>
              </a:rPr>
              <a:t>Weather Cost Spike</a:t>
            </a:r>
            <a:endParaRPr lang="en-US" sz="784"/>
          </a:p>
        </p:txBody>
      </p:sp>
      <p:sp>
        <p:nvSpPr>
          <p:cNvPr id="30" name="Text 27">
            <a:extLst>
              <a:ext uri="{FF2B5EF4-FFF2-40B4-BE49-F238E27FC236}">
                <a16:creationId xmlns:a16="http://schemas.microsoft.com/office/drawing/2014/main" id="{663018DD-476F-4290-9D85-9B65CEB02209}"/>
              </a:ext>
            </a:extLst>
          </p:cNvPr>
          <p:cNvSpPr/>
          <p:nvPr/>
        </p:nvSpPr>
        <p:spPr>
          <a:xfrm>
            <a:off x="2030639" y="3194652"/>
            <a:ext cx="1374670" cy="312539"/>
          </a:xfrm>
          <a:prstGeom prst="rect">
            <a:avLst/>
          </a:prstGeom>
          <a:noFill/>
          <a:ln/>
        </p:spPr>
        <p:txBody>
          <a:bodyPr wrap="square" lIns="127508" tIns="102108" rIns="127508" bIns="102108" rtlCol="0" anchor="ctr">
            <a:spAutoFit/>
          </a:bodyPr>
          <a:lstStyle/>
          <a:p>
            <a:pPr marL="0" indent="0" algn="l">
              <a:lnSpc>
                <a:spcPts val="1100"/>
              </a:lnSpc>
              <a:buNone/>
            </a:pPr>
            <a:r>
              <a:rPr lang="en-US" sz="784" b="1">
                <a:solidFill>
                  <a:srgbClr val="E0E1DD"/>
                </a:solidFill>
                <a:latin typeface="Inter" pitchFamily="34" charset="0"/>
                <a:ea typeface="Inter" pitchFamily="34" charset="-122"/>
                <a:cs typeface="Inter" pitchFamily="34" charset="-120"/>
              </a:rPr>
              <a:t>+15%</a:t>
            </a:r>
            <a:endParaRPr lang="en-US" sz="784"/>
          </a:p>
        </p:txBody>
      </p:sp>
      <p:sp>
        <p:nvSpPr>
          <p:cNvPr id="31" name="Text 28">
            <a:extLst>
              <a:ext uri="{FF2B5EF4-FFF2-40B4-BE49-F238E27FC236}">
                <a16:creationId xmlns:a16="http://schemas.microsoft.com/office/drawing/2014/main" id="{BF1F7527-3FE8-2B9E-FEF7-22A0868C93E1}"/>
              </a:ext>
            </a:extLst>
          </p:cNvPr>
          <p:cNvSpPr/>
          <p:nvPr/>
        </p:nvSpPr>
        <p:spPr>
          <a:xfrm>
            <a:off x="3405308" y="3194652"/>
            <a:ext cx="1566742" cy="312539"/>
          </a:xfrm>
          <a:prstGeom prst="rect">
            <a:avLst/>
          </a:prstGeom>
          <a:noFill/>
          <a:ln/>
        </p:spPr>
        <p:txBody>
          <a:bodyPr wrap="square" lIns="127508" tIns="102108" rIns="127508" bIns="102108" rtlCol="0" anchor="ctr">
            <a:spAutoFit/>
          </a:bodyPr>
          <a:lstStyle/>
          <a:p>
            <a:pPr marL="0" indent="0" algn="l">
              <a:lnSpc>
                <a:spcPts val="1100"/>
              </a:lnSpc>
              <a:buNone/>
            </a:pPr>
            <a:r>
              <a:rPr lang="en-US" sz="784" b="1">
                <a:solidFill>
                  <a:srgbClr val="E0E1DD"/>
                </a:solidFill>
                <a:latin typeface="Inter" pitchFamily="34" charset="0"/>
                <a:ea typeface="Inter" pitchFamily="34" charset="-122"/>
                <a:cs typeface="Inter" pitchFamily="34" charset="-120"/>
              </a:rPr>
              <a:t>0.2% probability/yr</a:t>
            </a:r>
            <a:endParaRPr lang="en-US" sz="784"/>
          </a:p>
        </p:txBody>
      </p:sp>
      <p:sp>
        <p:nvSpPr>
          <p:cNvPr id="32" name="Text 29">
            <a:extLst>
              <a:ext uri="{FF2B5EF4-FFF2-40B4-BE49-F238E27FC236}">
                <a16:creationId xmlns:a16="http://schemas.microsoft.com/office/drawing/2014/main" id="{707838D3-6C05-3FE0-4030-0DDD87545054}"/>
              </a:ext>
            </a:extLst>
          </p:cNvPr>
          <p:cNvSpPr/>
          <p:nvPr/>
        </p:nvSpPr>
        <p:spPr>
          <a:xfrm>
            <a:off x="571500" y="3507191"/>
            <a:ext cx="1459139" cy="316111"/>
          </a:xfrm>
          <a:prstGeom prst="rect">
            <a:avLst/>
          </a:prstGeom>
          <a:noFill/>
          <a:ln/>
        </p:spPr>
        <p:txBody>
          <a:bodyPr wrap="square" lIns="127508" tIns="102108" rIns="127508" bIns="102108" rtlCol="0" anchor="ctr">
            <a:spAutoFit/>
          </a:bodyPr>
          <a:lstStyle/>
          <a:p>
            <a:pPr marL="0" indent="0" algn="l">
              <a:lnSpc>
                <a:spcPts val="1100"/>
              </a:lnSpc>
              <a:buNone/>
            </a:pPr>
            <a:r>
              <a:rPr lang="en-US" sz="784" b="1">
                <a:solidFill>
                  <a:srgbClr val="E0E1DD"/>
                </a:solidFill>
                <a:latin typeface="Inter" pitchFamily="34" charset="0"/>
                <a:ea typeface="Inter" pitchFamily="34" charset="-122"/>
                <a:cs typeface="Inter" pitchFamily="34" charset="-120"/>
              </a:rPr>
              <a:t>Annual Sale Rate</a:t>
            </a:r>
            <a:endParaRPr lang="en-US" sz="784"/>
          </a:p>
        </p:txBody>
      </p:sp>
      <p:sp>
        <p:nvSpPr>
          <p:cNvPr id="33" name="Text 30">
            <a:extLst>
              <a:ext uri="{FF2B5EF4-FFF2-40B4-BE49-F238E27FC236}">
                <a16:creationId xmlns:a16="http://schemas.microsoft.com/office/drawing/2014/main" id="{F8245D48-A8DE-D078-E5F2-F594CC39CBCA}"/>
              </a:ext>
            </a:extLst>
          </p:cNvPr>
          <p:cNvSpPr/>
          <p:nvPr/>
        </p:nvSpPr>
        <p:spPr>
          <a:xfrm>
            <a:off x="2030639" y="3507191"/>
            <a:ext cx="1374670" cy="316111"/>
          </a:xfrm>
          <a:prstGeom prst="rect">
            <a:avLst/>
          </a:prstGeom>
          <a:noFill/>
          <a:ln/>
        </p:spPr>
        <p:txBody>
          <a:bodyPr wrap="square" lIns="127508" tIns="102108" rIns="127508" bIns="102108" rtlCol="0" anchor="ctr">
            <a:spAutoFit/>
          </a:bodyPr>
          <a:lstStyle/>
          <a:p>
            <a:pPr marL="0" indent="0" algn="l">
              <a:lnSpc>
                <a:spcPts val="1100"/>
              </a:lnSpc>
              <a:buNone/>
            </a:pPr>
            <a:r>
              <a:rPr lang="en-US" sz="784" b="1">
                <a:solidFill>
                  <a:srgbClr val="E0E1DD"/>
                </a:solidFill>
                <a:latin typeface="Inter" pitchFamily="34" charset="0"/>
                <a:ea typeface="Inter" pitchFamily="34" charset="-122"/>
                <a:cs typeface="Inter" pitchFamily="34" charset="-120"/>
              </a:rPr>
              <a:t>8.78%</a:t>
            </a:r>
            <a:endParaRPr lang="en-US" sz="784"/>
          </a:p>
        </p:txBody>
      </p:sp>
      <p:sp>
        <p:nvSpPr>
          <p:cNvPr id="34" name="Text 31">
            <a:extLst>
              <a:ext uri="{FF2B5EF4-FFF2-40B4-BE49-F238E27FC236}">
                <a16:creationId xmlns:a16="http://schemas.microsoft.com/office/drawing/2014/main" id="{282BBE1B-7049-2702-6447-AE81BE0EEC44}"/>
              </a:ext>
            </a:extLst>
          </p:cNvPr>
          <p:cNvSpPr/>
          <p:nvPr/>
        </p:nvSpPr>
        <p:spPr>
          <a:xfrm>
            <a:off x="3405308" y="3507191"/>
            <a:ext cx="1566742" cy="316111"/>
          </a:xfrm>
          <a:prstGeom prst="rect">
            <a:avLst/>
          </a:prstGeom>
          <a:noFill/>
          <a:ln/>
        </p:spPr>
        <p:txBody>
          <a:bodyPr wrap="square" lIns="127508" tIns="102108" rIns="127508" bIns="102108" rtlCol="0" anchor="ctr">
            <a:spAutoFit/>
          </a:bodyPr>
          <a:lstStyle/>
          <a:p>
            <a:pPr marL="0" indent="0" algn="l">
              <a:lnSpc>
                <a:spcPts val="1100"/>
              </a:lnSpc>
              <a:buNone/>
            </a:pPr>
            <a:r>
              <a:rPr lang="en-US" sz="784" b="1">
                <a:solidFill>
                  <a:srgbClr val="E0E1DD"/>
                </a:solidFill>
                <a:latin typeface="Inter" pitchFamily="34" charset="0"/>
                <a:ea typeface="Inter" pitchFamily="34" charset="-122"/>
                <a:cs typeface="Inter" pitchFamily="34" charset="-120"/>
              </a:rPr>
              <a:t>—</a:t>
            </a:r>
            <a:endParaRPr lang="en-US" sz="784"/>
          </a:p>
        </p:txBody>
      </p:sp>
      <p:sp>
        <p:nvSpPr>
          <p:cNvPr id="35" name="Text 32">
            <a:extLst>
              <a:ext uri="{FF2B5EF4-FFF2-40B4-BE49-F238E27FC236}">
                <a16:creationId xmlns:a16="http://schemas.microsoft.com/office/drawing/2014/main" id="{5D6F8F48-F378-9013-8EC9-8EC28A075377}"/>
              </a:ext>
            </a:extLst>
          </p:cNvPr>
          <p:cNvSpPr/>
          <p:nvPr/>
        </p:nvSpPr>
        <p:spPr>
          <a:xfrm>
            <a:off x="571500" y="3823302"/>
            <a:ext cx="1459139" cy="316111"/>
          </a:xfrm>
          <a:prstGeom prst="rect">
            <a:avLst/>
          </a:prstGeom>
          <a:noFill/>
          <a:ln/>
        </p:spPr>
        <p:txBody>
          <a:bodyPr wrap="square" lIns="127508" tIns="102108" rIns="127508" bIns="102108" rtlCol="0" anchor="ctr">
            <a:spAutoFit/>
          </a:bodyPr>
          <a:lstStyle/>
          <a:p>
            <a:pPr marL="0" indent="0" algn="l">
              <a:lnSpc>
                <a:spcPts val="1100"/>
              </a:lnSpc>
              <a:buNone/>
            </a:pPr>
            <a:r>
              <a:rPr lang="en-US" sz="784" b="1">
                <a:solidFill>
                  <a:srgbClr val="E0E1DD"/>
                </a:solidFill>
                <a:latin typeface="Inter" pitchFamily="34" charset="0"/>
                <a:ea typeface="Inter" pitchFamily="34" charset="-122"/>
                <a:cs typeface="Inter" pitchFamily="34" charset="-120"/>
              </a:rPr>
              <a:t>Refinance Rate</a:t>
            </a:r>
            <a:endParaRPr lang="en-US" sz="784"/>
          </a:p>
        </p:txBody>
      </p:sp>
      <p:sp>
        <p:nvSpPr>
          <p:cNvPr id="36" name="Text 33">
            <a:extLst>
              <a:ext uri="{FF2B5EF4-FFF2-40B4-BE49-F238E27FC236}">
                <a16:creationId xmlns:a16="http://schemas.microsoft.com/office/drawing/2014/main" id="{4CC358A6-45F3-9D9A-5FBD-F76EAF71E278}"/>
              </a:ext>
            </a:extLst>
          </p:cNvPr>
          <p:cNvSpPr/>
          <p:nvPr/>
        </p:nvSpPr>
        <p:spPr>
          <a:xfrm>
            <a:off x="2030639" y="3823302"/>
            <a:ext cx="1374670" cy="316111"/>
          </a:xfrm>
          <a:prstGeom prst="rect">
            <a:avLst/>
          </a:prstGeom>
          <a:noFill/>
          <a:ln/>
        </p:spPr>
        <p:txBody>
          <a:bodyPr wrap="square" lIns="127508" tIns="102108" rIns="127508" bIns="102108" rtlCol="0" anchor="ctr">
            <a:spAutoFit/>
          </a:bodyPr>
          <a:lstStyle/>
          <a:p>
            <a:pPr marL="0" indent="0" algn="l">
              <a:lnSpc>
                <a:spcPts val="1100"/>
              </a:lnSpc>
              <a:buNone/>
            </a:pPr>
            <a:r>
              <a:rPr lang="en-US" sz="784" b="1">
                <a:solidFill>
                  <a:srgbClr val="E0E1DD"/>
                </a:solidFill>
                <a:latin typeface="Inter" pitchFamily="34" charset="0"/>
                <a:ea typeface="Inter" pitchFamily="34" charset="-122"/>
                <a:cs typeface="Inter" pitchFamily="34" charset="-120"/>
              </a:rPr>
              <a:t>3.25%</a:t>
            </a:r>
            <a:endParaRPr lang="en-US" sz="784"/>
          </a:p>
        </p:txBody>
      </p:sp>
      <p:sp>
        <p:nvSpPr>
          <p:cNvPr id="37" name="Text 34">
            <a:extLst>
              <a:ext uri="{FF2B5EF4-FFF2-40B4-BE49-F238E27FC236}">
                <a16:creationId xmlns:a16="http://schemas.microsoft.com/office/drawing/2014/main" id="{72C1393E-7B71-C605-4C43-71068302C305}"/>
              </a:ext>
            </a:extLst>
          </p:cNvPr>
          <p:cNvSpPr/>
          <p:nvPr/>
        </p:nvSpPr>
        <p:spPr>
          <a:xfrm>
            <a:off x="3405308" y="3823302"/>
            <a:ext cx="1566742" cy="316111"/>
          </a:xfrm>
          <a:prstGeom prst="rect">
            <a:avLst/>
          </a:prstGeom>
          <a:noFill/>
          <a:ln/>
        </p:spPr>
        <p:txBody>
          <a:bodyPr wrap="square" lIns="127508" tIns="102108" rIns="127508" bIns="102108" rtlCol="0" anchor="ctr">
            <a:spAutoFit/>
          </a:bodyPr>
          <a:lstStyle/>
          <a:p>
            <a:pPr marL="0" indent="0" algn="l">
              <a:lnSpc>
                <a:spcPts val="1100"/>
              </a:lnSpc>
              <a:buNone/>
            </a:pPr>
            <a:r>
              <a:rPr lang="en-US" sz="784" b="1">
                <a:solidFill>
                  <a:srgbClr val="E0E1DD"/>
                </a:solidFill>
                <a:latin typeface="Inter" pitchFamily="34" charset="0"/>
                <a:ea typeface="Inter" pitchFamily="34" charset="-122"/>
                <a:cs typeface="Inter" pitchFamily="34" charset="-120"/>
              </a:rPr>
              <a:t>—</a:t>
            </a:r>
            <a:endParaRPr lang="en-US" sz="784"/>
          </a:p>
        </p:txBody>
      </p:sp>
      <p:sp>
        <p:nvSpPr>
          <p:cNvPr id="38" name="Text 35">
            <a:extLst>
              <a:ext uri="{FF2B5EF4-FFF2-40B4-BE49-F238E27FC236}">
                <a16:creationId xmlns:a16="http://schemas.microsoft.com/office/drawing/2014/main" id="{6A146EB5-0298-28D6-E1C9-A6C4CF666224}"/>
              </a:ext>
            </a:extLst>
          </p:cNvPr>
          <p:cNvSpPr/>
          <p:nvPr/>
        </p:nvSpPr>
        <p:spPr>
          <a:xfrm>
            <a:off x="571500" y="4139412"/>
            <a:ext cx="1459139" cy="316111"/>
          </a:xfrm>
          <a:prstGeom prst="rect">
            <a:avLst/>
          </a:prstGeom>
          <a:noFill/>
          <a:ln/>
        </p:spPr>
        <p:txBody>
          <a:bodyPr wrap="square" lIns="127508" tIns="102108" rIns="127508" bIns="102108" rtlCol="0" anchor="ctr">
            <a:spAutoFit/>
          </a:bodyPr>
          <a:lstStyle/>
          <a:p>
            <a:pPr marL="0" indent="0" algn="l">
              <a:lnSpc>
                <a:spcPts val="1100"/>
              </a:lnSpc>
              <a:buNone/>
            </a:pPr>
            <a:r>
              <a:rPr lang="en-US" sz="784" b="1">
                <a:solidFill>
                  <a:srgbClr val="E0E1DD"/>
                </a:solidFill>
                <a:latin typeface="Inter" pitchFamily="34" charset="0"/>
                <a:ea typeface="Inter" pitchFamily="34" charset="-122"/>
                <a:cs typeface="Inter" pitchFamily="34" charset="-120"/>
              </a:rPr>
              <a:t>Forgiven Loans</a:t>
            </a:r>
            <a:endParaRPr lang="en-US" sz="784"/>
          </a:p>
        </p:txBody>
      </p:sp>
      <p:sp>
        <p:nvSpPr>
          <p:cNvPr id="39" name="Text 36">
            <a:extLst>
              <a:ext uri="{FF2B5EF4-FFF2-40B4-BE49-F238E27FC236}">
                <a16:creationId xmlns:a16="http://schemas.microsoft.com/office/drawing/2014/main" id="{FD5FEA87-7A3B-430B-CADB-818B344F1BE3}"/>
              </a:ext>
            </a:extLst>
          </p:cNvPr>
          <p:cNvSpPr/>
          <p:nvPr/>
        </p:nvSpPr>
        <p:spPr>
          <a:xfrm>
            <a:off x="2030639" y="4139412"/>
            <a:ext cx="1374670" cy="316111"/>
          </a:xfrm>
          <a:prstGeom prst="rect">
            <a:avLst/>
          </a:prstGeom>
          <a:noFill/>
          <a:ln/>
        </p:spPr>
        <p:txBody>
          <a:bodyPr wrap="square" lIns="127508" tIns="102108" rIns="127508" bIns="102108" rtlCol="0" anchor="ctr">
            <a:spAutoFit/>
          </a:bodyPr>
          <a:lstStyle/>
          <a:p>
            <a:pPr marL="0" indent="0" algn="l">
              <a:lnSpc>
                <a:spcPts val="1100"/>
              </a:lnSpc>
              <a:buNone/>
            </a:pPr>
            <a:r>
              <a:rPr lang="en-US" sz="784" b="1">
                <a:solidFill>
                  <a:srgbClr val="E0E1DD"/>
                </a:solidFill>
                <a:latin typeface="Inter" pitchFamily="34" charset="0"/>
                <a:ea typeface="Inter" pitchFamily="34" charset="-122"/>
                <a:cs typeface="Inter" pitchFamily="34" charset="-120"/>
              </a:rPr>
              <a:t>3.82%</a:t>
            </a:r>
            <a:endParaRPr lang="en-US" sz="784"/>
          </a:p>
        </p:txBody>
      </p:sp>
      <p:sp>
        <p:nvSpPr>
          <p:cNvPr id="40" name="Text 37">
            <a:extLst>
              <a:ext uri="{FF2B5EF4-FFF2-40B4-BE49-F238E27FC236}">
                <a16:creationId xmlns:a16="http://schemas.microsoft.com/office/drawing/2014/main" id="{34DFCDCA-BFBD-C42B-2BFA-467F4CCA9CEB}"/>
              </a:ext>
            </a:extLst>
          </p:cNvPr>
          <p:cNvSpPr/>
          <p:nvPr/>
        </p:nvSpPr>
        <p:spPr>
          <a:xfrm>
            <a:off x="3405308" y="4139412"/>
            <a:ext cx="1566742" cy="316111"/>
          </a:xfrm>
          <a:prstGeom prst="rect">
            <a:avLst/>
          </a:prstGeom>
          <a:noFill/>
          <a:ln/>
        </p:spPr>
        <p:txBody>
          <a:bodyPr wrap="square" lIns="127508" tIns="102108" rIns="127508" bIns="102108" rtlCol="0" anchor="ctr">
            <a:spAutoFit/>
          </a:bodyPr>
          <a:lstStyle/>
          <a:p>
            <a:pPr marL="0" indent="0" algn="l">
              <a:lnSpc>
                <a:spcPts val="1100"/>
              </a:lnSpc>
              <a:buNone/>
            </a:pPr>
            <a:r>
              <a:rPr lang="en-US" sz="784" b="1">
                <a:solidFill>
                  <a:srgbClr val="E0E1DD"/>
                </a:solidFill>
                <a:latin typeface="Inter" pitchFamily="34" charset="0"/>
                <a:ea typeface="Inter" pitchFamily="34" charset="-122"/>
                <a:cs typeface="Inter" pitchFamily="34" charset="-120"/>
              </a:rPr>
              <a:t>—</a:t>
            </a:r>
            <a:endParaRPr lang="en-US" sz="784"/>
          </a:p>
        </p:txBody>
      </p:sp>
      <p:sp>
        <p:nvSpPr>
          <p:cNvPr id="41" name="Shape 38">
            <a:extLst>
              <a:ext uri="{FF2B5EF4-FFF2-40B4-BE49-F238E27FC236}">
                <a16:creationId xmlns:a16="http://schemas.microsoft.com/office/drawing/2014/main" id="{AE50CE1D-F4B5-E928-1433-8D40304B39F8}"/>
              </a:ext>
            </a:extLst>
          </p:cNvPr>
          <p:cNvSpPr/>
          <p:nvPr/>
        </p:nvSpPr>
        <p:spPr>
          <a:xfrm>
            <a:off x="5329238" y="1781975"/>
            <a:ext cx="3243263" cy="2714625"/>
          </a:xfrm>
          <a:prstGeom prst="rect">
            <a:avLst/>
          </a:prstGeom>
          <a:solidFill>
            <a:srgbClr val="FFFFFF"/>
          </a:solidFill>
          <a:ln w="18288">
            <a:solidFill>
              <a:srgbClr val="4BC0C8"/>
            </a:solidFill>
            <a:prstDash val="solid"/>
          </a:ln>
        </p:spPr>
        <p:txBody>
          <a:bodyPr/>
          <a:lstStyle/>
          <a:p>
            <a:endParaRPr lang="en-US"/>
          </a:p>
        </p:txBody>
      </p:sp>
      <p:pic>
        <p:nvPicPr>
          <p:cNvPr id="42" name="Image 1" descr="preencoded.png">
            <a:extLst>
              <a:ext uri="{FF2B5EF4-FFF2-40B4-BE49-F238E27FC236}">
                <a16:creationId xmlns:a16="http://schemas.microsoft.com/office/drawing/2014/main" id="{7DC90D95-C940-D417-93CF-9ACC69FA9DE5}"/>
              </a:ext>
            </a:extLst>
          </p:cNvPr>
          <p:cNvPicPr>
            <a:picLocks noChangeAspect="1"/>
          </p:cNvPicPr>
          <p:nvPr/>
        </p:nvPicPr>
        <p:blipFill>
          <a:blip r:embed="rId4"/>
          <a:stretch>
            <a:fillRect/>
          </a:stretch>
        </p:blipFill>
        <p:spPr>
          <a:xfrm>
            <a:off x="5400675" y="1853412"/>
            <a:ext cx="3100388" cy="2571750"/>
          </a:xfrm>
          <a:prstGeom prst="rect">
            <a:avLst/>
          </a:prstGeom>
        </p:spPr>
      </p:pic>
      <p:sp>
        <p:nvSpPr>
          <p:cNvPr id="43" name="Text 39">
            <a:extLst>
              <a:ext uri="{FF2B5EF4-FFF2-40B4-BE49-F238E27FC236}">
                <a16:creationId xmlns:a16="http://schemas.microsoft.com/office/drawing/2014/main" id="{F4BBB982-7E60-CA07-51BA-82B9C0F2C9A3}"/>
              </a:ext>
            </a:extLst>
          </p:cNvPr>
          <p:cNvSpPr/>
          <p:nvPr/>
        </p:nvSpPr>
        <p:spPr>
          <a:xfrm>
            <a:off x="5329238" y="4603756"/>
            <a:ext cx="3243263" cy="275034"/>
          </a:xfrm>
          <a:prstGeom prst="rect">
            <a:avLst/>
          </a:prstGeom>
          <a:noFill/>
          <a:ln/>
        </p:spPr>
        <p:txBody>
          <a:bodyPr wrap="square" lIns="85090" tIns="0" rIns="0" bIns="0" rtlCol="0" anchor="t">
            <a:spAutoFit/>
          </a:bodyPr>
          <a:lstStyle/>
          <a:p>
            <a:pPr marL="0" indent="0" algn="ctr">
              <a:lnSpc>
                <a:spcPts val="1100"/>
              </a:lnSpc>
              <a:buNone/>
            </a:pPr>
            <a:r>
              <a:rPr lang="en-US" sz="784" b="1">
                <a:solidFill>
                  <a:srgbClr val="E0E1DD"/>
                </a:solidFill>
                <a:latin typeface="Inter" pitchFamily="34" charset="0"/>
                <a:ea typeface="Inter" pitchFamily="34" charset="-122"/>
                <a:cs typeface="Inter" pitchFamily="34" charset="-120"/>
              </a:rPr>
              <a:t>Front-loaded schedule: earlier years see the highest volume, tapering through 2037.</a:t>
            </a:r>
            <a:endParaRPr lang="en-US" sz="784"/>
          </a:p>
        </p:txBody>
      </p:sp>
    </p:spTree>
    <p:extLst>
      <p:ext uri="{BB962C8B-B14F-4D97-AF65-F5344CB8AC3E}">
        <p14:creationId xmlns:p14="http://schemas.microsoft.com/office/powerpoint/2010/main" val="36392609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428625"/>
            <a:ext cx="8001000" cy="173236"/>
          </a:xfrm>
          <a:prstGeom prst="rect">
            <a:avLst/>
          </a:prstGeom>
          <a:noFill/>
          <a:ln/>
        </p:spPr>
        <p:txBody>
          <a:bodyPr wrap="none" lIns="0" tIns="0" rIns="0" bIns="0" rtlCol="0" anchor="t">
            <a:spAutoFit/>
          </a:bodyPr>
          <a:lstStyle/>
          <a:p>
            <a:pPr marL="0" indent="0" algn="l">
              <a:lnSpc>
                <a:spcPts val="1400"/>
              </a:lnSpc>
              <a:buNone/>
            </a:pPr>
            <a:r>
              <a:rPr lang="en-US" sz="987" b="1" kern="0" spc="2">
                <a:solidFill>
                  <a:srgbClr val="F0A500"/>
                </a:solidFill>
                <a:latin typeface="Inter" pitchFamily="34" charset="0"/>
                <a:ea typeface="Inter" pitchFamily="34" charset="-122"/>
                <a:cs typeface="Inter" pitchFamily="34" charset="-120"/>
              </a:rPr>
              <a:t>THE MODEL</a:t>
            </a:r>
            <a:endParaRPr lang="en-US" sz="987"/>
          </a:p>
        </p:txBody>
      </p:sp>
      <p:sp>
        <p:nvSpPr>
          <p:cNvPr id="4" name="Text 1"/>
          <p:cNvSpPr/>
          <p:nvPr/>
        </p:nvSpPr>
        <p:spPr>
          <a:xfrm>
            <a:off x="571500" y="673298"/>
            <a:ext cx="8001000" cy="822927"/>
          </a:xfrm>
          <a:prstGeom prst="rect">
            <a:avLst/>
          </a:prstGeom>
          <a:noFill/>
          <a:ln/>
        </p:spPr>
        <p:txBody>
          <a:bodyPr wrap="square" lIns="0" tIns="0" rIns="0" bIns="0" rtlCol="0" anchor="t">
            <a:spAutoFit/>
          </a:bodyPr>
          <a:lstStyle/>
          <a:p>
            <a:pPr marL="0" indent="0" algn="l">
              <a:lnSpc>
                <a:spcPts val="3200"/>
              </a:lnSpc>
              <a:buNone/>
            </a:pPr>
            <a:r>
              <a:rPr lang="en-US" sz="2436" b="1">
                <a:solidFill>
                  <a:srgbClr val="FFFFFF"/>
                </a:solidFill>
                <a:latin typeface="Inter" pitchFamily="34" charset="0"/>
                <a:ea typeface="Inter" pitchFamily="34" charset="-122"/>
                <a:cs typeface="Inter" pitchFamily="34" charset="-120"/>
              </a:rPr>
              <a:t>A Monte Carlo Engine Simulates 1,000 Possible Futures</a:t>
            </a:r>
            <a:endParaRPr lang="en-US" sz="2436"/>
          </a:p>
        </p:txBody>
      </p:sp>
      <p:sp>
        <p:nvSpPr>
          <p:cNvPr id="5" name="Shape 2"/>
          <p:cNvSpPr/>
          <p:nvPr/>
        </p:nvSpPr>
        <p:spPr>
          <a:xfrm>
            <a:off x="571500" y="1781975"/>
            <a:ext cx="1785938" cy="714375"/>
          </a:xfrm>
          <a:prstGeom prst="rect">
            <a:avLst/>
          </a:prstGeom>
          <a:solidFill>
            <a:srgbClr val="4BC0C8">
              <a:alpha val="5000"/>
            </a:srgbClr>
          </a:solidFill>
          <a:ln w="18288">
            <a:solidFill>
              <a:srgbClr val="4BC0C8"/>
            </a:solidFill>
            <a:prstDash val="solid"/>
          </a:ln>
        </p:spPr>
        <p:txBody>
          <a:bodyPr/>
          <a:lstStyle/>
          <a:p>
            <a:endParaRPr lang="en-US"/>
          </a:p>
        </p:txBody>
      </p:sp>
      <p:pic>
        <p:nvPicPr>
          <p:cNvPr id="6" name="Image 1" descr="preencoded.png"/>
          <p:cNvPicPr>
            <a:picLocks noChangeAspect="1"/>
          </p:cNvPicPr>
          <p:nvPr/>
        </p:nvPicPr>
        <p:blipFill>
          <a:blip r:embed="rId4"/>
          <a:stretch>
            <a:fillRect/>
          </a:stretch>
        </p:blipFill>
        <p:spPr>
          <a:xfrm>
            <a:off x="1335881" y="1829302"/>
            <a:ext cx="257175" cy="228600"/>
          </a:xfrm>
          <a:prstGeom prst="rect">
            <a:avLst/>
          </a:prstGeom>
        </p:spPr>
      </p:pic>
      <p:sp>
        <p:nvSpPr>
          <p:cNvPr id="7" name="Text 3"/>
          <p:cNvSpPr/>
          <p:nvPr/>
        </p:nvSpPr>
        <p:spPr>
          <a:xfrm>
            <a:off x="816173" y="2143627"/>
            <a:ext cx="1296591" cy="155377"/>
          </a:xfrm>
          <a:prstGeom prst="rect">
            <a:avLst/>
          </a:prstGeom>
          <a:noFill/>
          <a:ln/>
        </p:spPr>
        <p:txBody>
          <a:bodyPr wrap="none" lIns="0" tIns="0" rIns="0" bIns="0" rtlCol="0" anchor="t">
            <a:spAutoFit/>
          </a:bodyPr>
          <a:lstStyle/>
          <a:p>
            <a:pPr marL="0" indent="0" algn="ctr">
              <a:lnSpc>
                <a:spcPts val="1200"/>
              </a:lnSpc>
              <a:buNone/>
            </a:pPr>
            <a:r>
              <a:rPr lang="en-US" sz="885" b="1">
                <a:solidFill>
                  <a:srgbClr val="FFFFFF"/>
                </a:solidFill>
                <a:latin typeface="Inter" pitchFamily="34" charset="0"/>
                <a:ea typeface="Inter" pitchFamily="34" charset="-122"/>
                <a:cs typeface="Inter" pitchFamily="34" charset="-120"/>
              </a:rPr>
              <a:t>HOMES SCHEDULED</a:t>
            </a:r>
            <a:endParaRPr lang="en-US" sz="885"/>
          </a:p>
        </p:txBody>
      </p:sp>
      <p:sp>
        <p:nvSpPr>
          <p:cNvPr id="8" name="Text 4"/>
          <p:cNvSpPr/>
          <p:nvPr/>
        </p:nvSpPr>
        <p:spPr>
          <a:xfrm>
            <a:off x="1152823" y="2327579"/>
            <a:ext cx="623292" cy="121444"/>
          </a:xfrm>
          <a:prstGeom prst="rect">
            <a:avLst/>
          </a:prstGeom>
          <a:noFill/>
          <a:ln/>
        </p:spPr>
        <p:txBody>
          <a:bodyPr wrap="none" lIns="0" tIns="0" rIns="0" bIns="0" rtlCol="0" anchor="t">
            <a:spAutoFit/>
          </a:bodyPr>
          <a:lstStyle/>
          <a:p>
            <a:pPr marL="0" indent="0" algn="ctr">
              <a:lnSpc>
                <a:spcPts val="900"/>
              </a:lnSpc>
              <a:buNone/>
            </a:pPr>
            <a:r>
              <a:rPr lang="en-US" sz="683" b="1">
                <a:solidFill>
                  <a:srgbClr val="E0E1DD"/>
                </a:solidFill>
                <a:latin typeface="Inter" pitchFamily="34" charset="0"/>
                <a:ea typeface="Inter" pitchFamily="34" charset="-122"/>
                <a:cs typeface="Inter" pitchFamily="34" charset="-120"/>
              </a:rPr>
              <a:t>Front-loaded</a:t>
            </a:r>
            <a:endParaRPr lang="en-US" sz="683"/>
          </a:p>
        </p:txBody>
      </p:sp>
      <p:pic>
        <p:nvPicPr>
          <p:cNvPr id="9" name="Image 2" descr="preencoded.png"/>
          <p:cNvPicPr>
            <a:picLocks noChangeAspect="1"/>
          </p:cNvPicPr>
          <p:nvPr/>
        </p:nvPicPr>
        <p:blipFill>
          <a:blip r:embed="rId5"/>
          <a:stretch>
            <a:fillRect/>
          </a:stretch>
        </p:blipFill>
        <p:spPr>
          <a:xfrm>
            <a:off x="2425303" y="2051652"/>
            <a:ext cx="150019" cy="171450"/>
          </a:xfrm>
          <a:prstGeom prst="rect">
            <a:avLst/>
          </a:prstGeom>
        </p:spPr>
      </p:pic>
      <p:sp>
        <p:nvSpPr>
          <p:cNvPr id="10" name="Shape 5"/>
          <p:cNvSpPr/>
          <p:nvPr/>
        </p:nvSpPr>
        <p:spPr>
          <a:xfrm>
            <a:off x="2643188" y="1781975"/>
            <a:ext cx="1785938" cy="714375"/>
          </a:xfrm>
          <a:prstGeom prst="rect">
            <a:avLst/>
          </a:prstGeom>
          <a:solidFill>
            <a:srgbClr val="4BC0C8">
              <a:alpha val="5000"/>
            </a:srgbClr>
          </a:solidFill>
          <a:ln w="18288">
            <a:solidFill>
              <a:srgbClr val="4BC0C8"/>
            </a:solidFill>
            <a:prstDash val="solid"/>
          </a:ln>
        </p:spPr>
        <p:txBody>
          <a:bodyPr/>
          <a:lstStyle/>
          <a:p>
            <a:endParaRPr lang="en-US"/>
          </a:p>
        </p:txBody>
      </p:sp>
      <p:pic>
        <p:nvPicPr>
          <p:cNvPr id="11" name="Image 3" descr="preencoded.png"/>
          <p:cNvPicPr>
            <a:picLocks noChangeAspect="1"/>
          </p:cNvPicPr>
          <p:nvPr/>
        </p:nvPicPr>
        <p:blipFill>
          <a:blip r:embed="rId6"/>
          <a:stretch>
            <a:fillRect/>
          </a:stretch>
        </p:blipFill>
        <p:spPr>
          <a:xfrm>
            <a:off x="3421856" y="1829302"/>
            <a:ext cx="228600" cy="228600"/>
          </a:xfrm>
          <a:prstGeom prst="rect">
            <a:avLst/>
          </a:prstGeom>
        </p:spPr>
      </p:pic>
      <p:sp>
        <p:nvSpPr>
          <p:cNvPr id="12" name="Text 6"/>
          <p:cNvSpPr/>
          <p:nvPr/>
        </p:nvSpPr>
        <p:spPr>
          <a:xfrm>
            <a:off x="3035201" y="2143627"/>
            <a:ext cx="1001911" cy="155377"/>
          </a:xfrm>
          <a:prstGeom prst="rect">
            <a:avLst/>
          </a:prstGeom>
          <a:noFill/>
          <a:ln/>
        </p:spPr>
        <p:txBody>
          <a:bodyPr wrap="none" lIns="0" tIns="0" rIns="0" bIns="0" rtlCol="0" anchor="t">
            <a:spAutoFit/>
          </a:bodyPr>
          <a:lstStyle/>
          <a:p>
            <a:pPr marL="0" indent="0" algn="ctr">
              <a:lnSpc>
                <a:spcPts val="1200"/>
              </a:lnSpc>
              <a:buNone/>
            </a:pPr>
            <a:r>
              <a:rPr lang="en-US" sz="885" b="1">
                <a:solidFill>
                  <a:srgbClr val="FFFFFF"/>
                </a:solidFill>
                <a:latin typeface="Inter" pitchFamily="34" charset="0"/>
                <a:ea typeface="Inter" pitchFamily="34" charset="-122"/>
                <a:cs typeface="Inter" pitchFamily="34" charset="-120"/>
              </a:rPr>
              <a:t>PARTICIPATION</a:t>
            </a:r>
            <a:endParaRPr lang="en-US" sz="885"/>
          </a:p>
        </p:txBody>
      </p:sp>
      <p:sp>
        <p:nvSpPr>
          <p:cNvPr id="13" name="Text 7"/>
          <p:cNvSpPr/>
          <p:nvPr/>
        </p:nvSpPr>
        <p:spPr>
          <a:xfrm>
            <a:off x="3151287" y="2327579"/>
            <a:ext cx="769739" cy="121444"/>
          </a:xfrm>
          <a:prstGeom prst="rect">
            <a:avLst/>
          </a:prstGeom>
          <a:noFill/>
          <a:ln/>
        </p:spPr>
        <p:txBody>
          <a:bodyPr wrap="none" lIns="0" tIns="0" rIns="0" bIns="0" rtlCol="0" anchor="t">
            <a:spAutoFit/>
          </a:bodyPr>
          <a:lstStyle/>
          <a:p>
            <a:pPr marL="0" indent="0" algn="ctr">
              <a:lnSpc>
                <a:spcPts val="900"/>
              </a:lnSpc>
              <a:buNone/>
            </a:pPr>
            <a:r>
              <a:rPr lang="en-US" sz="683" b="1">
                <a:solidFill>
                  <a:srgbClr val="E0E1DD"/>
                </a:solidFill>
                <a:latin typeface="Inter" pitchFamily="34" charset="0"/>
                <a:ea typeface="Inter" pitchFamily="34" charset="-122"/>
                <a:cs typeface="Inter" pitchFamily="34" charset="-120"/>
              </a:rPr>
              <a:t>Stochastic Filter</a:t>
            </a:r>
            <a:endParaRPr lang="en-US" sz="683"/>
          </a:p>
        </p:txBody>
      </p:sp>
      <p:pic>
        <p:nvPicPr>
          <p:cNvPr id="14" name="Image 4" descr="preencoded.png"/>
          <p:cNvPicPr>
            <a:picLocks noChangeAspect="1"/>
          </p:cNvPicPr>
          <p:nvPr/>
        </p:nvPicPr>
        <p:blipFill>
          <a:blip r:embed="rId5"/>
          <a:stretch>
            <a:fillRect/>
          </a:stretch>
        </p:blipFill>
        <p:spPr>
          <a:xfrm>
            <a:off x="4496991" y="2051652"/>
            <a:ext cx="150019" cy="171450"/>
          </a:xfrm>
          <a:prstGeom prst="rect">
            <a:avLst/>
          </a:prstGeom>
        </p:spPr>
      </p:pic>
      <p:sp>
        <p:nvSpPr>
          <p:cNvPr id="15" name="Shape 8"/>
          <p:cNvSpPr/>
          <p:nvPr/>
        </p:nvSpPr>
        <p:spPr>
          <a:xfrm>
            <a:off x="4714875" y="1781975"/>
            <a:ext cx="1785938" cy="714375"/>
          </a:xfrm>
          <a:prstGeom prst="rect">
            <a:avLst/>
          </a:prstGeom>
          <a:solidFill>
            <a:srgbClr val="F0A500">
              <a:alpha val="5000"/>
            </a:srgbClr>
          </a:solidFill>
          <a:ln w="18288">
            <a:solidFill>
              <a:srgbClr val="F0A500"/>
            </a:solidFill>
            <a:prstDash val="solid"/>
          </a:ln>
        </p:spPr>
        <p:txBody>
          <a:bodyPr/>
          <a:lstStyle/>
          <a:p>
            <a:endParaRPr lang="en-US"/>
          </a:p>
        </p:txBody>
      </p:sp>
      <p:pic>
        <p:nvPicPr>
          <p:cNvPr id="16" name="Image 5" descr="preencoded.png"/>
          <p:cNvPicPr>
            <a:picLocks noChangeAspect="1"/>
          </p:cNvPicPr>
          <p:nvPr/>
        </p:nvPicPr>
        <p:blipFill>
          <a:blip r:embed="rId7"/>
          <a:stretch>
            <a:fillRect/>
          </a:stretch>
        </p:blipFill>
        <p:spPr>
          <a:xfrm>
            <a:off x="5479256" y="1829302"/>
            <a:ext cx="257175" cy="228600"/>
          </a:xfrm>
          <a:prstGeom prst="rect">
            <a:avLst/>
          </a:prstGeom>
        </p:spPr>
      </p:pic>
      <p:sp>
        <p:nvSpPr>
          <p:cNvPr id="17" name="Text 9"/>
          <p:cNvSpPr/>
          <p:nvPr/>
        </p:nvSpPr>
        <p:spPr>
          <a:xfrm>
            <a:off x="5134570" y="2143627"/>
            <a:ext cx="946547" cy="155377"/>
          </a:xfrm>
          <a:prstGeom prst="rect">
            <a:avLst/>
          </a:prstGeom>
          <a:noFill/>
          <a:ln/>
        </p:spPr>
        <p:txBody>
          <a:bodyPr wrap="none" lIns="0" tIns="0" rIns="0" bIns="0" rtlCol="0" anchor="t">
            <a:spAutoFit/>
          </a:bodyPr>
          <a:lstStyle/>
          <a:p>
            <a:pPr marL="0" indent="0" algn="ctr">
              <a:lnSpc>
                <a:spcPts val="1200"/>
              </a:lnSpc>
              <a:buNone/>
            </a:pPr>
            <a:r>
              <a:rPr lang="en-US" sz="885" b="1">
                <a:solidFill>
                  <a:srgbClr val="FFFFFF"/>
                </a:solidFill>
                <a:latin typeface="Inter" pitchFamily="34" charset="0"/>
                <a:ea typeface="Inter" pitchFamily="34" charset="-122"/>
                <a:cs typeface="Inter" pitchFamily="34" charset="-120"/>
              </a:rPr>
              <a:t>LOANS ISSUED</a:t>
            </a:r>
            <a:endParaRPr lang="en-US" sz="885"/>
          </a:p>
        </p:txBody>
      </p:sp>
      <p:sp>
        <p:nvSpPr>
          <p:cNvPr id="18" name="Text 10"/>
          <p:cNvSpPr/>
          <p:nvPr/>
        </p:nvSpPr>
        <p:spPr>
          <a:xfrm>
            <a:off x="5259586" y="2327579"/>
            <a:ext cx="696516" cy="121444"/>
          </a:xfrm>
          <a:prstGeom prst="rect">
            <a:avLst/>
          </a:prstGeom>
          <a:noFill/>
          <a:ln/>
        </p:spPr>
        <p:txBody>
          <a:bodyPr wrap="none" lIns="0" tIns="0" rIns="0" bIns="0" rtlCol="0" anchor="t">
            <a:spAutoFit/>
          </a:bodyPr>
          <a:lstStyle/>
          <a:p>
            <a:pPr marL="0" indent="0" algn="ctr">
              <a:lnSpc>
                <a:spcPts val="900"/>
              </a:lnSpc>
              <a:buNone/>
            </a:pPr>
            <a:r>
              <a:rPr lang="en-US" sz="683" b="1">
                <a:solidFill>
                  <a:srgbClr val="E0E1DD"/>
                </a:solidFill>
                <a:latin typeface="Inter" pitchFamily="34" charset="0"/>
                <a:ea typeface="Inter" pitchFamily="34" charset="-122"/>
                <a:cs typeface="Inter" pitchFamily="34" charset="-120"/>
              </a:rPr>
              <a:t>Cash Outflows</a:t>
            </a:r>
            <a:endParaRPr lang="en-US" sz="683"/>
          </a:p>
        </p:txBody>
      </p:sp>
      <p:pic>
        <p:nvPicPr>
          <p:cNvPr id="19" name="Image 6" descr="preencoded.png"/>
          <p:cNvPicPr>
            <a:picLocks noChangeAspect="1"/>
          </p:cNvPicPr>
          <p:nvPr/>
        </p:nvPicPr>
        <p:blipFill>
          <a:blip r:embed="rId5"/>
          <a:stretch>
            <a:fillRect/>
          </a:stretch>
        </p:blipFill>
        <p:spPr>
          <a:xfrm>
            <a:off x="6568678" y="2051652"/>
            <a:ext cx="150019" cy="171450"/>
          </a:xfrm>
          <a:prstGeom prst="rect">
            <a:avLst/>
          </a:prstGeom>
        </p:spPr>
      </p:pic>
      <p:sp>
        <p:nvSpPr>
          <p:cNvPr id="20" name="Shape 11"/>
          <p:cNvSpPr/>
          <p:nvPr/>
        </p:nvSpPr>
        <p:spPr>
          <a:xfrm>
            <a:off x="6786563" y="1781975"/>
            <a:ext cx="1785938" cy="714375"/>
          </a:xfrm>
          <a:prstGeom prst="rect">
            <a:avLst/>
          </a:prstGeom>
          <a:solidFill>
            <a:srgbClr val="4BC0C8"/>
          </a:solidFill>
          <a:ln w="18288">
            <a:solidFill>
              <a:srgbClr val="4BC0C8"/>
            </a:solidFill>
            <a:prstDash val="solid"/>
          </a:ln>
        </p:spPr>
        <p:txBody>
          <a:bodyPr/>
          <a:lstStyle/>
          <a:p>
            <a:endParaRPr lang="en-US"/>
          </a:p>
        </p:txBody>
      </p:sp>
      <p:pic>
        <p:nvPicPr>
          <p:cNvPr id="21" name="Image 7" descr="preencoded.png"/>
          <p:cNvPicPr>
            <a:picLocks noChangeAspect="1"/>
          </p:cNvPicPr>
          <p:nvPr/>
        </p:nvPicPr>
        <p:blipFill>
          <a:blip r:embed="rId8"/>
          <a:stretch>
            <a:fillRect/>
          </a:stretch>
        </p:blipFill>
        <p:spPr>
          <a:xfrm>
            <a:off x="7565231" y="1829302"/>
            <a:ext cx="228600" cy="228600"/>
          </a:xfrm>
          <a:prstGeom prst="rect">
            <a:avLst/>
          </a:prstGeom>
        </p:spPr>
      </p:pic>
      <p:sp>
        <p:nvSpPr>
          <p:cNvPr id="22" name="Text 12"/>
          <p:cNvSpPr/>
          <p:nvPr/>
        </p:nvSpPr>
        <p:spPr>
          <a:xfrm>
            <a:off x="7347347" y="2143627"/>
            <a:ext cx="664369" cy="155377"/>
          </a:xfrm>
          <a:prstGeom prst="rect">
            <a:avLst/>
          </a:prstGeom>
          <a:noFill/>
          <a:ln/>
        </p:spPr>
        <p:txBody>
          <a:bodyPr wrap="none" lIns="0" tIns="0" rIns="0" bIns="0" rtlCol="0" anchor="t">
            <a:spAutoFit/>
          </a:bodyPr>
          <a:lstStyle/>
          <a:p>
            <a:pPr marL="0" indent="0" algn="ctr">
              <a:lnSpc>
                <a:spcPts val="1200"/>
              </a:lnSpc>
              <a:buNone/>
            </a:pPr>
            <a:r>
              <a:rPr lang="en-US" sz="885" b="1">
                <a:solidFill>
                  <a:srgbClr val="0B132B"/>
                </a:solidFill>
                <a:latin typeface="Inter" pitchFamily="34" charset="0"/>
                <a:ea typeface="Inter" pitchFamily="34" charset="-122"/>
                <a:cs typeface="Inter" pitchFamily="34" charset="-120"/>
              </a:rPr>
              <a:t>PEAK GAP</a:t>
            </a:r>
            <a:endParaRPr lang="en-US" sz="885"/>
          </a:p>
        </p:txBody>
      </p:sp>
      <p:sp>
        <p:nvSpPr>
          <p:cNvPr id="23" name="Text 13"/>
          <p:cNvSpPr/>
          <p:nvPr/>
        </p:nvSpPr>
        <p:spPr>
          <a:xfrm>
            <a:off x="7283946" y="2327579"/>
            <a:ext cx="791170" cy="121444"/>
          </a:xfrm>
          <a:prstGeom prst="rect">
            <a:avLst/>
          </a:prstGeom>
          <a:noFill/>
          <a:ln/>
        </p:spPr>
        <p:txBody>
          <a:bodyPr wrap="none" lIns="0" tIns="0" rIns="0" bIns="0" rtlCol="0" anchor="t">
            <a:spAutoFit/>
          </a:bodyPr>
          <a:lstStyle/>
          <a:p>
            <a:pPr marL="0" indent="0" algn="ctr">
              <a:lnSpc>
                <a:spcPts val="900"/>
              </a:lnSpc>
              <a:buNone/>
            </a:pPr>
            <a:r>
              <a:rPr lang="en-US" sz="683" b="1">
                <a:solidFill>
                  <a:srgbClr val="0B132B"/>
                </a:solidFill>
                <a:latin typeface="Inter" pitchFamily="34" charset="0"/>
                <a:ea typeface="Inter" pitchFamily="34" charset="-122"/>
                <a:cs typeface="Inter" pitchFamily="34" charset="-120"/>
              </a:rPr>
              <a:t>Funding Needed</a:t>
            </a:r>
            <a:endParaRPr lang="en-US" sz="683"/>
          </a:p>
        </p:txBody>
      </p:sp>
      <p:pic>
        <p:nvPicPr>
          <p:cNvPr id="24" name="Image 8" descr="preencoded.png"/>
          <p:cNvPicPr>
            <a:picLocks noChangeAspect="1"/>
          </p:cNvPicPr>
          <p:nvPr/>
        </p:nvPicPr>
        <p:blipFill>
          <a:blip r:embed="rId9"/>
          <a:stretch>
            <a:fillRect/>
          </a:stretch>
        </p:blipFill>
        <p:spPr>
          <a:xfrm>
            <a:off x="5543550" y="2515995"/>
            <a:ext cx="128588" cy="171450"/>
          </a:xfrm>
          <a:prstGeom prst="rect">
            <a:avLst/>
          </a:prstGeom>
        </p:spPr>
      </p:pic>
      <p:sp>
        <p:nvSpPr>
          <p:cNvPr id="25" name="Shape 14"/>
          <p:cNvSpPr/>
          <p:nvPr/>
        </p:nvSpPr>
        <p:spPr>
          <a:xfrm>
            <a:off x="4714875" y="2710662"/>
            <a:ext cx="1785938" cy="714375"/>
          </a:xfrm>
          <a:prstGeom prst="rect">
            <a:avLst/>
          </a:prstGeom>
          <a:solidFill>
            <a:srgbClr val="F0A500">
              <a:alpha val="5000"/>
            </a:srgbClr>
          </a:solidFill>
          <a:ln w="18288">
            <a:solidFill>
              <a:srgbClr val="F0A500"/>
            </a:solidFill>
            <a:prstDash val="solid"/>
          </a:ln>
        </p:spPr>
        <p:txBody>
          <a:bodyPr/>
          <a:lstStyle/>
          <a:p>
            <a:endParaRPr lang="en-US"/>
          </a:p>
        </p:txBody>
      </p:sp>
      <p:pic>
        <p:nvPicPr>
          <p:cNvPr id="26" name="Image 9" descr="preencoded.png"/>
          <p:cNvPicPr>
            <a:picLocks noChangeAspect="1"/>
          </p:cNvPicPr>
          <p:nvPr/>
        </p:nvPicPr>
        <p:blipFill>
          <a:blip r:embed="rId10"/>
          <a:stretch>
            <a:fillRect/>
          </a:stretch>
        </p:blipFill>
        <p:spPr>
          <a:xfrm>
            <a:off x="5479256" y="2757990"/>
            <a:ext cx="257175" cy="228600"/>
          </a:xfrm>
          <a:prstGeom prst="rect">
            <a:avLst/>
          </a:prstGeom>
        </p:spPr>
      </p:pic>
      <p:sp>
        <p:nvSpPr>
          <p:cNvPr id="27" name="Text 15"/>
          <p:cNvSpPr/>
          <p:nvPr/>
        </p:nvSpPr>
        <p:spPr>
          <a:xfrm>
            <a:off x="5158680" y="3072315"/>
            <a:ext cx="898327" cy="155377"/>
          </a:xfrm>
          <a:prstGeom prst="rect">
            <a:avLst/>
          </a:prstGeom>
          <a:noFill/>
          <a:ln/>
        </p:spPr>
        <p:txBody>
          <a:bodyPr wrap="none" lIns="0" tIns="0" rIns="0" bIns="0" rtlCol="0" anchor="t">
            <a:spAutoFit/>
          </a:bodyPr>
          <a:lstStyle/>
          <a:p>
            <a:pPr marL="0" indent="0" algn="ctr">
              <a:lnSpc>
                <a:spcPts val="1200"/>
              </a:lnSpc>
              <a:buNone/>
            </a:pPr>
            <a:r>
              <a:rPr lang="en-US" sz="885" b="1">
                <a:solidFill>
                  <a:srgbClr val="FFFFFF"/>
                </a:solidFill>
                <a:latin typeface="Inter" pitchFamily="34" charset="0"/>
                <a:ea typeface="Inter" pitchFamily="34" charset="-122"/>
                <a:cs typeface="Inter" pitchFamily="34" charset="-120"/>
              </a:rPr>
              <a:t>REPAYMENTS</a:t>
            </a:r>
            <a:endParaRPr lang="en-US" sz="885"/>
          </a:p>
        </p:txBody>
      </p:sp>
      <p:sp>
        <p:nvSpPr>
          <p:cNvPr id="28" name="Text 16"/>
          <p:cNvSpPr/>
          <p:nvPr/>
        </p:nvSpPr>
        <p:spPr>
          <a:xfrm>
            <a:off x="5299770" y="3256266"/>
            <a:ext cx="616148" cy="121444"/>
          </a:xfrm>
          <a:prstGeom prst="rect">
            <a:avLst/>
          </a:prstGeom>
          <a:noFill/>
          <a:ln/>
        </p:spPr>
        <p:txBody>
          <a:bodyPr wrap="none" lIns="0" tIns="0" rIns="0" bIns="0" rtlCol="0" anchor="t">
            <a:spAutoFit/>
          </a:bodyPr>
          <a:lstStyle/>
          <a:p>
            <a:pPr marL="0" indent="0" algn="ctr">
              <a:lnSpc>
                <a:spcPts val="900"/>
              </a:lnSpc>
              <a:buNone/>
            </a:pPr>
            <a:r>
              <a:rPr lang="en-US" sz="683" b="1">
                <a:solidFill>
                  <a:srgbClr val="E0E1DD"/>
                </a:solidFill>
                <a:latin typeface="Inter" pitchFamily="34" charset="0"/>
                <a:ea typeface="Inter" pitchFamily="34" charset="-122"/>
                <a:cs typeface="Inter" pitchFamily="34" charset="-120"/>
              </a:rPr>
              <a:t>Cash Inflows</a:t>
            </a:r>
            <a:endParaRPr lang="en-US" sz="683"/>
          </a:p>
        </p:txBody>
      </p:sp>
      <p:sp>
        <p:nvSpPr>
          <p:cNvPr id="29" name="Text 17"/>
          <p:cNvSpPr/>
          <p:nvPr/>
        </p:nvSpPr>
        <p:spPr>
          <a:xfrm>
            <a:off x="571500" y="3796512"/>
            <a:ext cx="2428875" cy="207169"/>
          </a:xfrm>
          <a:prstGeom prst="rect">
            <a:avLst/>
          </a:prstGeom>
          <a:noFill/>
          <a:ln/>
        </p:spPr>
        <p:txBody>
          <a:bodyPr wrap="none" lIns="0" tIns="0" rIns="0" bIns="0" rtlCol="0" anchor="t">
            <a:spAutoFit/>
          </a:bodyPr>
          <a:lstStyle/>
          <a:p>
            <a:pPr marL="0" indent="0" algn="l">
              <a:lnSpc>
                <a:spcPts val="1600"/>
              </a:lnSpc>
              <a:buNone/>
            </a:pPr>
            <a:r>
              <a:rPr lang="en-US" sz="1193" b="1">
                <a:solidFill>
                  <a:srgbClr val="FFFFFF"/>
                </a:solidFill>
                <a:latin typeface="Inter" pitchFamily="34" charset="0"/>
                <a:ea typeface="Inter" pitchFamily="34" charset="-122"/>
                <a:cs typeface="Inter" pitchFamily="34" charset="-120"/>
              </a:rPr>
              <a:t>1,000 Independent Futures</a:t>
            </a:r>
            <a:endParaRPr lang="en-US" sz="1193"/>
          </a:p>
        </p:txBody>
      </p:sp>
      <p:sp>
        <p:nvSpPr>
          <p:cNvPr id="30" name="Text 18"/>
          <p:cNvSpPr/>
          <p:nvPr/>
        </p:nvSpPr>
        <p:spPr>
          <a:xfrm>
            <a:off x="571500" y="4110837"/>
            <a:ext cx="2428875" cy="964406"/>
          </a:xfrm>
          <a:prstGeom prst="rect">
            <a:avLst/>
          </a:prstGeom>
          <a:noFill/>
          <a:ln/>
        </p:spPr>
        <p:txBody>
          <a:bodyPr wrap="square" lIns="0" tIns="0" rIns="0" bIns="0" rtlCol="0" anchor="t">
            <a:spAutoFit/>
          </a:bodyPr>
          <a:lstStyle/>
          <a:p>
            <a:pPr marL="0" indent="0" algn="l">
              <a:lnSpc>
                <a:spcPts val="1500"/>
              </a:lnSpc>
              <a:buNone/>
            </a:pPr>
            <a:r>
              <a:rPr lang="en-US" sz="885" b="1">
                <a:solidFill>
                  <a:srgbClr val="E0E1DD"/>
                </a:solidFill>
                <a:latin typeface="Inter" pitchFamily="34" charset="0"/>
                <a:ea typeface="Inter" pitchFamily="34" charset="-122"/>
                <a:cs typeface="Inter" pitchFamily="34" charset="-120"/>
              </a:rPr>
              <a:t>We run 1,000 simulations, each drawing random values for </a:t>
            </a:r>
            <a:r>
              <a:rPr lang="en-US" sz="885" b="1">
                <a:solidFill>
                  <a:srgbClr val="4BC0C8"/>
                </a:solidFill>
                <a:latin typeface="Inter" pitchFamily="34" charset="0"/>
                <a:ea typeface="Inter" pitchFamily="34" charset="-122"/>
                <a:cs typeface="Inter" pitchFamily="34" charset="-120"/>
              </a:rPr>
              <a:t>participation, inflation, weather shocks, and repayment timing</a:t>
            </a:r>
            <a:r>
              <a:rPr lang="en-US" sz="885" b="1">
                <a:solidFill>
                  <a:srgbClr val="E0E1DD"/>
                </a:solidFill>
                <a:latin typeface="Inter" pitchFamily="34" charset="0"/>
                <a:ea typeface="Inter" pitchFamily="34" charset="-122"/>
                <a:cs typeface="Inter" pitchFamily="34" charset="-120"/>
              </a:rPr>
              <a:t> from their respective distributions.</a:t>
            </a:r>
            <a:endParaRPr lang="en-US" sz="885"/>
          </a:p>
        </p:txBody>
      </p:sp>
      <p:sp>
        <p:nvSpPr>
          <p:cNvPr id="31" name="Text 19"/>
          <p:cNvSpPr/>
          <p:nvPr/>
        </p:nvSpPr>
        <p:spPr>
          <a:xfrm>
            <a:off x="3357563" y="3796512"/>
            <a:ext cx="2428875" cy="207169"/>
          </a:xfrm>
          <a:prstGeom prst="rect">
            <a:avLst/>
          </a:prstGeom>
          <a:noFill/>
          <a:ln/>
        </p:spPr>
        <p:txBody>
          <a:bodyPr wrap="none" lIns="0" tIns="0" rIns="0" bIns="0" rtlCol="0" anchor="t">
            <a:spAutoFit/>
          </a:bodyPr>
          <a:lstStyle/>
          <a:p>
            <a:pPr marL="0" indent="0" algn="l">
              <a:lnSpc>
                <a:spcPts val="1600"/>
              </a:lnSpc>
              <a:buNone/>
            </a:pPr>
            <a:r>
              <a:rPr lang="en-US" sz="1193" b="1">
                <a:solidFill>
                  <a:srgbClr val="FFFFFF"/>
                </a:solidFill>
                <a:latin typeface="Inter" pitchFamily="34" charset="0"/>
                <a:ea typeface="Inter" pitchFamily="34" charset="-122"/>
                <a:cs typeface="Inter" pitchFamily="34" charset="-120"/>
              </a:rPr>
              <a:t>Tracking Cash Flows</a:t>
            </a:r>
            <a:endParaRPr lang="en-US" sz="1193"/>
          </a:p>
        </p:txBody>
      </p:sp>
      <p:sp>
        <p:nvSpPr>
          <p:cNvPr id="32" name="Text 20"/>
          <p:cNvSpPr/>
          <p:nvPr/>
        </p:nvSpPr>
        <p:spPr>
          <a:xfrm>
            <a:off x="3357563" y="4110837"/>
            <a:ext cx="2428875" cy="771525"/>
          </a:xfrm>
          <a:prstGeom prst="rect">
            <a:avLst/>
          </a:prstGeom>
          <a:noFill/>
          <a:ln/>
        </p:spPr>
        <p:txBody>
          <a:bodyPr wrap="square" lIns="0" tIns="0" rIns="0" bIns="0" rtlCol="0" anchor="t">
            <a:spAutoFit/>
          </a:bodyPr>
          <a:lstStyle/>
          <a:p>
            <a:pPr marL="0" indent="0" algn="l">
              <a:lnSpc>
                <a:spcPts val="1500"/>
              </a:lnSpc>
              <a:buNone/>
            </a:pPr>
            <a:r>
              <a:rPr lang="en-US" sz="885" b="1">
                <a:solidFill>
                  <a:srgbClr val="E0E1DD"/>
                </a:solidFill>
                <a:latin typeface="Inter" pitchFamily="34" charset="0"/>
                <a:ea typeface="Inter" pitchFamily="34" charset="-122"/>
                <a:cs typeface="Inter" pitchFamily="34" charset="-120"/>
              </a:rPr>
              <a:t>In each simulation, cash flows </a:t>
            </a:r>
            <a:r>
              <a:rPr lang="en-US" sz="885" b="1">
                <a:solidFill>
                  <a:srgbClr val="F0A500"/>
                </a:solidFill>
                <a:latin typeface="Inter" pitchFamily="34" charset="0"/>
                <a:ea typeface="Inter" pitchFamily="34" charset="-122"/>
                <a:cs typeface="Inter" pitchFamily="34" charset="-120"/>
              </a:rPr>
              <a:t>out</a:t>
            </a:r>
            <a:r>
              <a:rPr lang="en-US" sz="885" b="1">
                <a:solidFill>
                  <a:srgbClr val="E0E1DD"/>
                </a:solidFill>
                <a:latin typeface="Inter" pitchFamily="34" charset="0"/>
                <a:ea typeface="Inter" pitchFamily="34" charset="-122"/>
                <a:cs typeface="Inter" pitchFamily="34" charset="-120"/>
              </a:rPr>
              <a:t> as loans are issued following the schedule, and cash flows </a:t>
            </a:r>
            <a:r>
              <a:rPr lang="en-US" sz="885" b="1">
                <a:solidFill>
                  <a:srgbClr val="F0A500"/>
                </a:solidFill>
                <a:latin typeface="Inter" pitchFamily="34" charset="0"/>
                <a:ea typeface="Inter" pitchFamily="34" charset="-122"/>
                <a:cs typeface="Inter" pitchFamily="34" charset="-120"/>
              </a:rPr>
              <a:t>in</a:t>
            </a:r>
            <a:r>
              <a:rPr lang="en-US" sz="885" b="1">
                <a:solidFill>
                  <a:srgbClr val="E0E1DD"/>
                </a:solidFill>
                <a:latin typeface="Inter" pitchFamily="34" charset="0"/>
                <a:ea typeface="Inter" pitchFamily="34" charset="-122"/>
                <a:cs typeface="Inter" pitchFamily="34" charset="-120"/>
              </a:rPr>
              <a:t> as loans are repaid upon sale or refinancing.</a:t>
            </a:r>
            <a:endParaRPr lang="en-US" sz="885"/>
          </a:p>
        </p:txBody>
      </p:sp>
      <p:sp>
        <p:nvSpPr>
          <p:cNvPr id="33" name="Text 21"/>
          <p:cNvSpPr/>
          <p:nvPr/>
        </p:nvSpPr>
        <p:spPr>
          <a:xfrm>
            <a:off x="6143625" y="3796512"/>
            <a:ext cx="2428875" cy="207169"/>
          </a:xfrm>
          <a:prstGeom prst="rect">
            <a:avLst/>
          </a:prstGeom>
          <a:noFill/>
          <a:ln/>
        </p:spPr>
        <p:txBody>
          <a:bodyPr wrap="none" lIns="0" tIns="0" rIns="0" bIns="0" rtlCol="0" anchor="t">
            <a:spAutoFit/>
          </a:bodyPr>
          <a:lstStyle/>
          <a:p>
            <a:pPr marL="0" indent="0" algn="l">
              <a:lnSpc>
                <a:spcPts val="1600"/>
              </a:lnSpc>
              <a:buNone/>
            </a:pPr>
            <a:r>
              <a:rPr lang="en-US" sz="1193" b="1">
                <a:solidFill>
                  <a:srgbClr val="FFFFFF"/>
                </a:solidFill>
                <a:latin typeface="Inter" pitchFamily="34" charset="0"/>
                <a:ea typeface="Inter" pitchFamily="34" charset="-122"/>
                <a:cs typeface="Inter" pitchFamily="34" charset="-120"/>
              </a:rPr>
              <a:t>Finding the Peak Gap</a:t>
            </a:r>
            <a:endParaRPr lang="en-US" sz="1193"/>
          </a:p>
        </p:txBody>
      </p:sp>
      <p:sp>
        <p:nvSpPr>
          <p:cNvPr id="34" name="Text 22"/>
          <p:cNvSpPr/>
          <p:nvPr/>
        </p:nvSpPr>
        <p:spPr>
          <a:xfrm>
            <a:off x="6143625" y="4110837"/>
            <a:ext cx="2428875" cy="964406"/>
          </a:xfrm>
          <a:prstGeom prst="rect">
            <a:avLst/>
          </a:prstGeom>
          <a:noFill/>
          <a:ln/>
        </p:spPr>
        <p:txBody>
          <a:bodyPr wrap="square" lIns="0" tIns="0" rIns="0" bIns="0" rtlCol="0" anchor="t">
            <a:spAutoFit/>
          </a:bodyPr>
          <a:lstStyle/>
          <a:p>
            <a:pPr marL="0" indent="0" algn="l">
              <a:lnSpc>
                <a:spcPts val="1500"/>
              </a:lnSpc>
              <a:buNone/>
            </a:pPr>
            <a:r>
              <a:rPr lang="en-US" sz="885" b="1">
                <a:solidFill>
                  <a:srgbClr val="E0E1DD"/>
                </a:solidFill>
                <a:latin typeface="Inter" pitchFamily="34" charset="0"/>
                <a:ea typeface="Inter" pitchFamily="34" charset="-122"/>
                <a:cs typeface="Inter" pitchFamily="34" charset="-120"/>
              </a:rPr>
              <a:t>The </a:t>
            </a:r>
            <a:r>
              <a:rPr lang="en-US" sz="885" b="1">
                <a:solidFill>
                  <a:srgbClr val="4BC0C8"/>
                </a:solidFill>
                <a:latin typeface="Inter" pitchFamily="34" charset="0"/>
                <a:ea typeface="Inter" pitchFamily="34" charset="-122"/>
                <a:cs typeface="Inter" pitchFamily="34" charset="-120"/>
              </a:rPr>
              <a:t>peak cumulative gap</a:t>
            </a:r>
            <a:r>
              <a:rPr lang="en-US" sz="885" b="1">
                <a:solidFill>
                  <a:srgbClr val="E0E1DD"/>
                </a:solidFill>
                <a:latin typeface="Inter" pitchFamily="34" charset="0"/>
                <a:ea typeface="Inter" pitchFamily="34" charset="-122"/>
                <a:cs typeface="Inter" pitchFamily="34" charset="-120"/>
              </a:rPr>
              <a:t>—where outflows most exceed repayments—represents the capital needed. Aggregating these peaks gives our mean and 95th percentile.</a:t>
            </a:r>
            <a:endParaRPr lang="en-US" sz="88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C1B2A"/>
        </a:solidFill>
        <a:effectLst/>
      </p:bgPr>
    </p:bg>
    <p:spTree>
      <p:nvGrpSpPr>
        <p:cNvPr id="1" name=""/>
        <p:cNvGrpSpPr/>
        <p:nvPr/>
      </p:nvGrpSpPr>
      <p:grpSpPr>
        <a:xfrm>
          <a:off x="0" y="0"/>
          <a:ext cx="0" cy="0"/>
          <a:chOff x="0" y="0"/>
          <a:chExt cx="0" cy="0"/>
        </a:xfrm>
      </p:grpSpPr>
      <p:sp>
        <p:nvSpPr>
          <p:cNvPr id="2" name="Shape 0"/>
          <p:cNvSpPr/>
          <p:nvPr/>
        </p:nvSpPr>
        <p:spPr>
          <a:xfrm>
            <a:off x="0" y="4960620"/>
            <a:ext cx="9144000" cy="182880"/>
          </a:xfrm>
          <a:prstGeom prst="rect">
            <a:avLst/>
          </a:prstGeom>
          <a:solidFill>
            <a:srgbClr val="00C8D4"/>
          </a:solidFill>
          <a:ln w="12700">
            <a:solidFill>
              <a:srgbClr val="00C8D4"/>
            </a:solidFill>
            <a:prstDash val="solid"/>
          </a:ln>
        </p:spPr>
        <p:txBody>
          <a:bodyPr/>
          <a:lstStyle/>
          <a:p>
            <a:endParaRPr lang="en-US"/>
          </a:p>
        </p:txBody>
      </p:sp>
      <p:sp>
        <p:nvSpPr>
          <p:cNvPr id="3" name="Text 1"/>
          <p:cNvSpPr/>
          <p:nvPr/>
        </p:nvSpPr>
        <p:spPr>
          <a:xfrm>
            <a:off x="457200" y="164592"/>
            <a:ext cx="8229600" cy="256032"/>
          </a:xfrm>
          <a:prstGeom prst="rect">
            <a:avLst/>
          </a:prstGeom>
          <a:noFill/>
          <a:ln/>
        </p:spPr>
        <p:txBody>
          <a:bodyPr wrap="square" lIns="0" tIns="0" rIns="0" bIns="0" rtlCol="0" anchor="ctr"/>
          <a:lstStyle/>
          <a:p>
            <a:pPr marL="0" indent="0" algn="l">
              <a:buNone/>
            </a:pPr>
            <a:r>
              <a:rPr lang="en-US" sz="1000" b="1">
                <a:solidFill>
                  <a:srgbClr val="F5A623"/>
                </a:solidFill>
                <a:latin typeface="Calibri" pitchFamily="34" charset="0"/>
                <a:ea typeface="Calibri" pitchFamily="34" charset="-122"/>
                <a:cs typeface="Calibri" pitchFamily="34" charset="-120"/>
              </a:rPr>
              <a:t>THE MODEL — DEEP DIVE</a:t>
            </a:r>
            <a:endParaRPr lang="en-US" sz="1000"/>
          </a:p>
        </p:txBody>
      </p:sp>
      <p:sp>
        <p:nvSpPr>
          <p:cNvPr id="4" name="Text 2"/>
          <p:cNvSpPr/>
          <p:nvPr/>
        </p:nvSpPr>
        <p:spPr>
          <a:xfrm>
            <a:off x="457200" y="438912"/>
            <a:ext cx="8229600" cy="685800"/>
          </a:xfrm>
          <a:prstGeom prst="rect">
            <a:avLst/>
          </a:prstGeom>
          <a:noFill/>
          <a:ln/>
        </p:spPr>
        <p:txBody>
          <a:bodyPr wrap="square" lIns="0" tIns="0" rIns="0" bIns="0" rtlCol="0" anchor="ctr"/>
          <a:lstStyle/>
          <a:p>
            <a:pPr marL="0" indent="0" algn="l">
              <a:buNone/>
            </a:pPr>
            <a:r>
              <a:rPr lang="en-US" sz="3200" b="1">
                <a:solidFill>
                  <a:srgbClr val="FFFFFF"/>
                </a:solidFill>
                <a:latin typeface="Calibri" pitchFamily="34" charset="0"/>
                <a:ea typeface="Calibri" pitchFamily="34" charset="-122"/>
                <a:cs typeface="Calibri" pitchFamily="34" charset="-120"/>
              </a:rPr>
              <a:t>How the Monte Carlo Engine Works</a:t>
            </a:r>
            <a:endParaRPr lang="en-US" sz="3200"/>
          </a:p>
        </p:txBody>
      </p:sp>
      <p:sp>
        <p:nvSpPr>
          <p:cNvPr id="5" name="Shape 3"/>
          <p:cNvSpPr/>
          <p:nvPr/>
        </p:nvSpPr>
        <p:spPr>
          <a:xfrm>
            <a:off x="457200" y="1170432"/>
            <a:ext cx="8229600" cy="27432"/>
          </a:xfrm>
          <a:prstGeom prst="rect">
            <a:avLst/>
          </a:prstGeom>
          <a:solidFill>
            <a:srgbClr val="1E3A52"/>
          </a:solidFill>
          <a:ln w="12700">
            <a:solidFill>
              <a:srgbClr val="1E3A52"/>
            </a:solidFill>
            <a:prstDash val="solid"/>
          </a:ln>
        </p:spPr>
        <p:txBody>
          <a:bodyPr/>
          <a:lstStyle/>
          <a:p>
            <a:endParaRPr lang="en-US"/>
          </a:p>
        </p:txBody>
      </p:sp>
      <p:sp>
        <p:nvSpPr>
          <p:cNvPr id="6" name="Shape 4"/>
          <p:cNvSpPr/>
          <p:nvPr/>
        </p:nvSpPr>
        <p:spPr>
          <a:xfrm>
            <a:off x="411480" y="1261872"/>
            <a:ext cx="2651760" cy="3291840"/>
          </a:xfrm>
          <a:prstGeom prst="rect">
            <a:avLst/>
          </a:prstGeom>
          <a:solidFill>
            <a:srgbClr val="162840"/>
          </a:solidFill>
          <a:ln w="12700">
            <a:solidFill>
              <a:srgbClr val="1E3A52"/>
            </a:solidFill>
            <a:prstDash val="solid"/>
          </a:ln>
        </p:spPr>
        <p:txBody>
          <a:bodyPr/>
          <a:lstStyle/>
          <a:p>
            <a:endParaRPr lang="en-US"/>
          </a:p>
        </p:txBody>
      </p:sp>
      <p:sp>
        <p:nvSpPr>
          <p:cNvPr id="7" name="Shape 5"/>
          <p:cNvSpPr/>
          <p:nvPr/>
        </p:nvSpPr>
        <p:spPr>
          <a:xfrm>
            <a:off x="411480" y="1261872"/>
            <a:ext cx="2651760" cy="54864"/>
          </a:xfrm>
          <a:prstGeom prst="rect">
            <a:avLst/>
          </a:prstGeom>
          <a:solidFill>
            <a:srgbClr val="00C8D4"/>
          </a:solidFill>
          <a:ln w="12700">
            <a:solidFill>
              <a:srgbClr val="00C8D4"/>
            </a:solidFill>
            <a:prstDash val="solid"/>
          </a:ln>
        </p:spPr>
        <p:txBody>
          <a:bodyPr/>
          <a:lstStyle/>
          <a:p>
            <a:endParaRPr lang="en-US"/>
          </a:p>
        </p:txBody>
      </p:sp>
      <p:sp>
        <p:nvSpPr>
          <p:cNvPr id="8" name="Shape 6"/>
          <p:cNvSpPr/>
          <p:nvPr/>
        </p:nvSpPr>
        <p:spPr>
          <a:xfrm>
            <a:off x="502920" y="1371600"/>
            <a:ext cx="475488" cy="475488"/>
          </a:xfrm>
          <a:prstGeom prst="ellipse">
            <a:avLst/>
          </a:prstGeom>
          <a:solidFill>
            <a:srgbClr val="00C8D4"/>
          </a:solidFill>
          <a:ln w="12700">
            <a:solidFill>
              <a:srgbClr val="00C8D4"/>
            </a:solidFill>
            <a:prstDash val="solid"/>
          </a:ln>
        </p:spPr>
        <p:txBody>
          <a:bodyPr/>
          <a:lstStyle/>
          <a:p>
            <a:endParaRPr lang="en-US"/>
          </a:p>
        </p:txBody>
      </p:sp>
      <p:sp>
        <p:nvSpPr>
          <p:cNvPr id="9" name="Text 7"/>
          <p:cNvSpPr/>
          <p:nvPr/>
        </p:nvSpPr>
        <p:spPr>
          <a:xfrm>
            <a:off x="502920" y="1371600"/>
            <a:ext cx="475488" cy="475488"/>
          </a:xfrm>
          <a:prstGeom prst="rect">
            <a:avLst/>
          </a:prstGeom>
          <a:noFill/>
          <a:ln/>
        </p:spPr>
        <p:txBody>
          <a:bodyPr wrap="square" lIns="0" tIns="0" rIns="0" bIns="0" rtlCol="0" anchor="ctr"/>
          <a:lstStyle/>
          <a:p>
            <a:pPr marL="0" indent="0" algn="ctr">
              <a:buNone/>
            </a:pPr>
            <a:r>
              <a:rPr lang="en-US" sz="1800" b="1">
                <a:solidFill>
                  <a:srgbClr val="0D1B2A"/>
                </a:solidFill>
                <a:latin typeface="Calibri" pitchFamily="34" charset="0"/>
                <a:ea typeface="Calibri" pitchFamily="34" charset="-122"/>
                <a:cs typeface="Calibri" pitchFamily="34" charset="-120"/>
              </a:rPr>
              <a:t>1</a:t>
            </a:r>
            <a:endParaRPr lang="en-US" sz="1800"/>
          </a:p>
        </p:txBody>
      </p:sp>
      <p:sp>
        <p:nvSpPr>
          <p:cNvPr id="10" name="Text 8"/>
          <p:cNvSpPr/>
          <p:nvPr/>
        </p:nvSpPr>
        <p:spPr>
          <a:xfrm>
            <a:off x="548640" y="1920240"/>
            <a:ext cx="2377440" cy="502920"/>
          </a:xfrm>
          <a:prstGeom prst="rect">
            <a:avLst/>
          </a:prstGeom>
          <a:noFill/>
          <a:ln/>
        </p:spPr>
        <p:txBody>
          <a:bodyPr wrap="square" lIns="0" tIns="0" rIns="0" bIns="0" rtlCol="0" anchor="ctr"/>
          <a:lstStyle/>
          <a:p>
            <a:pPr marL="0" indent="0" algn="l">
              <a:buNone/>
            </a:pPr>
            <a:r>
              <a:rPr lang="en-US" sz="1300" b="1">
                <a:solidFill>
                  <a:srgbClr val="FFFFFF"/>
                </a:solidFill>
                <a:latin typeface="Calibri" pitchFamily="34" charset="0"/>
                <a:ea typeface="Calibri" pitchFamily="34" charset="-122"/>
                <a:cs typeface="Calibri" pitchFamily="34" charset="-120"/>
              </a:rPr>
              <a:t>Draw Random Parameters</a:t>
            </a:r>
            <a:endParaRPr lang="en-US" sz="1300"/>
          </a:p>
        </p:txBody>
      </p:sp>
      <p:sp>
        <p:nvSpPr>
          <p:cNvPr id="11" name="Text 9"/>
          <p:cNvSpPr/>
          <p:nvPr/>
        </p:nvSpPr>
        <p:spPr>
          <a:xfrm>
            <a:off x="548640" y="2468880"/>
            <a:ext cx="2377440" cy="1965960"/>
          </a:xfrm>
          <a:prstGeom prst="rect">
            <a:avLst/>
          </a:prstGeom>
          <a:noFill/>
          <a:ln/>
        </p:spPr>
        <p:txBody>
          <a:bodyPr wrap="square" lIns="0" tIns="0" rIns="0" bIns="0" rtlCol="0" anchor="t"/>
          <a:lstStyle/>
          <a:p>
            <a:pPr marL="0" indent="0" algn="l">
              <a:buNone/>
            </a:pPr>
            <a:r>
              <a:rPr lang="en-US" sz="1050">
                <a:solidFill>
                  <a:srgbClr val="C8D8E8"/>
                </a:solidFill>
                <a:latin typeface="Calibri" pitchFamily="34" charset="0"/>
                <a:ea typeface="Calibri" pitchFamily="34" charset="-122"/>
                <a:cs typeface="Calibri" pitchFamily="34" charset="-120"/>
              </a:rPr>
              <a:t>Each of 1,000 simulations independently samples participation rate (±5%), inflation (3.2% ±1.93%), weather shocks (0.2%/yr), and repayment timing from their fitted distributions.</a:t>
            </a:r>
            <a:endParaRPr lang="en-US" sz="1050"/>
          </a:p>
        </p:txBody>
      </p:sp>
      <p:sp>
        <p:nvSpPr>
          <p:cNvPr id="12" name="Shape 10"/>
          <p:cNvSpPr/>
          <p:nvPr/>
        </p:nvSpPr>
        <p:spPr>
          <a:xfrm>
            <a:off x="3337560" y="1261872"/>
            <a:ext cx="2651760" cy="3291840"/>
          </a:xfrm>
          <a:prstGeom prst="rect">
            <a:avLst/>
          </a:prstGeom>
          <a:solidFill>
            <a:srgbClr val="162840"/>
          </a:solidFill>
          <a:ln w="12700">
            <a:solidFill>
              <a:srgbClr val="1E3A52"/>
            </a:solidFill>
            <a:prstDash val="solid"/>
          </a:ln>
        </p:spPr>
        <p:txBody>
          <a:bodyPr/>
          <a:lstStyle/>
          <a:p>
            <a:endParaRPr lang="en-US"/>
          </a:p>
        </p:txBody>
      </p:sp>
      <p:sp>
        <p:nvSpPr>
          <p:cNvPr id="13" name="Shape 11"/>
          <p:cNvSpPr/>
          <p:nvPr/>
        </p:nvSpPr>
        <p:spPr>
          <a:xfrm>
            <a:off x="3337560" y="1261872"/>
            <a:ext cx="2651760" cy="54864"/>
          </a:xfrm>
          <a:prstGeom prst="rect">
            <a:avLst/>
          </a:prstGeom>
          <a:solidFill>
            <a:srgbClr val="F5A623"/>
          </a:solidFill>
          <a:ln w="12700">
            <a:solidFill>
              <a:srgbClr val="F5A623"/>
            </a:solidFill>
            <a:prstDash val="solid"/>
          </a:ln>
        </p:spPr>
        <p:txBody>
          <a:bodyPr/>
          <a:lstStyle/>
          <a:p>
            <a:endParaRPr lang="en-US"/>
          </a:p>
        </p:txBody>
      </p:sp>
      <p:sp>
        <p:nvSpPr>
          <p:cNvPr id="14" name="Shape 12"/>
          <p:cNvSpPr/>
          <p:nvPr/>
        </p:nvSpPr>
        <p:spPr>
          <a:xfrm>
            <a:off x="3429000" y="1371600"/>
            <a:ext cx="475488" cy="475488"/>
          </a:xfrm>
          <a:prstGeom prst="ellipse">
            <a:avLst/>
          </a:prstGeom>
          <a:solidFill>
            <a:srgbClr val="F5A623"/>
          </a:solidFill>
          <a:ln w="12700">
            <a:solidFill>
              <a:srgbClr val="F5A623"/>
            </a:solidFill>
            <a:prstDash val="solid"/>
          </a:ln>
        </p:spPr>
        <p:txBody>
          <a:bodyPr/>
          <a:lstStyle/>
          <a:p>
            <a:endParaRPr lang="en-US"/>
          </a:p>
        </p:txBody>
      </p:sp>
      <p:sp>
        <p:nvSpPr>
          <p:cNvPr id="15" name="Text 13"/>
          <p:cNvSpPr/>
          <p:nvPr/>
        </p:nvSpPr>
        <p:spPr>
          <a:xfrm>
            <a:off x="3429000" y="1371600"/>
            <a:ext cx="475488" cy="475488"/>
          </a:xfrm>
          <a:prstGeom prst="rect">
            <a:avLst/>
          </a:prstGeom>
          <a:noFill/>
          <a:ln/>
        </p:spPr>
        <p:txBody>
          <a:bodyPr wrap="square" lIns="0" tIns="0" rIns="0" bIns="0" rtlCol="0" anchor="ctr"/>
          <a:lstStyle/>
          <a:p>
            <a:pPr marL="0" indent="0" algn="ctr">
              <a:buNone/>
            </a:pPr>
            <a:r>
              <a:rPr lang="en-US" sz="1800" b="1">
                <a:solidFill>
                  <a:srgbClr val="0D1B2A"/>
                </a:solidFill>
                <a:latin typeface="Calibri" pitchFamily="34" charset="0"/>
                <a:ea typeface="Calibri" pitchFamily="34" charset="-122"/>
                <a:cs typeface="Calibri" pitchFamily="34" charset="-120"/>
              </a:rPr>
              <a:t>2</a:t>
            </a:r>
            <a:endParaRPr lang="en-US" sz="1800"/>
          </a:p>
        </p:txBody>
      </p:sp>
      <p:sp>
        <p:nvSpPr>
          <p:cNvPr id="16" name="Text 14"/>
          <p:cNvSpPr/>
          <p:nvPr/>
        </p:nvSpPr>
        <p:spPr>
          <a:xfrm>
            <a:off x="3474720" y="1920240"/>
            <a:ext cx="2377440" cy="502920"/>
          </a:xfrm>
          <a:prstGeom prst="rect">
            <a:avLst/>
          </a:prstGeom>
          <a:noFill/>
          <a:ln/>
        </p:spPr>
        <p:txBody>
          <a:bodyPr wrap="square" lIns="0" tIns="0" rIns="0" bIns="0" rtlCol="0" anchor="ctr"/>
          <a:lstStyle/>
          <a:p>
            <a:pPr marL="0" indent="0" algn="l">
              <a:buNone/>
            </a:pPr>
            <a:r>
              <a:rPr lang="en-US" sz="1300" b="1">
                <a:solidFill>
                  <a:srgbClr val="FFFFFF"/>
                </a:solidFill>
                <a:latin typeface="Calibri" pitchFamily="34" charset="0"/>
                <a:ea typeface="Calibri" pitchFamily="34" charset="-122"/>
                <a:cs typeface="Calibri" pitchFamily="34" charset="-120"/>
              </a:rPr>
              <a:t>Compute Annual Cash Flows</a:t>
            </a:r>
            <a:endParaRPr lang="en-US" sz="1300"/>
          </a:p>
        </p:txBody>
      </p:sp>
      <p:sp>
        <p:nvSpPr>
          <p:cNvPr id="17" name="Text 15"/>
          <p:cNvSpPr/>
          <p:nvPr/>
        </p:nvSpPr>
        <p:spPr>
          <a:xfrm>
            <a:off x="3474720" y="2468880"/>
            <a:ext cx="2377440" cy="1965960"/>
          </a:xfrm>
          <a:prstGeom prst="rect">
            <a:avLst/>
          </a:prstGeom>
          <a:noFill/>
          <a:ln/>
        </p:spPr>
        <p:txBody>
          <a:bodyPr wrap="square" lIns="0" tIns="0" rIns="0" bIns="0" rtlCol="0" anchor="t"/>
          <a:lstStyle/>
          <a:p>
            <a:pPr marL="0" indent="0" algn="l">
              <a:buNone/>
            </a:pPr>
            <a:r>
              <a:rPr lang="en-US" sz="1050">
                <a:solidFill>
                  <a:srgbClr val="C8D8E8"/>
                </a:solidFill>
                <a:latin typeface="Calibri" pitchFamily="34" charset="0"/>
                <a:ea typeface="Calibri" pitchFamily="34" charset="-122"/>
                <a:cs typeface="Calibri" pitchFamily="34" charset="-120"/>
              </a:rPr>
              <a:t>Loans are issued on the front-loaded schedule. Each loan triggers a repayment search: every future year, the model tests whether a sale (8.78%) or refinance (3.25%) event occurs. Aid recipients (3.82%) never repay.</a:t>
            </a:r>
            <a:endParaRPr lang="en-US" sz="1050"/>
          </a:p>
        </p:txBody>
      </p:sp>
      <p:sp>
        <p:nvSpPr>
          <p:cNvPr id="18" name="Shape 16"/>
          <p:cNvSpPr/>
          <p:nvPr/>
        </p:nvSpPr>
        <p:spPr>
          <a:xfrm>
            <a:off x="6263640" y="1261872"/>
            <a:ext cx="2651760" cy="3291840"/>
          </a:xfrm>
          <a:prstGeom prst="rect">
            <a:avLst/>
          </a:prstGeom>
          <a:solidFill>
            <a:srgbClr val="162840"/>
          </a:solidFill>
          <a:ln w="12700">
            <a:solidFill>
              <a:srgbClr val="1E3A52"/>
            </a:solidFill>
            <a:prstDash val="solid"/>
          </a:ln>
        </p:spPr>
        <p:txBody>
          <a:bodyPr/>
          <a:lstStyle/>
          <a:p>
            <a:endParaRPr lang="en-US"/>
          </a:p>
        </p:txBody>
      </p:sp>
      <p:sp>
        <p:nvSpPr>
          <p:cNvPr id="19" name="Shape 17"/>
          <p:cNvSpPr/>
          <p:nvPr/>
        </p:nvSpPr>
        <p:spPr>
          <a:xfrm>
            <a:off x="6263640" y="1261872"/>
            <a:ext cx="2651760" cy="54864"/>
          </a:xfrm>
          <a:prstGeom prst="rect">
            <a:avLst/>
          </a:prstGeom>
          <a:solidFill>
            <a:srgbClr val="19A8B8"/>
          </a:solidFill>
          <a:ln w="12700">
            <a:solidFill>
              <a:srgbClr val="19A8B8"/>
            </a:solidFill>
            <a:prstDash val="solid"/>
          </a:ln>
        </p:spPr>
        <p:txBody>
          <a:bodyPr/>
          <a:lstStyle/>
          <a:p>
            <a:endParaRPr lang="en-US"/>
          </a:p>
        </p:txBody>
      </p:sp>
      <p:sp>
        <p:nvSpPr>
          <p:cNvPr id="20" name="Shape 18"/>
          <p:cNvSpPr/>
          <p:nvPr/>
        </p:nvSpPr>
        <p:spPr>
          <a:xfrm>
            <a:off x="6355080" y="1371600"/>
            <a:ext cx="475488" cy="475488"/>
          </a:xfrm>
          <a:prstGeom prst="ellipse">
            <a:avLst/>
          </a:prstGeom>
          <a:solidFill>
            <a:srgbClr val="19A8B8"/>
          </a:solidFill>
          <a:ln w="12700">
            <a:solidFill>
              <a:srgbClr val="19A8B8"/>
            </a:solidFill>
            <a:prstDash val="solid"/>
          </a:ln>
        </p:spPr>
        <p:txBody>
          <a:bodyPr/>
          <a:lstStyle/>
          <a:p>
            <a:endParaRPr lang="en-US"/>
          </a:p>
        </p:txBody>
      </p:sp>
      <p:sp>
        <p:nvSpPr>
          <p:cNvPr id="21" name="Text 19"/>
          <p:cNvSpPr/>
          <p:nvPr/>
        </p:nvSpPr>
        <p:spPr>
          <a:xfrm>
            <a:off x="6355080" y="1371600"/>
            <a:ext cx="475488" cy="475488"/>
          </a:xfrm>
          <a:prstGeom prst="rect">
            <a:avLst/>
          </a:prstGeom>
          <a:noFill/>
          <a:ln/>
        </p:spPr>
        <p:txBody>
          <a:bodyPr wrap="square" lIns="0" tIns="0" rIns="0" bIns="0" rtlCol="0" anchor="ctr"/>
          <a:lstStyle/>
          <a:p>
            <a:pPr marL="0" indent="0" algn="ctr">
              <a:buNone/>
            </a:pPr>
            <a:r>
              <a:rPr lang="en-US" sz="1800" b="1">
                <a:solidFill>
                  <a:srgbClr val="0D1B2A"/>
                </a:solidFill>
                <a:latin typeface="Calibri" pitchFamily="34" charset="0"/>
                <a:ea typeface="Calibri" pitchFamily="34" charset="-122"/>
                <a:cs typeface="Calibri" pitchFamily="34" charset="-120"/>
              </a:rPr>
              <a:t>3</a:t>
            </a:r>
            <a:endParaRPr lang="en-US" sz="1800"/>
          </a:p>
        </p:txBody>
      </p:sp>
      <p:sp>
        <p:nvSpPr>
          <p:cNvPr id="22" name="Text 20"/>
          <p:cNvSpPr/>
          <p:nvPr/>
        </p:nvSpPr>
        <p:spPr>
          <a:xfrm>
            <a:off x="6400800" y="1920240"/>
            <a:ext cx="2377440" cy="502920"/>
          </a:xfrm>
          <a:prstGeom prst="rect">
            <a:avLst/>
          </a:prstGeom>
          <a:noFill/>
          <a:ln/>
        </p:spPr>
        <p:txBody>
          <a:bodyPr wrap="square" lIns="0" tIns="0" rIns="0" bIns="0" rtlCol="0" anchor="ctr"/>
          <a:lstStyle/>
          <a:p>
            <a:pPr marL="0" indent="0" algn="l">
              <a:buNone/>
            </a:pPr>
            <a:r>
              <a:rPr lang="en-US" sz="1300" b="1">
                <a:solidFill>
                  <a:srgbClr val="FFFFFF"/>
                </a:solidFill>
                <a:latin typeface="Calibri" pitchFamily="34" charset="0"/>
                <a:ea typeface="Calibri" pitchFamily="34" charset="-122"/>
                <a:cs typeface="Calibri" pitchFamily="34" charset="-120"/>
              </a:rPr>
              <a:t>Find the Peak Funding Gap</a:t>
            </a:r>
            <a:endParaRPr lang="en-US" sz="1300"/>
          </a:p>
        </p:txBody>
      </p:sp>
      <p:sp>
        <p:nvSpPr>
          <p:cNvPr id="23" name="Text 21"/>
          <p:cNvSpPr/>
          <p:nvPr/>
        </p:nvSpPr>
        <p:spPr>
          <a:xfrm>
            <a:off x="6400800" y="2468880"/>
            <a:ext cx="2377440" cy="1965960"/>
          </a:xfrm>
          <a:prstGeom prst="rect">
            <a:avLst/>
          </a:prstGeom>
          <a:noFill/>
          <a:ln/>
        </p:spPr>
        <p:txBody>
          <a:bodyPr wrap="square" lIns="0" tIns="0" rIns="0" bIns="0" rtlCol="0" anchor="t"/>
          <a:lstStyle/>
          <a:p>
            <a:pPr marL="0" indent="0" algn="l">
              <a:buNone/>
            </a:pPr>
            <a:r>
              <a:rPr lang="en-US" sz="1050">
                <a:solidFill>
                  <a:srgbClr val="C8D8E8"/>
                </a:solidFill>
                <a:latin typeface="Calibri" pitchFamily="34" charset="0"/>
                <a:ea typeface="Calibri" pitchFamily="34" charset="-122"/>
                <a:cs typeface="Calibri" pitchFamily="34" charset="-120"/>
              </a:rPr>
              <a:t>Cumulative net cash (outflows minus inflows) is tracked year by year. The maximum of this curve — the deepest the City's account goes — is the funding requirement for that simulation.</a:t>
            </a:r>
            <a:endParaRPr lang="en-US" sz="1050"/>
          </a:p>
        </p:txBody>
      </p:sp>
      <p:sp>
        <p:nvSpPr>
          <p:cNvPr id="24" name="Shape 22"/>
          <p:cNvSpPr/>
          <p:nvPr/>
        </p:nvSpPr>
        <p:spPr>
          <a:xfrm>
            <a:off x="411480" y="4590288"/>
            <a:ext cx="8321040" cy="320040"/>
          </a:xfrm>
          <a:prstGeom prst="rect">
            <a:avLst/>
          </a:prstGeom>
          <a:solidFill>
            <a:srgbClr val="0A2540"/>
          </a:solidFill>
          <a:ln w="12700">
            <a:solidFill>
              <a:srgbClr val="00C8D4"/>
            </a:solidFill>
            <a:prstDash val="solid"/>
          </a:ln>
        </p:spPr>
        <p:txBody>
          <a:bodyPr/>
          <a:lstStyle/>
          <a:p>
            <a:endParaRPr lang="en-US"/>
          </a:p>
        </p:txBody>
      </p:sp>
      <p:sp>
        <p:nvSpPr>
          <p:cNvPr id="25" name="Text 23"/>
          <p:cNvSpPr/>
          <p:nvPr/>
        </p:nvSpPr>
        <p:spPr>
          <a:xfrm>
            <a:off x="502920" y="4599432"/>
            <a:ext cx="8138160" cy="301752"/>
          </a:xfrm>
          <a:prstGeom prst="rect">
            <a:avLst/>
          </a:prstGeom>
          <a:noFill/>
          <a:ln/>
        </p:spPr>
        <p:txBody>
          <a:bodyPr wrap="square" lIns="0" tIns="0" rIns="0" bIns="0" rtlCol="0" anchor="ctr"/>
          <a:lstStyle/>
          <a:p>
            <a:pPr marL="0" indent="0" algn="l">
              <a:buNone/>
            </a:pPr>
            <a:r>
              <a:rPr lang="en-US" sz="1000">
                <a:solidFill>
                  <a:srgbClr val="00C8D4"/>
                </a:solidFill>
                <a:latin typeface="Calibri" pitchFamily="34" charset="0"/>
                <a:ea typeface="Calibri" pitchFamily="34" charset="-122"/>
                <a:cs typeface="Calibri" pitchFamily="34" charset="-120"/>
              </a:rPr>
              <a:t>Aggregating 1,000 peak gaps yields the mean ($33.01M) and the 95th-percentile safety reserve ($37.02M) — the recommended allocation.</a:t>
            </a:r>
            <a:endParaRPr lang="en-US" sz="1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323489"/>
          </a:xfrm>
          <a:prstGeom prst="rect">
            <a:avLst/>
          </a:prstGeom>
        </p:spPr>
      </p:pic>
      <p:sp>
        <p:nvSpPr>
          <p:cNvPr id="3" name="Text 0"/>
          <p:cNvSpPr/>
          <p:nvPr/>
        </p:nvSpPr>
        <p:spPr>
          <a:xfrm>
            <a:off x="571500" y="428625"/>
            <a:ext cx="8001000" cy="173236"/>
          </a:xfrm>
          <a:prstGeom prst="rect">
            <a:avLst/>
          </a:prstGeom>
          <a:noFill/>
          <a:ln/>
        </p:spPr>
        <p:txBody>
          <a:bodyPr wrap="none" lIns="0" tIns="0" rIns="0" bIns="0" rtlCol="0" anchor="t">
            <a:spAutoFit/>
          </a:bodyPr>
          <a:lstStyle/>
          <a:p>
            <a:pPr marL="0" indent="0" algn="l">
              <a:lnSpc>
                <a:spcPts val="1400"/>
              </a:lnSpc>
              <a:buNone/>
            </a:pPr>
            <a:r>
              <a:rPr lang="en-US" sz="987" b="1" kern="0" spc="2">
                <a:solidFill>
                  <a:srgbClr val="F0A500"/>
                </a:solidFill>
                <a:latin typeface="Inter" pitchFamily="34" charset="0"/>
                <a:ea typeface="Inter" pitchFamily="34" charset="-122"/>
                <a:cs typeface="Inter" pitchFamily="34" charset="-120"/>
              </a:rPr>
              <a:t>LOAN MODEL RESULTS</a:t>
            </a:r>
            <a:endParaRPr lang="en-US" sz="987"/>
          </a:p>
        </p:txBody>
      </p:sp>
      <p:sp>
        <p:nvSpPr>
          <p:cNvPr id="4" name="Text 1"/>
          <p:cNvSpPr/>
          <p:nvPr/>
        </p:nvSpPr>
        <p:spPr>
          <a:xfrm>
            <a:off x="571500" y="673298"/>
            <a:ext cx="8001000" cy="411463"/>
          </a:xfrm>
          <a:prstGeom prst="rect">
            <a:avLst/>
          </a:prstGeom>
          <a:noFill/>
          <a:ln/>
        </p:spPr>
        <p:txBody>
          <a:bodyPr wrap="none" lIns="0" tIns="0" rIns="0" bIns="0" rtlCol="0" anchor="t">
            <a:spAutoFit/>
          </a:bodyPr>
          <a:lstStyle/>
          <a:p>
            <a:pPr marL="0" indent="0" algn="l">
              <a:lnSpc>
                <a:spcPts val="3200"/>
              </a:lnSpc>
              <a:buNone/>
            </a:pPr>
            <a:r>
              <a:rPr lang="en-US" sz="2436" b="1">
                <a:solidFill>
                  <a:srgbClr val="FFFFFF"/>
                </a:solidFill>
                <a:latin typeface="Inter" pitchFamily="34" charset="0"/>
                <a:ea typeface="Inter" pitchFamily="34" charset="-122"/>
                <a:cs typeface="Inter" pitchFamily="34" charset="-120"/>
              </a:rPr>
              <a:t>The Loan Model Points to a $44.7M Mean Need</a:t>
            </a:r>
            <a:endParaRPr lang="en-US" sz="2436"/>
          </a:p>
        </p:txBody>
      </p:sp>
      <p:sp>
        <p:nvSpPr>
          <p:cNvPr id="5" name="Shape 2"/>
          <p:cNvSpPr/>
          <p:nvPr/>
        </p:nvSpPr>
        <p:spPr>
          <a:xfrm>
            <a:off x="571500" y="1299074"/>
            <a:ext cx="2524116" cy="1126927"/>
          </a:xfrm>
          <a:prstGeom prst="rect">
            <a:avLst/>
          </a:prstGeom>
          <a:solidFill>
            <a:srgbClr val="4BC0C8"/>
          </a:solidFill>
          <a:ln/>
        </p:spPr>
        <p:txBody>
          <a:bodyPr/>
          <a:lstStyle/>
          <a:p>
            <a:endParaRPr lang="en-US"/>
          </a:p>
        </p:txBody>
      </p:sp>
      <p:sp>
        <p:nvSpPr>
          <p:cNvPr id="6" name="Text 3"/>
          <p:cNvSpPr/>
          <p:nvPr/>
        </p:nvSpPr>
        <p:spPr>
          <a:xfrm>
            <a:off x="714375" y="1606255"/>
            <a:ext cx="998671" cy="307777"/>
          </a:xfrm>
          <a:prstGeom prst="rect">
            <a:avLst/>
          </a:prstGeom>
          <a:noFill/>
          <a:ln/>
        </p:spPr>
        <p:txBody>
          <a:bodyPr wrap="none" lIns="0" tIns="0" rIns="0" bIns="0" rtlCol="0" anchor="t">
            <a:spAutoFit/>
          </a:bodyPr>
          <a:lstStyle/>
          <a:p>
            <a:pPr marL="0" indent="0" algn="l">
              <a:lnSpc>
                <a:spcPts val="2400"/>
              </a:lnSpc>
              <a:buNone/>
            </a:pPr>
            <a:r>
              <a:rPr lang="en-US" sz="2121" b="1">
                <a:solidFill>
                  <a:srgbClr val="0B132B"/>
                </a:solidFill>
                <a:latin typeface="Inter" pitchFamily="34" charset="0"/>
                <a:ea typeface="Inter" pitchFamily="34" charset="-122"/>
                <a:cs typeface="Inter" pitchFamily="34" charset="-120"/>
              </a:rPr>
              <a:t>$33.02M</a:t>
            </a:r>
            <a:endParaRPr lang="en-US" sz="2121"/>
          </a:p>
        </p:txBody>
      </p:sp>
      <p:sp>
        <p:nvSpPr>
          <p:cNvPr id="7" name="Text 4"/>
          <p:cNvSpPr/>
          <p:nvPr/>
        </p:nvSpPr>
        <p:spPr>
          <a:xfrm>
            <a:off x="714375" y="1963443"/>
            <a:ext cx="2238366" cy="155377"/>
          </a:xfrm>
          <a:prstGeom prst="rect">
            <a:avLst/>
          </a:prstGeom>
          <a:noFill/>
          <a:ln/>
        </p:spPr>
        <p:txBody>
          <a:bodyPr wrap="none" lIns="0" tIns="0" rIns="0" bIns="0" rtlCol="0" anchor="t">
            <a:spAutoFit/>
          </a:bodyPr>
          <a:lstStyle/>
          <a:p>
            <a:pPr marL="0" indent="0" algn="l">
              <a:lnSpc>
                <a:spcPts val="1200"/>
              </a:lnSpc>
              <a:buNone/>
            </a:pPr>
            <a:r>
              <a:rPr lang="en-US" sz="885" b="1" kern="0" spc="1">
                <a:solidFill>
                  <a:srgbClr val="0B132B"/>
                </a:solidFill>
                <a:latin typeface="Inter" pitchFamily="34" charset="0"/>
                <a:ea typeface="Inter" pitchFamily="34" charset="-122"/>
                <a:cs typeface="Inter" pitchFamily="34" charset="-120"/>
              </a:rPr>
              <a:t>MEAN PEAK FUNDING</a:t>
            </a:r>
            <a:endParaRPr lang="en-US" sz="885"/>
          </a:p>
        </p:txBody>
      </p:sp>
      <p:sp>
        <p:nvSpPr>
          <p:cNvPr id="8" name="Text 5"/>
          <p:cNvSpPr/>
          <p:nvPr/>
        </p:nvSpPr>
        <p:spPr>
          <a:xfrm>
            <a:off x="3467091" y="1574988"/>
            <a:ext cx="2304317" cy="307777"/>
          </a:xfrm>
          <a:prstGeom prst="rect">
            <a:avLst/>
          </a:prstGeom>
          <a:noFill/>
          <a:ln/>
        </p:spPr>
        <p:txBody>
          <a:bodyPr wrap="square" lIns="0" tIns="0" rIns="0" bIns="0" rtlCol="0" anchor="t">
            <a:spAutoFit/>
          </a:bodyPr>
          <a:lstStyle/>
          <a:p>
            <a:pPr marL="0" indent="0" algn="l">
              <a:lnSpc>
                <a:spcPts val="2400"/>
              </a:lnSpc>
              <a:buNone/>
            </a:pPr>
            <a:r>
              <a:rPr lang="en-US" sz="2121" b="1">
                <a:solidFill>
                  <a:srgbClr val="4BC0C8"/>
                </a:solidFill>
                <a:latin typeface="Inter" pitchFamily="34" charset="0"/>
                <a:ea typeface="Inter" pitchFamily="34" charset="-122"/>
                <a:cs typeface="Inter" pitchFamily="34" charset="-120"/>
              </a:rPr>
              <a:t>$32.88M – $33.16M</a:t>
            </a:r>
            <a:endParaRPr lang="en-US" sz="2121"/>
          </a:p>
        </p:txBody>
      </p:sp>
      <p:sp>
        <p:nvSpPr>
          <p:cNvPr id="9" name="Text 6"/>
          <p:cNvSpPr/>
          <p:nvPr/>
        </p:nvSpPr>
        <p:spPr>
          <a:xfrm>
            <a:off x="3467091" y="2202156"/>
            <a:ext cx="2209791" cy="155377"/>
          </a:xfrm>
          <a:prstGeom prst="rect">
            <a:avLst/>
          </a:prstGeom>
          <a:noFill/>
          <a:ln/>
        </p:spPr>
        <p:txBody>
          <a:bodyPr wrap="none" lIns="0" tIns="0" rIns="0" bIns="0" rtlCol="0" anchor="t">
            <a:spAutoFit/>
          </a:bodyPr>
          <a:lstStyle/>
          <a:p>
            <a:pPr marL="0" indent="0" algn="l">
              <a:lnSpc>
                <a:spcPts val="1200"/>
              </a:lnSpc>
              <a:buNone/>
            </a:pPr>
            <a:r>
              <a:rPr lang="en-US" sz="885" b="1" kern="0" spc="1">
                <a:solidFill>
                  <a:srgbClr val="FFFFFF"/>
                </a:solidFill>
                <a:latin typeface="Inter" pitchFamily="34" charset="0"/>
                <a:ea typeface="Inter" pitchFamily="34" charset="-122"/>
                <a:cs typeface="Inter" pitchFamily="34" charset="-120"/>
              </a:rPr>
              <a:t>95% CONFIDENCE INTERVAL</a:t>
            </a:r>
            <a:endParaRPr lang="en-US" sz="885"/>
          </a:p>
        </p:txBody>
      </p:sp>
      <p:sp>
        <p:nvSpPr>
          <p:cNvPr id="10" name="Shape 7"/>
          <p:cNvSpPr/>
          <p:nvPr/>
        </p:nvSpPr>
        <p:spPr>
          <a:xfrm>
            <a:off x="6048356" y="1299074"/>
            <a:ext cx="2524144" cy="1126927"/>
          </a:xfrm>
          <a:prstGeom prst="rect">
            <a:avLst/>
          </a:prstGeom>
          <a:solidFill>
            <a:srgbClr val="F0A500"/>
          </a:solidFill>
          <a:ln/>
        </p:spPr>
        <p:txBody>
          <a:bodyPr/>
          <a:lstStyle/>
          <a:p>
            <a:endParaRPr lang="en-US"/>
          </a:p>
        </p:txBody>
      </p:sp>
      <p:sp>
        <p:nvSpPr>
          <p:cNvPr id="11" name="Text 8"/>
          <p:cNvSpPr/>
          <p:nvPr/>
        </p:nvSpPr>
        <p:spPr>
          <a:xfrm>
            <a:off x="6191231" y="1606255"/>
            <a:ext cx="998671" cy="307777"/>
          </a:xfrm>
          <a:prstGeom prst="rect">
            <a:avLst/>
          </a:prstGeom>
          <a:noFill/>
          <a:ln/>
        </p:spPr>
        <p:txBody>
          <a:bodyPr wrap="none" lIns="0" tIns="0" rIns="0" bIns="0" rtlCol="0" anchor="t">
            <a:spAutoFit/>
          </a:bodyPr>
          <a:lstStyle/>
          <a:p>
            <a:pPr marL="0" indent="0" algn="l">
              <a:lnSpc>
                <a:spcPts val="2400"/>
              </a:lnSpc>
              <a:buNone/>
            </a:pPr>
            <a:r>
              <a:rPr lang="en-US" sz="2121" b="1">
                <a:solidFill>
                  <a:srgbClr val="0B132B"/>
                </a:solidFill>
                <a:latin typeface="Inter" pitchFamily="34" charset="0"/>
                <a:ea typeface="Inter" pitchFamily="34" charset="-122"/>
                <a:cs typeface="Inter" pitchFamily="34" charset="-120"/>
              </a:rPr>
              <a:t>$37.02M</a:t>
            </a:r>
            <a:endParaRPr lang="en-US" sz="2121"/>
          </a:p>
        </p:txBody>
      </p:sp>
      <p:sp>
        <p:nvSpPr>
          <p:cNvPr id="12" name="Text 9"/>
          <p:cNvSpPr/>
          <p:nvPr/>
        </p:nvSpPr>
        <p:spPr>
          <a:xfrm>
            <a:off x="6191231" y="1963443"/>
            <a:ext cx="2238394" cy="155377"/>
          </a:xfrm>
          <a:prstGeom prst="rect">
            <a:avLst/>
          </a:prstGeom>
          <a:noFill/>
          <a:ln/>
        </p:spPr>
        <p:txBody>
          <a:bodyPr wrap="none" lIns="0" tIns="0" rIns="0" bIns="0" rtlCol="0" anchor="t">
            <a:spAutoFit/>
          </a:bodyPr>
          <a:lstStyle/>
          <a:p>
            <a:pPr marL="0" indent="0" algn="l">
              <a:lnSpc>
                <a:spcPts val="1200"/>
              </a:lnSpc>
              <a:buNone/>
            </a:pPr>
            <a:r>
              <a:rPr lang="en-US" sz="885" b="1" kern="0" spc="1">
                <a:solidFill>
                  <a:srgbClr val="0B132B"/>
                </a:solidFill>
                <a:latin typeface="Inter" pitchFamily="34" charset="0"/>
                <a:ea typeface="Inter" pitchFamily="34" charset="-122"/>
                <a:cs typeface="Inter" pitchFamily="34" charset="-120"/>
              </a:rPr>
              <a:t>95TH PERCENTILE</a:t>
            </a:r>
            <a:endParaRPr lang="en-US" sz="885"/>
          </a:p>
        </p:txBody>
      </p:sp>
      <p:sp>
        <p:nvSpPr>
          <p:cNvPr id="15" name="Text 11"/>
          <p:cNvSpPr/>
          <p:nvPr/>
        </p:nvSpPr>
        <p:spPr>
          <a:xfrm>
            <a:off x="571500" y="4783438"/>
            <a:ext cx="3857625" cy="360034"/>
          </a:xfrm>
          <a:prstGeom prst="rect">
            <a:avLst/>
          </a:prstGeom>
          <a:noFill/>
          <a:ln/>
        </p:spPr>
        <p:txBody>
          <a:bodyPr wrap="square" lIns="102108" tIns="0" rIns="0" bIns="0" rtlCol="0" anchor="t">
            <a:spAutoFit/>
          </a:bodyPr>
          <a:lstStyle/>
          <a:p>
            <a:pPr marL="0" indent="0" algn="l">
              <a:lnSpc>
                <a:spcPts val="1400"/>
              </a:lnSpc>
              <a:buNone/>
            </a:pPr>
            <a:r>
              <a:rPr lang="en-US" sz="885" b="1">
                <a:solidFill>
                  <a:srgbClr val="E0E1DD"/>
                </a:solidFill>
                <a:latin typeface="Inter" pitchFamily="34" charset="0"/>
                <a:ea typeface="Inter" pitchFamily="34" charset="-122"/>
                <a:cs typeface="Inter" pitchFamily="34" charset="-120"/>
              </a:rPr>
              <a:t>The distribution is approximately normal and well-behaved, indicating model stability across 1,000 simulations.</a:t>
            </a:r>
            <a:endParaRPr lang="en-US" sz="885"/>
          </a:p>
        </p:txBody>
      </p:sp>
      <p:sp>
        <p:nvSpPr>
          <p:cNvPr id="18" name="Text 13"/>
          <p:cNvSpPr/>
          <p:nvPr/>
        </p:nvSpPr>
        <p:spPr>
          <a:xfrm>
            <a:off x="4714875" y="4783438"/>
            <a:ext cx="3857625" cy="540051"/>
          </a:xfrm>
          <a:prstGeom prst="rect">
            <a:avLst/>
          </a:prstGeom>
          <a:noFill/>
          <a:ln/>
        </p:spPr>
        <p:txBody>
          <a:bodyPr wrap="square" lIns="102108" tIns="0" rIns="0" bIns="0" rtlCol="0" anchor="t">
            <a:spAutoFit/>
          </a:bodyPr>
          <a:lstStyle/>
          <a:p>
            <a:pPr marL="0" indent="0" algn="l">
              <a:lnSpc>
                <a:spcPts val="1400"/>
              </a:lnSpc>
              <a:buNone/>
            </a:pPr>
            <a:r>
              <a:rPr lang="en-US" sz="885" b="1">
                <a:solidFill>
                  <a:srgbClr val="E0E1DD"/>
                </a:solidFill>
                <a:latin typeface="Inter" pitchFamily="34" charset="0"/>
                <a:ea typeface="Inter" pitchFamily="34" charset="-122"/>
                <a:cs typeface="Inter" pitchFamily="34" charset="-120"/>
              </a:rPr>
              <a:t>The cumulative gap peaks around </a:t>
            </a:r>
            <a:r>
              <a:rPr lang="en-US" sz="885" b="1">
                <a:solidFill>
                  <a:srgbClr val="4BC0C8"/>
                </a:solidFill>
                <a:latin typeface="Inter" pitchFamily="34" charset="0"/>
                <a:ea typeface="Inter" pitchFamily="34" charset="-122"/>
                <a:cs typeface="Inter" pitchFamily="34" charset="-120"/>
              </a:rPr>
              <a:t>2033–2035</a:t>
            </a:r>
            <a:r>
              <a:rPr lang="en-US" sz="885" b="1">
                <a:solidFill>
                  <a:srgbClr val="E0E1DD"/>
                </a:solidFill>
                <a:latin typeface="Inter" pitchFamily="34" charset="0"/>
                <a:ea typeface="Inter" pitchFamily="34" charset="-122"/>
                <a:cs typeface="Inter" pitchFamily="34" charset="-120"/>
              </a:rPr>
              <a:t>, as loan issuance slows and repayments begin to offset new disbursements.</a:t>
            </a:r>
            <a:endParaRPr lang="en-US" sz="885"/>
          </a:p>
        </p:txBody>
      </p:sp>
      <p:pic>
        <p:nvPicPr>
          <p:cNvPr id="20" name="Picture 19">
            <a:extLst>
              <a:ext uri="{FF2B5EF4-FFF2-40B4-BE49-F238E27FC236}">
                <a16:creationId xmlns:a16="http://schemas.microsoft.com/office/drawing/2014/main" id="{463281D6-0EE4-2F01-A677-437A347455E8}"/>
              </a:ext>
            </a:extLst>
          </p:cNvPr>
          <p:cNvPicPr>
            <a:picLocks noChangeAspect="1"/>
          </p:cNvPicPr>
          <p:nvPr/>
        </p:nvPicPr>
        <p:blipFill>
          <a:blip r:embed="rId4"/>
          <a:stretch>
            <a:fillRect/>
          </a:stretch>
        </p:blipFill>
        <p:spPr>
          <a:xfrm>
            <a:off x="642937" y="2561710"/>
            <a:ext cx="3554765" cy="2221728"/>
          </a:xfrm>
          <a:prstGeom prst="rect">
            <a:avLst/>
          </a:prstGeom>
        </p:spPr>
      </p:pic>
      <p:pic>
        <p:nvPicPr>
          <p:cNvPr id="22" name="Picture 21">
            <a:extLst>
              <a:ext uri="{FF2B5EF4-FFF2-40B4-BE49-F238E27FC236}">
                <a16:creationId xmlns:a16="http://schemas.microsoft.com/office/drawing/2014/main" id="{1BC03C1E-82A4-F8EC-202E-3ED9F6A6996C}"/>
              </a:ext>
            </a:extLst>
          </p:cNvPr>
          <p:cNvPicPr>
            <a:picLocks noChangeAspect="1"/>
          </p:cNvPicPr>
          <p:nvPr/>
        </p:nvPicPr>
        <p:blipFill>
          <a:blip r:embed="rId5"/>
          <a:stretch>
            <a:fillRect/>
          </a:stretch>
        </p:blipFill>
        <p:spPr>
          <a:xfrm>
            <a:off x="4879658" y="2533894"/>
            <a:ext cx="3528058" cy="220503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428625"/>
            <a:ext cx="8001000" cy="173236"/>
          </a:xfrm>
          <a:prstGeom prst="rect">
            <a:avLst/>
          </a:prstGeom>
          <a:noFill/>
          <a:ln/>
        </p:spPr>
        <p:txBody>
          <a:bodyPr wrap="none" lIns="0" tIns="0" rIns="0" bIns="0" rtlCol="0" anchor="t">
            <a:spAutoFit/>
          </a:bodyPr>
          <a:lstStyle/>
          <a:p>
            <a:pPr marL="0" indent="0" algn="l">
              <a:lnSpc>
                <a:spcPts val="1400"/>
              </a:lnSpc>
              <a:buNone/>
            </a:pPr>
            <a:r>
              <a:rPr lang="en-US" sz="987" b="1" kern="0" spc="2">
                <a:solidFill>
                  <a:srgbClr val="F0A500"/>
                </a:solidFill>
                <a:latin typeface="Inter" pitchFamily="34" charset="0"/>
                <a:ea typeface="Inter" pitchFamily="34" charset="-122"/>
                <a:cs typeface="Inter" pitchFamily="34" charset="-120"/>
              </a:rPr>
              <a:t>GRANT MODEL COMPARISON</a:t>
            </a:r>
            <a:endParaRPr lang="en-US" sz="987"/>
          </a:p>
        </p:txBody>
      </p:sp>
      <p:sp>
        <p:nvSpPr>
          <p:cNvPr id="4" name="Text 1"/>
          <p:cNvSpPr/>
          <p:nvPr/>
        </p:nvSpPr>
        <p:spPr>
          <a:xfrm>
            <a:off x="571500" y="673298"/>
            <a:ext cx="7858125" cy="822927"/>
          </a:xfrm>
          <a:prstGeom prst="rect">
            <a:avLst/>
          </a:prstGeom>
          <a:noFill/>
          <a:ln/>
        </p:spPr>
        <p:txBody>
          <a:bodyPr wrap="square" lIns="0" tIns="0" rIns="0" bIns="0" rtlCol="0" anchor="t">
            <a:spAutoFit/>
          </a:bodyPr>
          <a:lstStyle/>
          <a:p>
            <a:pPr marL="0" indent="0" algn="l">
              <a:lnSpc>
                <a:spcPts val="3200"/>
              </a:lnSpc>
              <a:buNone/>
            </a:pPr>
            <a:r>
              <a:rPr lang="en-US" sz="2436" b="1">
                <a:solidFill>
                  <a:srgbClr val="FFFFFF"/>
                </a:solidFill>
                <a:latin typeface="Inter" pitchFamily="34" charset="0"/>
                <a:ea typeface="Inter" pitchFamily="34" charset="-122"/>
                <a:cs typeface="Inter" pitchFamily="34" charset="-120"/>
              </a:rPr>
              <a:t>The Loan Structure Saves Columbus $33.7M vs. a Pure Grant Program</a:t>
            </a:r>
            <a:endParaRPr lang="en-US" sz="2436"/>
          </a:p>
        </p:txBody>
      </p:sp>
      <p:sp>
        <p:nvSpPr>
          <p:cNvPr id="5" name="Text 2"/>
          <p:cNvSpPr/>
          <p:nvPr/>
        </p:nvSpPr>
        <p:spPr>
          <a:xfrm>
            <a:off x="728663" y="1781975"/>
            <a:ext cx="3843338" cy="642938"/>
          </a:xfrm>
          <a:prstGeom prst="rect">
            <a:avLst/>
          </a:prstGeom>
          <a:noFill/>
          <a:ln/>
        </p:spPr>
        <p:txBody>
          <a:bodyPr wrap="square" lIns="0" tIns="0" rIns="0" bIns="0" rtlCol="0" anchor="t">
            <a:spAutoFit/>
          </a:bodyPr>
          <a:lstStyle/>
          <a:p>
            <a:pPr marL="0" indent="0" algn="l">
              <a:lnSpc>
                <a:spcPts val="1700"/>
              </a:lnSpc>
              <a:buNone/>
            </a:pPr>
            <a:r>
              <a:rPr lang="en-US" sz="987" b="1">
                <a:solidFill>
                  <a:srgbClr val="E0E1DD"/>
                </a:solidFill>
                <a:latin typeface="Inter" pitchFamily="34" charset="0"/>
                <a:ea typeface="Inter" pitchFamily="34" charset="-122"/>
                <a:cs typeface="Inter" pitchFamily="34" charset="-120"/>
              </a:rPr>
              <a:t>A </a:t>
            </a:r>
            <a:r>
              <a:rPr lang="en-US" sz="987" b="1">
                <a:solidFill>
                  <a:srgbClr val="F0A500"/>
                </a:solidFill>
                <a:latin typeface="Inter" pitchFamily="34" charset="0"/>
                <a:ea typeface="Inter" pitchFamily="34" charset="-122"/>
                <a:cs typeface="Inter" pitchFamily="34" charset="-120"/>
              </a:rPr>
              <a:t>grant model</a:t>
            </a:r>
            <a:r>
              <a:rPr lang="en-US" sz="987" b="1">
                <a:solidFill>
                  <a:srgbClr val="E0E1DD"/>
                </a:solidFill>
                <a:latin typeface="Inter" pitchFamily="34" charset="0"/>
                <a:ea typeface="Inter" pitchFamily="34" charset="-122"/>
                <a:cs typeface="Inter" pitchFamily="34" charset="-120"/>
              </a:rPr>
              <a:t> (no repayments) represents the worst-case / upper-bound scenario — the City never recovers any capital.</a:t>
            </a:r>
            <a:endParaRPr lang="en-US" sz="987"/>
          </a:p>
        </p:txBody>
      </p:sp>
      <p:sp>
        <p:nvSpPr>
          <p:cNvPr id="6" name="Text 3"/>
          <p:cNvSpPr/>
          <p:nvPr/>
        </p:nvSpPr>
        <p:spPr>
          <a:xfrm>
            <a:off x="728663" y="2567787"/>
            <a:ext cx="3843338" cy="414922"/>
          </a:xfrm>
          <a:prstGeom prst="rect">
            <a:avLst/>
          </a:prstGeom>
          <a:noFill/>
          <a:ln/>
        </p:spPr>
        <p:txBody>
          <a:bodyPr wrap="square" lIns="0" tIns="0" rIns="0" bIns="0" rtlCol="0" anchor="t">
            <a:spAutoFit/>
          </a:bodyPr>
          <a:lstStyle/>
          <a:p>
            <a:pPr marL="0" indent="0" algn="l">
              <a:lnSpc>
                <a:spcPts val="1700"/>
              </a:lnSpc>
              <a:buNone/>
            </a:pPr>
            <a:r>
              <a:rPr lang="en-US" sz="987" b="1">
                <a:solidFill>
                  <a:srgbClr val="E0E1DD"/>
                </a:solidFill>
                <a:latin typeface="Inter" pitchFamily="34" charset="0"/>
                <a:ea typeface="Inter" pitchFamily="34" charset="-122"/>
                <a:cs typeface="Inter" pitchFamily="34" charset="-120"/>
              </a:rPr>
              <a:t>Grant model mean peak funding: </a:t>
            </a:r>
            <a:r>
              <a:rPr lang="en-US" sz="987" b="1">
                <a:solidFill>
                  <a:srgbClr val="F0A500"/>
                </a:solidFill>
                <a:latin typeface="Inter" pitchFamily="34" charset="0"/>
                <a:ea typeface="Inter" pitchFamily="34" charset="-122"/>
                <a:cs typeface="Inter" pitchFamily="34" charset="-120"/>
              </a:rPr>
              <a:t>$66.72M</a:t>
            </a:r>
            <a:r>
              <a:rPr lang="en-US" sz="987" b="1">
                <a:solidFill>
                  <a:srgbClr val="E0E1DD"/>
                </a:solidFill>
                <a:latin typeface="Inter" pitchFamily="34" charset="0"/>
                <a:ea typeface="Inter" pitchFamily="34" charset="-122"/>
                <a:cs typeface="Inter" pitchFamily="34" charset="-120"/>
              </a:rPr>
              <a:t>— more than double the loan model.</a:t>
            </a:r>
            <a:endParaRPr lang="en-US" sz="987"/>
          </a:p>
        </p:txBody>
      </p:sp>
      <p:sp>
        <p:nvSpPr>
          <p:cNvPr id="7" name="Text 4"/>
          <p:cNvSpPr/>
          <p:nvPr/>
        </p:nvSpPr>
        <p:spPr>
          <a:xfrm>
            <a:off x="728663" y="3139287"/>
            <a:ext cx="3843338" cy="428625"/>
          </a:xfrm>
          <a:prstGeom prst="rect">
            <a:avLst/>
          </a:prstGeom>
          <a:noFill/>
          <a:ln/>
        </p:spPr>
        <p:txBody>
          <a:bodyPr wrap="square" lIns="0" tIns="0" rIns="0" bIns="0" rtlCol="0" anchor="t">
            <a:spAutoFit/>
          </a:bodyPr>
          <a:lstStyle/>
          <a:p>
            <a:pPr marL="0" indent="0" algn="l">
              <a:lnSpc>
                <a:spcPts val="1700"/>
              </a:lnSpc>
              <a:buNone/>
            </a:pPr>
            <a:r>
              <a:rPr lang="en-US" sz="987" b="1">
                <a:solidFill>
                  <a:srgbClr val="E0E1DD"/>
                </a:solidFill>
                <a:latin typeface="Inter" pitchFamily="34" charset="0"/>
                <a:ea typeface="Inter" pitchFamily="34" charset="-122"/>
                <a:cs typeface="Inter" pitchFamily="34" charset="-120"/>
              </a:rPr>
              <a:t>The loan structure reduces the required capital by </a:t>
            </a:r>
            <a:r>
              <a:rPr lang="en-US" sz="987" b="1">
                <a:solidFill>
                  <a:srgbClr val="F0A500"/>
                </a:solidFill>
                <a:latin typeface="Inter" pitchFamily="34" charset="0"/>
                <a:ea typeface="Inter" pitchFamily="34" charset="-122"/>
                <a:cs typeface="Inter" pitchFamily="34" charset="-120"/>
              </a:rPr>
              <a:t>$33.7M (50.5%)</a:t>
            </a:r>
            <a:r>
              <a:rPr lang="en-US" sz="987" b="1">
                <a:solidFill>
                  <a:srgbClr val="E0E1DD"/>
                </a:solidFill>
                <a:latin typeface="Inter" pitchFamily="34" charset="0"/>
                <a:ea typeface="Inter" pitchFamily="34" charset="-122"/>
                <a:cs typeface="Inter" pitchFamily="34" charset="-120"/>
              </a:rPr>
              <a:t> on a mean basis.</a:t>
            </a:r>
            <a:endParaRPr lang="en-US" sz="987"/>
          </a:p>
        </p:txBody>
      </p:sp>
      <p:sp>
        <p:nvSpPr>
          <p:cNvPr id="8" name="Text 5"/>
          <p:cNvSpPr/>
          <p:nvPr/>
        </p:nvSpPr>
        <p:spPr>
          <a:xfrm>
            <a:off x="728663" y="3710787"/>
            <a:ext cx="3843338" cy="428625"/>
          </a:xfrm>
          <a:prstGeom prst="rect">
            <a:avLst/>
          </a:prstGeom>
          <a:noFill/>
          <a:ln/>
        </p:spPr>
        <p:txBody>
          <a:bodyPr wrap="square" lIns="0" tIns="0" rIns="0" bIns="0" rtlCol="0" anchor="t">
            <a:spAutoFit/>
          </a:bodyPr>
          <a:lstStyle/>
          <a:p>
            <a:pPr marL="0" indent="0" algn="l">
              <a:lnSpc>
                <a:spcPts val="1700"/>
              </a:lnSpc>
              <a:buNone/>
            </a:pPr>
            <a:r>
              <a:rPr lang="en-US" sz="987" b="1">
                <a:solidFill>
                  <a:srgbClr val="E0E1DD"/>
                </a:solidFill>
                <a:latin typeface="Inter" pitchFamily="34" charset="0"/>
                <a:ea typeface="Inter" pitchFamily="34" charset="-122"/>
                <a:cs typeface="Inter" pitchFamily="34" charset="-120"/>
              </a:rPr>
              <a:t>Even at the 95th percentile, the loan model (</a:t>
            </a:r>
            <a:r>
              <a:rPr lang="en-US" sz="987" b="1">
                <a:solidFill>
                  <a:srgbClr val="FCB551"/>
                </a:solidFill>
                <a:latin typeface="Inter" pitchFamily="34" charset="0"/>
                <a:ea typeface="Inter" pitchFamily="34" charset="-122"/>
                <a:cs typeface="Inter" pitchFamily="34" charset="-120"/>
              </a:rPr>
              <a:t>$37.02M</a:t>
            </a:r>
            <a:r>
              <a:rPr lang="en-US" sz="987" b="1">
                <a:solidFill>
                  <a:srgbClr val="E0E1DD"/>
                </a:solidFill>
                <a:latin typeface="Inter" pitchFamily="34" charset="0"/>
                <a:ea typeface="Inter" pitchFamily="34" charset="-122"/>
                <a:cs typeface="Inter" pitchFamily="34" charset="-120"/>
              </a:rPr>
              <a:t>) is far below the grant model mean (</a:t>
            </a:r>
            <a:r>
              <a:rPr lang="en-US" sz="987" b="1">
                <a:solidFill>
                  <a:srgbClr val="FCB551"/>
                </a:solidFill>
                <a:latin typeface="Inter" pitchFamily="34" charset="0"/>
                <a:ea typeface="Inter" pitchFamily="34" charset="-122"/>
                <a:cs typeface="Inter" pitchFamily="34" charset="-120"/>
              </a:rPr>
              <a:t>$66.72M</a:t>
            </a:r>
            <a:r>
              <a:rPr lang="en-US" sz="987" b="1">
                <a:solidFill>
                  <a:srgbClr val="E0E1DD"/>
                </a:solidFill>
                <a:latin typeface="Inter" pitchFamily="34" charset="0"/>
                <a:ea typeface="Inter" pitchFamily="34" charset="-122"/>
                <a:cs typeface="Inter" pitchFamily="34" charset="-120"/>
              </a:rPr>
              <a:t>).</a:t>
            </a:r>
            <a:endParaRPr lang="en-US" sz="987"/>
          </a:p>
        </p:txBody>
      </p:sp>
      <p:sp>
        <p:nvSpPr>
          <p:cNvPr id="9" name="Text 6"/>
          <p:cNvSpPr/>
          <p:nvPr/>
        </p:nvSpPr>
        <p:spPr>
          <a:xfrm>
            <a:off x="728663" y="4282287"/>
            <a:ext cx="3843338" cy="642938"/>
          </a:xfrm>
          <a:prstGeom prst="rect">
            <a:avLst/>
          </a:prstGeom>
          <a:noFill/>
          <a:ln/>
        </p:spPr>
        <p:txBody>
          <a:bodyPr wrap="square" lIns="0" tIns="0" rIns="0" bIns="0" rtlCol="0" anchor="t">
            <a:spAutoFit/>
          </a:bodyPr>
          <a:lstStyle/>
          <a:p>
            <a:pPr marL="0" indent="0" algn="l">
              <a:lnSpc>
                <a:spcPts val="1700"/>
              </a:lnSpc>
              <a:buNone/>
            </a:pPr>
            <a:r>
              <a:rPr lang="en-US" sz="987" b="1">
                <a:solidFill>
                  <a:srgbClr val="E0E1DD"/>
                </a:solidFill>
                <a:latin typeface="Inter" pitchFamily="34" charset="0"/>
                <a:ea typeface="Inter" pitchFamily="34" charset="-122"/>
                <a:cs typeface="Inter" pitchFamily="34" charset="-120"/>
              </a:rPr>
              <a:t>This quantifies the fiscal value of the 0% deferred loan structure: repayments meaningfully recycle capital back to the City over time.</a:t>
            </a:r>
            <a:endParaRPr lang="en-US" sz="987"/>
          </a:p>
        </p:txBody>
      </p:sp>
      <p:pic>
        <p:nvPicPr>
          <p:cNvPr id="14" name="Picture 13">
            <a:extLst>
              <a:ext uri="{FF2B5EF4-FFF2-40B4-BE49-F238E27FC236}">
                <a16:creationId xmlns:a16="http://schemas.microsoft.com/office/drawing/2014/main" id="{6411FFAE-B031-32F3-0903-693CA4DF0493}"/>
              </a:ext>
            </a:extLst>
          </p:cNvPr>
          <p:cNvPicPr>
            <a:picLocks noChangeAspect="1"/>
          </p:cNvPicPr>
          <p:nvPr/>
        </p:nvPicPr>
        <p:blipFill>
          <a:blip r:embed="rId4"/>
          <a:stretch>
            <a:fillRect/>
          </a:stretch>
        </p:blipFill>
        <p:spPr>
          <a:xfrm>
            <a:off x="4549733" y="1781974"/>
            <a:ext cx="4876559" cy="302753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428625"/>
            <a:ext cx="8001000" cy="173236"/>
          </a:xfrm>
          <a:prstGeom prst="rect">
            <a:avLst/>
          </a:prstGeom>
          <a:noFill/>
          <a:ln/>
        </p:spPr>
        <p:txBody>
          <a:bodyPr wrap="none" lIns="0" tIns="0" rIns="0" bIns="0" rtlCol="0" anchor="t">
            <a:spAutoFit/>
          </a:bodyPr>
          <a:lstStyle/>
          <a:p>
            <a:pPr marL="0" indent="0" algn="l">
              <a:lnSpc>
                <a:spcPts val="1400"/>
              </a:lnSpc>
              <a:buNone/>
            </a:pPr>
            <a:r>
              <a:rPr lang="en-US" sz="987" b="1" kern="0" spc="2">
                <a:solidFill>
                  <a:srgbClr val="F0A500"/>
                </a:solidFill>
                <a:latin typeface="Inter" pitchFamily="34" charset="0"/>
                <a:ea typeface="Inter" pitchFamily="34" charset="-122"/>
                <a:cs typeface="Inter" pitchFamily="34" charset="-120"/>
              </a:rPr>
              <a:t>RECOMMENDATION</a:t>
            </a:r>
            <a:endParaRPr lang="en-US" sz="987"/>
          </a:p>
        </p:txBody>
      </p:sp>
      <p:sp>
        <p:nvSpPr>
          <p:cNvPr id="4" name="Text 1"/>
          <p:cNvSpPr/>
          <p:nvPr/>
        </p:nvSpPr>
        <p:spPr>
          <a:xfrm>
            <a:off x="571500" y="673298"/>
            <a:ext cx="5731826" cy="387927"/>
          </a:xfrm>
          <a:prstGeom prst="rect">
            <a:avLst/>
          </a:prstGeom>
          <a:noFill/>
          <a:ln/>
        </p:spPr>
        <p:txBody>
          <a:bodyPr wrap="none" lIns="0" tIns="0" rIns="0" bIns="0" rtlCol="0" anchor="t">
            <a:spAutoFit/>
          </a:bodyPr>
          <a:lstStyle/>
          <a:p>
            <a:pPr marL="0" indent="0" algn="l">
              <a:lnSpc>
                <a:spcPts val="3200"/>
              </a:lnSpc>
              <a:buNone/>
            </a:pPr>
            <a:r>
              <a:rPr lang="en-US" sz="2436" b="1">
                <a:solidFill>
                  <a:srgbClr val="FFFFFF"/>
                </a:solidFill>
                <a:latin typeface="Inter" pitchFamily="34" charset="0"/>
                <a:ea typeface="Inter" pitchFamily="34" charset="-122"/>
                <a:cs typeface="Inter" pitchFamily="34" charset="-120"/>
              </a:rPr>
              <a:t>Columbus Should Allocate $37.02M in 2026</a:t>
            </a:r>
            <a:endParaRPr lang="en-US" sz="2436"/>
          </a:p>
        </p:txBody>
      </p:sp>
      <p:sp>
        <p:nvSpPr>
          <p:cNvPr id="5" name="Shape 2"/>
          <p:cNvSpPr/>
          <p:nvPr/>
        </p:nvSpPr>
        <p:spPr>
          <a:xfrm>
            <a:off x="571500" y="1370512"/>
            <a:ext cx="8001000" cy="1614488"/>
          </a:xfrm>
          <a:prstGeom prst="rect">
            <a:avLst/>
          </a:prstGeom>
          <a:solidFill>
            <a:srgbClr val="4BC0C8"/>
          </a:solidFill>
          <a:ln/>
        </p:spPr>
        <p:txBody>
          <a:bodyPr/>
          <a:lstStyle/>
          <a:p>
            <a:endParaRPr lang="en-US"/>
          </a:p>
        </p:txBody>
      </p:sp>
      <p:sp>
        <p:nvSpPr>
          <p:cNvPr id="6" name="Shape 3"/>
          <p:cNvSpPr/>
          <p:nvPr/>
        </p:nvSpPr>
        <p:spPr>
          <a:xfrm>
            <a:off x="571500" y="1370512"/>
            <a:ext cx="85725" cy="1614488"/>
          </a:xfrm>
          <a:prstGeom prst="rect">
            <a:avLst/>
          </a:prstGeom>
          <a:solidFill>
            <a:srgbClr val="F0A500"/>
          </a:solidFill>
          <a:ln/>
        </p:spPr>
        <p:txBody>
          <a:bodyPr/>
          <a:lstStyle/>
          <a:p>
            <a:endParaRPr lang="en-US"/>
          </a:p>
        </p:txBody>
      </p:sp>
      <p:sp>
        <p:nvSpPr>
          <p:cNvPr id="7" name="Text 4"/>
          <p:cNvSpPr/>
          <p:nvPr/>
        </p:nvSpPr>
        <p:spPr>
          <a:xfrm>
            <a:off x="857250" y="1656262"/>
            <a:ext cx="7429500" cy="700192"/>
          </a:xfrm>
          <a:prstGeom prst="rect">
            <a:avLst/>
          </a:prstGeom>
          <a:noFill/>
          <a:ln/>
        </p:spPr>
        <p:txBody>
          <a:bodyPr wrap="square" lIns="0" tIns="0" rIns="0" bIns="0" rtlCol="0" anchor="t">
            <a:spAutoFit/>
          </a:bodyPr>
          <a:lstStyle/>
          <a:p>
            <a:pPr marL="0" indent="0" algn="ctr">
              <a:lnSpc>
                <a:spcPts val="2800"/>
              </a:lnSpc>
              <a:buNone/>
            </a:pPr>
            <a:r>
              <a:rPr lang="en-US" sz="2121" b="1">
                <a:solidFill>
                  <a:srgbClr val="0B132B"/>
                </a:solidFill>
                <a:latin typeface="Inter" pitchFamily="34" charset="0"/>
                <a:ea typeface="Inter" pitchFamily="34" charset="-122"/>
                <a:cs typeface="Inter" pitchFamily="34" charset="-120"/>
              </a:rPr>
              <a:t>WE RECOMMEND THE CITY OF COLUMBUS ALLOCATE $37.02M IN 2026</a:t>
            </a:r>
            <a:endParaRPr lang="en-US" sz="2121"/>
          </a:p>
        </p:txBody>
      </p:sp>
      <p:sp>
        <p:nvSpPr>
          <p:cNvPr id="8" name="Text 5"/>
          <p:cNvSpPr/>
          <p:nvPr/>
        </p:nvSpPr>
        <p:spPr>
          <a:xfrm>
            <a:off x="3152541" y="2492080"/>
            <a:ext cx="2838919" cy="194284"/>
          </a:xfrm>
          <a:prstGeom prst="rect">
            <a:avLst/>
          </a:prstGeom>
          <a:noFill/>
          <a:ln/>
        </p:spPr>
        <p:txBody>
          <a:bodyPr wrap="none" lIns="0" tIns="0" rIns="0" bIns="0" rtlCol="0" anchor="t">
            <a:spAutoFit/>
          </a:bodyPr>
          <a:lstStyle/>
          <a:p>
            <a:pPr marL="0" indent="0" algn="ctr">
              <a:lnSpc>
                <a:spcPts val="1600"/>
              </a:lnSpc>
              <a:buNone/>
            </a:pPr>
            <a:r>
              <a:rPr lang="en-US" sz="1193" b="1">
                <a:solidFill>
                  <a:srgbClr val="0B132B">
                    <a:alpha val="85000"/>
                  </a:srgbClr>
                </a:solidFill>
                <a:latin typeface="Inter" pitchFamily="34" charset="0"/>
                <a:ea typeface="Inter" pitchFamily="34" charset="-122"/>
                <a:cs typeface="Inter" pitchFamily="34" charset="-120"/>
              </a:rPr>
              <a:t>95th Percentile · 95% CI: $32.88M – $33.16M</a:t>
            </a:r>
            <a:endParaRPr lang="en-US" sz="1193"/>
          </a:p>
        </p:txBody>
      </p:sp>
      <p:sp>
        <p:nvSpPr>
          <p:cNvPr id="9" name="Text 6"/>
          <p:cNvSpPr/>
          <p:nvPr/>
        </p:nvSpPr>
        <p:spPr>
          <a:xfrm>
            <a:off x="571500" y="3385049"/>
            <a:ext cx="2476509" cy="207169"/>
          </a:xfrm>
          <a:prstGeom prst="rect">
            <a:avLst/>
          </a:prstGeom>
          <a:noFill/>
          <a:ln/>
        </p:spPr>
        <p:txBody>
          <a:bodyPr wrap="none" lIns="0" tIns="0" rIns="0" bIns="0" rtlCol="0" anchor="t">
            <a:spAutoFit/>
          </a:bodyPr>
          <a:lstStyle/>
          <a:p>
            <a:pPr marL="0" indent="0" algn="l">
              <a:lnSpc>
                <a:spcPts val="1600"/>
              </a:lnSpc>
              <a:buNone/>
            </a:pPr>
            <a:r>
              <a:rPr lang="en-US" sz="1193" b="1">
                <a:solidFill>
                  <a:srgbClr val="FFFFFF"/>
                </a:solidFill>
                <a:latin typeface="Inter" pitchFamily="34" charset="0"/>
                <a:ea typeface="Inter" pitchFamily="34" charset="-122"/>
                <a:cs typeface="Inter" pitchFamily="34" charset="-120"/>
              </a:rPr>
              <a:t>THE MATH</a:t>
            </a:r>
            <a:endParaRPr lang="en-US" sz="1193"/>
          </a:p>
        </p:txBody>
      </p:sp>
      <p:sp>
        <p:nvSpPr>
          <p:cNvPr id="10" name="Text 7"/>
          <p:cNvSpPr/>
          <p:nvPr/>
        </p:nvSpPr>
        <p:spPr>
          <a:xfrm>
            <a:off x="571500" y="3699374"/>
            <a:ext cx="2476509" cy="1440024"/>
          </a:xfrm>
          <a:prstGeom prst="rect">
            <a:avLst/>
          </a:prstGeom>
          <a:noFill/>
          <a:ln/>
        </p:spPr>
        <p:txBody>
          <a:bodyPr wrap="square" lIns="0" tIns="0" rIns="0" bIns="0" rtlCol="0" anchor="t">
            <a:spAutoFit/>
          </a:bodyPr>
          <a:lstStyle/>
          <a:p>
            <a:pPr marL="0" indent="0" algn="l">
              <a:lnSpc>
                <a:spcPts val="1600"/>
              </a:lnSpc>
              <a:buNone/>
            </a:pPr>
            <a:r>
              <a:rPr lang="en-US" sz="885" b="1">
                <a:solidFill>
                  <a:srgbClr val="E0E1DD"/>
                </a:solidFill>
                <a:latin typeface="Inter" pitchFamily="34" charset="0"/>
                <a:ea typeface="Inter" pitchFamily="34" charset="-122"/>
                <a:cs typeface="Inter" pitchFamily="34" charset="-120"/>
              </a:rPr>
              <a:t>This is the </a:t>
            </a:r>
            <a:r>
              <a:rPr lang="en-US" sz="885" b="1">
                <a:solidFill>
                  <a:srgbClr val="4BC0C8"/>
                </a:solidFill>
                <a:latin typeface="Inter" pitchFamily="34" charset="0"/>
                <a:ea typeface="Inter" pitchFamily="34" charset="-122"/>
                <a:cs typeface="Inter" pitchFamily="34" charset="-120"/>
              </a:rPr>
              <a:t>95th percentile</a:t>
            </a:r>
            <a:r>
              <a:rPr lang="en-US" sz="885" b="1">
                <a:solidFill>
                  <a:srgbClr val="E0E1DD"/>
                </a:solidFill>
                <a:latin typeface="Inter" pitchFamily="34" charset="0"/>
                <a:ea typeface="Inter" pitchFamily="34" charset="-122"/>
                <a:cs typeface="Inter" pitchFamily="34" charset="-120"/>
              </a:rPr>
              <a:t> of our simulation — meaning only 5% of all modeled futures would require more capital than this amount. The 95% confidence interval confirms this figure sits at the responsible upper edge of the expected range.</a:t>
            </a:r>
            <a:endParaRPr lang="en-US" sz="885"/>
          </a:p>
        </p:txBody>
      </p:sp>
      <p:sp>
        <p:nvSpPr>
          <p:cNvPr id="11" name="Text 8"/>
          <p:cNvSpPr/>
          <p:nvPr/>
        </p:nvSpPr>
        <p:spPr>
          <a:xfrm>
            <a:off x="3333759" y="3385049"/>
            <a:ext cx="2476509" cy="207169"/>
          </a:xfrm>
          <a:prstGeom prst="rect">
            <a:avLst/>
          </a:prstGeom>
          <a:noFill/>
          <a:ln/>
        </p:spPr>
        <p:txBody>
          <a:bodyPr wrap="none" lIns="0" tIns="0" rIns="0" bIns="0" rtlCol="0" anchor="t">
            <a:spAutoFit/>
          </a:bodyPr>
          <a:lstStyle/>
          <a:p>
            <a:pPr marL="0" indent="0" algn="l">
              <a:lnSpc>
                <a:spcPts val="1600"/>
              </a:lnSpc>
              <a:buNone/>
            </a:pPr>
            <a:r>
              <a:rPr lang="en-US" sz="1193" b="1">
                <a:solidFill>
                  <a:srgbClr val="F0A500"/>
                </a:solidFill>
                <a:latin typeface="Inter" pitchFamily="34" charset="0"/>
                <a:ea typeface="Inter" pitchFamily="34" charset="-122"/>
                <a:cs typeface="Inter" pitchFamily="34" charset="-120"/>
              </a:rPr>
              <a:t>IF UNDERFUNDED</a:t>
            </a:r>
            <a:endParaRPr lang="en-US" sz="1193"/>
          </a:p>
        </p:txBody>
      </p:sp>
      <p:sp>
        <p:nvSpPr>
          <p:cNvPr id="12" name="Text 9"/>
          <p:cNvSpPr/>
          <p:nvPr/>
        </p:nvSpPr>
        <p:spPr>
          <a:xfrm>
            <a:off x="3333759" y="3699374"/>
            <a:ext cx="2476509" cy="1028588"/>
          </a:xfrm>
          <a:prstGeom prst="rect">
            <a:avLst/>
          </a:prstGeom>
          <a:noFill/>
          <a:ln/>
        </p:spPr>
        <p:txBody>
          <a:bodyPr wrap="square" lIns="0" tIns="0" rIns="0" bIns="0" rtlCol="0" anchor="t">
            <a:spAutoFit/>
          </a:bodyPr>
          <a:lstStyle/>
          <a:p>
            <a:pPr marL="0" indent="0" algn="l">
              <a:lnSpc>
                <a:spcPts val="1600"/>
              </a:lnSpc>
              <a:buNone/>
            </a:pPr>
            <a:r>
              <a:rPr lang="en-US" sz="885" b="1">
                <a:solidFill>
                  <a:srgbClr val="E0E1DD"/>
                </a:solidFill>
                <a:latin typeface="Inter" pitchFamily="34" charset="0"/>
                <a:ea typeface="Inter" pitchFamily="34" charset="-122"/>
                <a:cs typeface="Inter" pitchFamily="34" charset="-120"/>
              </a:rPr>
              <a:t>The City risks a mid-program liquidity gap, potentially forcing a pause in loan issuance and delaying compliance with the </a:t>
            </a:r>
            <a:r>
              <a:rPr lang="en-US" sz="885" b="1">
                <a:solidFill>
                  <a:srgbClr val="F0A500"/>
                </a:solidFill>
                <a:latin typeface="Inter" pitchFamily="34" charset="0"/>
                <a:ea typeface="Inter" pitchFamily="34" charset="-122"/>
                <a:cs typeface="Inter" pitchFamily="34" charset="-120"/>
              </a:rPr>
              <a:t>2037 federal deadline</a:t>
            </a:r>
            <a:r>
              <a:rPr lang="en-US" sz="885" b="1">
                <a:solidFill>
                  <a:srgbClr val="E0E1DD"/>
                </a:solidFill>
                <a:latin typeface="Inter" pitchFamily="34" charset="0"/>
                <a:ea typeface="Inter" pitchFamily="34" charset="-122"/>
                <a:cs typeface="Inter" pitchFamily="34" charset="-120"/>
              </a:rPr>
              <a:t>. The cost of under-preparation is severe.</a:t>
            </a:r>
            <a:endParaRPr lang="en-US" sz="885"/>
          </a:p>
        </p:txBody>
      </p:sp>
      <p:sp>
        <p:nvSpPr>
          <p:cNvPr id="13" name="Text 10"/>
          <p:cNvSpPr/>
          <p:nvPr/>
        </p:nvSpPr>
        <p:spPr>
          <a:xfrm>
            <a:off x="6096019" y="3385049"/>
            <a:ext cx="2476509" cy="207169"/>
          </a:xfrm>
          <a:prstGeom prst="rect">
            <a:avLst/>
          </a:prstGeom>
          <a:noFill/>
          <a:ln/>
        </p:spPr>
        <p:txBody>
          <a:bodyPr wrap="none" lIns="0" tIns="0" rIns="0" bIns="0" rtlCol="0" anchor="t">
            <a:spAutoFit/>
          </a:bodyPr>
          <a:lstStyle/>
          <a:p>
            <a:pPr marL="0" indent="0" algn="l">
              <a:lnSpc>
                <a:spcPts val="1600"/>
              </a:lnSpc>
              <a:buNone/>
            </a:pPr>
            <a:r>
              <a:rPr lang="en-US" sz="1193" b="1">
                <a:solidFill>
                  <a:srgbClr val="4BC0C8"/>
                </a:solidFill>
                <a:latin typeface="Inter" pitchFamily="34" charset="0"/>
                <a:ea typeface="Inter" pitchFamily="34" charset="-122"/>
                <a:cs typeface="Inter" pitchFamily="34" charset="-120"/>
              </a:rPr>
              <a:t>IF OVERFUNDED</a:t>
            </a:r>
            <a:endParaRPr lang="en-US" sz="1193"/>
          </a:p>
        </p:txBody>
      </p:sp>
      <p:sp>
        <p:nvSpPr>
          <p:cNvPr id="14" name="Text 11"/>
          <p:cNvSpPr/>
          <p:nvPr/>
        </p:nvSpPr>
        <p:spPr>
          <a:xfrm>
            <a:off x="6096019" y="3699374"/>
            <a:ext cx="2476509" cy="1028588"/>
          </a:xfrm>
          <a:prstGeom prst="rect">
            <a:avLst/>
          </a:prstGeom>
          <a:noFill/>
          <a:ln/>
        </p:spPr>
        <p:txBody>
          <a:bodyPr wrap="square" lIns="0" tIns="0" rIns="0" bIns="0" rtlCol="0" anchor="t">
            <a:spAutoFit/>
          </a:bodyPr>
          <a:lstStyle/>
          <a:p>
            <a:pPr marL="0" indent="0" algn="l">
              <a:lnSpc>
                <a:spcPts val="1600"/>
              </a:lnSpc>
              <a:buNone/>
            </a:pPr>
            <a:r>
              <a:rPr lang="en-US" sz="885" b="1">
                <a:solidFill>
                  <a:srgbClr val="E0E1DD"/>
                </a:solidFill>
                <a:latin typeface="Inter" pitchFamily="34" charset="0"/>
                <a:ea typeface="Inter" pitchFamily="34" charset="-122"/>
                <a:cs typeface="Inter" pitchFamily="34" charset="-120"/>
              </a:rPr>
              <a:t>Excess reserves can be redeployed or returned to the general fund. The cost of over-preparation is low relative to the public health and regulatory risks of falling short.</a:t>
            </a:r>
            <a:endParaRPr lang="en-US" sz="88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43" y="0"/>
            <a:ext cx="9144000" cy="5143500"/>
          </a:xfrm>
          <a:prstGeom prst="rect">
            <a:avLst/>
          </a:prstGeom>
        </p:spPr>
      </p:pic>
      <p:sp>
        <p:nvSpPr>
          <p:cNvPr id="3" name="Text 0"/>
          <p:cNvSpPr/>
          <p:nvPr/>
        </p:nvSpPr>
        <p:spPr>
          <a:xfrm>
            <a:off x="571500" y="428625"/>
            <a:ext cx="8001000" cy="173236"/>
          </a:xfrm>
          <a:prstGeom prst="rect">
            <a:avLst/>
          </a:prstGeom>
          <a:noFill/>
          <a:ln/>
        </p:spPr>
        <p:txBody>
          <a:bodyPr wrap="none" lIns="0" tIns="0" rIns="0" bIns="0" rtlCol="0" anchor="t">
            <a:spAutoFit/>
          </a:bodyPr>
          <a:lstStyle/>
          <a:p>
            <a:pPr marL="0" indent="0" algn="l">
              <a:lnSpc>
                <a:spcPts val="1400"/>
              </a:lnSpc>
              <a:buNone/>
            </a:pPr>
            <a:r>
              <a:rPr lang="en-US" sz="987" b="1" kern="0" spc="2" dirty="0">
                <a:solidFill>
                  <a:srgbClr val="F0A500"/>
                </a:solidFill>
                <a:latin typeface="Inter" pitchFamily="34" charset="0"/>
                <a:ea typeface="Inter" pitchFamily="34" charset="-122"/>
                <a:cs typeface="Inter" pitchFamily="34" charset="-120"/>
              </a:rPr>
              <a:t>FUTURE RESEARCH &amp; LIMITATIONS</a:t>
            </a:r>
            <a:endParaRPr lang="en-US" sz="987" dirty="0"/>
          </a:p>
        </p:txBody>
      </p:sp>
      <p:sp>
        <p:nvSpPr>
          <p:cNvPr id="4" name="Text 1"/>
          <p:cNvSpPr/>
          <p:nvPr/>
        </p:nvSpPr>
        <p:spPr>
          <a:xfrm>
            <a:off x="571500" y="673298"/>
            <a:ext cx="8001000" cy="411463"/>
          </a:xfrm>
          <a:prstGeom prst="rect">
            <a:avLst/>
          </a:prstGeom>
          <a:noFill/>
          <a:ln/>
        </p:spPr>
        <p:txBody>
          <a:bodyPr wrap="none" lIns="0" tIns="0" rIns="0" bIns="0" rtlCol="0" anchor="t">
            <a:spAutoFit/>
          </a:bodyPr>
          <a:lstStyle/>
          <a:p>
            <a:pPr marL="0" indent="0" algn="l">
              <a:lnSpc>
                <a:spcPts val="3200"/>
              </a:lnSpc>
              <a:buNone/>
            </a:pPr>
            <a:r>
              <a:rPr lang="en-US" sz="2436" b="1" dirty="0">
                <a:solidFill>
                  <a:srgbClr val="FFFFFF"/>
                </a:solidFill>
                <a:latin typeface="Inter" pitchFamily="34" charset="0"/>
                <a:ea typeface="Inter" pitchFamily="34" charset="-122"/>
                <a:cs typeface="Inter" pitchFamily="34" charset="-120"/>
              </a:rPr>
              <a:t>Refining the Model for Long-Term Precision</a:t>
            </a:r>
            <a:endParaRPr lang="en-US" sz="2436" dirty="0"/>
          </a:p>
        </p:txBody>
      </p:sp>
      <p:sp>
        <p:nvSpPr>
          <p:cNvPr id="5" name="Text 2"/>
          <p:cNvSpPr/>
          <p:nvPr/>
        </p:nvSpPr>
        <p:spPr>
          <a:xfrm>
            <a:off x="571500" y="1370512"/>
            <a:ext cx="3786188" cy="207169"/>
          </a:xfrm>
          <a:prstGeom prst="rect">
            <a:avLst/>
          </a:prstGeom>
          <a:noFill/>
          <a:ln/>
        </p:spPr>
        <p:txBody>
          <a:bodyPr wrap="none" lIns="0" tIns="0" rIns="0" bIns="0" rtlCol="0" anchor="t">
            <a:spAutoFit/>
          </a:bodyPr>
          <a:lstStyle/>
          <a:p>
            <a:pPr marL="0" indent="0" algn="l">
              <a:lnSpc>
                <a:spcPts val="1600"/>
              </a:lnSpc>
              <a:buNone/>
            </a:pPr>
            <a:r>
              <a:rPr lang="en-US" sz="1193" b="1" kern="0" spc="1" dirty="0">
                <a:solidFill>
                  <a:srgbClr val="F0A500"/>
                </a:solidFill>
                <a:latin typeface="Inter" pitchFamily="34" charset="0"/>
                <a:ea typeface="Inter" pitchFamily="34" charset="-122"/>
                <a:cs typeface="Inter" pitchFamily="34" charset="-120"/>
              </a:rPr>
              <a:t>MODEL LIMITATIONS</a:t>
            </a:r>
            <a:endParaRPr lang="en-US" sz="1193" dirty="0"/>
          </a:p>
        </p:txBody>
      </p:sp>
      <p:sp>
        <p:nvSpPr>
          <p:cNvPr id="6" name="Text 3"/>
          <p:cNvSpPr/>
          <p:nvPr/>
        </p:nvSpPr>
        <p:spPr>
          <a:xfrm>
            <a:off x="571500" y="1877718"/>
            <a:ext cx="3786188" cy="173236"/>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FFFF"/>
                </a:solidFill>
                <a:latin typeface="Inter" pitchFamily="34" charset="0"/>
                <a:ea typeface="Inter" pitchFamily="34" charset="-122"/>
                <a:cs typeface="Inter" pitchFamily="34" charset="-120"/>
              </a:rPr>
              <a:t>Data Granularity</a:t>
            </a:r>
            <a:endParaRPr lang="en-US" sz="987" dirty="0"/>
          </a:p>
        </p:txBody>
      </p:sp>
      <p:sp>
        <p:nvSpPr>
          <p:cNvPr id="7" name="Text 4"/>
          <p:cNvSpPr/>
          <p:nvPr/>
        </p:nvSpPr>
        <p:spPr>
          <a:xfrm>
            <a:off x="571500" y="2108104"/>
            <a:ext cx="3786188" cy="546497"/>
          </a:xfrm>
          <a:prstGeom prst="rect">
            <a:avLst/>
          </a:prstGeom>
          <a:noFill/>
          <a:ln/>
        </p:spPr>
        <p:txBody>
          <a:bodyPr wrap="square" lIns="0" tIns="0" rIns="0" bIns="0" rtlCol="0" anchor="t">
            <a:spAutoFit/>
          </a:bodyPr>
          <a:lstStyle/>
          <a:p>
            <a:pPr marL="0" indent="0" algn="l">
              <a:lnSpc>
                <a:spcPts val="1400"/>
              </a:lnSpc>
              <a:buNone/>
            </a:pPr>
            <a:r>
              <a:rPr lang="en-US" sz="834" b="1" dirty="0">
                <a:solidFill>
                  <a:srgbClr val="E0E1DD"/>
                </a:solidFill>
                <a:latin typeface="Inter" pitchFamily="34" charset="0"/>
                <a:ea typeface="Inter" pitchFamily="34" charset="-122"/>
                <a:cs typeface="Inter" pitchFamily="34" charset="-120"/>
              </a:rPr>
              <a:t>Repayment timing is currently based on </a:t>
            </a:r>
            <a:r>
              <a:rPr lang="en-US" sz="834" b="1" dirty="0">
                <a:solidFill>
                  <a:srgbClr val="F0A500"/>
                </a:solidFill>
                <a:latin typeface="Inter" pitchFamily="34" charset="0"/>
                <a:ea typeface="Inter" pitchFamily="34" charset="-122"/>
                <a:cs typeface="Inter" pitchFamily="34" charset="-120"/>
              </a:rPr>
              <a:t>national averages</a:t>
            </a:r>
            <a:r>
              <a:rPr lang="en-US" sz="834" b="1" dirty="0">
                <a:solidFill>
                  <a:srgbClr val="E0E1DD"/>
                </a:solidFill>
                <a:latin typeface="Inter" pitchFamily="34" charset="0"/>
                <a:ea typeface="Inter" pitchFamily="34" charset="-122"/>
                <a:cs typeface="Inter" pitchFamily="34" charset="-120"/>
              </a:rPr>
              <a:t>; future iterations should use Columbus-specific housing turnover and refinancing datasets to refine the cash flow curve.</a:t>
            </a:r>
            <a:endParaRPr lang="en-US" sz="834" dirty="0"/>
          </a:p>
        </p:txBody>
      </p:sp>
      <p:sp>
        <p:nvSpPr>
          <p:cNvPr id="8" name="Text 5"/>
          <p:cNvSpPr/>
          <p:nvPr/>
        </p:nvSpPr>
        <p:spPr>
          <a:xfrm>
            <a:off x="571500" y="2833195"/>
            <a:ext cx="759823" cy="168059"/>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FFFF"/>
                </a:solidFill>
                <a:latin typeface="Inter" pitchFamily="34" charset="0"/>
                <a:ea typeface="Inter" pitchFamily="34" charset="-122"/>
                <a:cs typeface="Inter" pitchFamily="34" charset="-120"/>
              </a:rPr>
              <a:t>Copper Pricing</a:t>
            </a:r>
            <a:endParaRPr lang="en-US" sz="987" dirty="0"/>
          </a:p>
        </p:txBody>
      </p:sp>
      <p:sp>
        <p:nvSpPr>
          <p:cNvPr id="9" name="Text 6"/>
          <p:cNvSpPr/>
          <p:nvPr/>
        </p:nvSpPr>
        <p:spPr>
          <a:xfrm>
            <a:off x="571500" y="3050133"/>
            <a:ext cx="3786188" cy="492443"/>
          </a:xfrm>
          <a:prstGeom prst="rect">
            <a:avLst/>
          </a:prstGeom>
          <a:noFill/>
          <a:ln/>
        </p:spPr>
        <p:txBody>
          <a:bodyPr wrap="square" lIns="0" tIns="0" rIns="0" bIns="0" rtlCol="0" anchor="t">
            <a:spAutoFit/>
          </a:bodyPr>
          <a:lstStyle/>
          <a:p>
            <a:pPr rtl="0"/>
            <a:r>
              <a:rPr lang="en-US" sz="800" b="1" baseline="0">
                <a:solidFill>
                  <a:srgbClr val="FFFFFF"/>
                </a:solidFill>
                <a:latin typeface="Calibri"/>
                <a:ea typeface="Segoe UI"/>
                <a:cs typeface="Segoe UI"/>
              </a:rPr>
              <a:t>Repair costs are tightly linked to copper prices, with a correlation of 0.87.</a:t>
            </a:r>
            <a:r>
              <a:rPr lang="en-US" sz="800">
                <a:latin typeface="Calibri"/>
                <a:ea typeface="Segoe UI"/>
                <a:cs typeface="Segoe UI"/>
              </a:rPr>
              <a:t>​</a:t>
            </a:r>
          </a:p>
          <a:p>
            <a:pPr rtl="0"/>
            <a:r>
              <a:rPr lang="en-US" sz="800" baseline="0">
                <a:solidFill>
                  <a:srgbClr val="FFFFFF"/>
                </a:solidFill>
                <a:latin typeface="Calibri"/>
                <a:ea typeface="Segoe UI"/>
                <a:cs typeface="Segoe UI"/>
              </a:rPr>
              <a:t>Since copper is the primary material in water line replacements, contractor prices rise with the commodity. Copper has grown at </a:t>
            </a:r>
            <a:r>
              <a:rPr lang="en-US" sz="800" b="1" baseline="0">
                <a:solidFill>
                  <a:srgbClr val="FFFFFF"/>
                </a:solidFill>
                <a:latin typeface="Calibri"/>
                <a:ea typeface="Segoe UI"/>
                <a:cs typeface="Segoe UI"/>
              </a:rPr>
              <a:t>9% annually</a:t>
            </a:r>
            <a:r>
              <a:rPr lang="en-US" sz="800" baseline="0">
                <a:solidFill>
                  <a:srgbClr val="FFFFFF"/>
                </a:solidFill>
                <a:latin typeface="Calibri"/>
                <a:ea typeface="Segoe UI"/>
                <a:cs typeface="Segoe UI"/>
              </a:rPr>
              <a:t> with a standard deviation of </a:t>
            </a:r>
            <a:r>
              <a:rPr lang="en-US" sz="800" b="1" baseline="0">
                <a:solidFill>
                  <a:srgbClr val="FFFFFF"/>
                </a:solidFill>
                <a:latin typeface="Calibri"/>
                <a:ea typeface="Segoe UI"/>
                <a:cs typeface="Segoe UI"/>
              </a:rPr>
              <a:t>1.5%</a:t>
            </a:r>
            <a:r>
              <a:rPr lang="en-US" sz="800" baseline="0">
                <a:solidFill>
                  <a:srgbClr val="FFFFFF"/>
                </a:solidFill>
                <a:latin typeface="Calibri"/>
                <a:ea typeface="Segoe UI"/>
                <a:cs typeface="Segoe UI"/>
              </a:rPr>
              <a:t> — this growth rate directly drives repair cost escalation in our model through 203</a:t>
            </a:r>
            <a:endParaRPr lang="en-US" sz="800">
              <a:ea typeface="Calibri"/>
              <a:cs typeface="Calibri"/>
            </a:endParaRPr>
          </a:p>
        </p:txBody>
      </p:sp>
      <p:sp>
        <p:nvSpPr>
          <p:cNvPr id="10" name="Text 7"/>
          <p:cNvSpPr/>
          <p:nvPr/>
        </p:nvSpPr>
        <p:spPr>
          <a:xfrm>
            <a:off x="571500" y="3764872"/>
            <a:ext cx="3786188" cy="173236"/>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FFFF"/>
                </a:solidFill>
                <a:latin typeface="Inter" pitchFamily="34" charset="0"/>
                <a:ea typeface="Inter" pitchFamily="34" charset="-122"/>
                <a:cs typeface="Inter" pitchFamily="34" charset="-120"/>
              </a:rPr>
              <a:t>Economic Sensitivity</a:t>
            </a:r>
            <a:endParaRPr lang="en-US" sz="987" dirty="0"/>
          </a:p>
        </p:txBody>
      </p:sp>
      <p:sp>
        <p:nvSpPr>
          <p:cNvPr id="11" name="Text 8"/>
          <p:cNvSpPr/>
          <p:nvPr/>
        </p:nvSpPr>
        <p:spPr>
          <a:xfrm>
            <a:off x="571500" y="3995258"/>
            <a:ext cx="3786188" cy="342466"/>
          </a:xfrm>
          <a:prstGeom prst="rect">
            <a:avLst/>
          </a:prstGeom>
          <a:noFill/>
          <a:ln/>
        </p:spPr>
        <p:txBody>
          <a:bodyPr wrap="square" lIns="0" tIns="0" rIns="0" bIns="0" rtlCol="0" anchor="t">
            <a:spAutoFit/>
          </a:bodyPr>
          <a:lstStyle/>
          <a:p>
            <a:pPr marL="0" indent="0" algn="l">
              <a:lnSpc>
                <a:spcPts val="1400"/>
              </a:lnSpc>
              <a:buNone/>
            </a:pPr>
            <a:r>
              <a:rPr lang="en-US" sz="834" b="1" dirty="0">
                <a:solidFill>
                  <a:srgbClr val="E0E1DD"/>
                </a:solidFill>
                <a:latin typeface="Inter" pitchFamily="34" charset="0"/>
                <a:ea typeface="Inter" pitchFamily="34" charset="-122"/>
                <a:cs typeface="Inter" pitchFamily="34" charset="-120"/>
              </a:rPr>
              <a:t>The interaction between high interest rates and home equity (the </a:t>
            </a:r>
            <a:r>
              <a:rPr lang="en-US" sz="834" b="1" dirty="0">
                <a:solidFill>
                  <a:srgbClr val="F0A500"/>
                </a:solidFill>
                <a:latin typeface="Inter" pitchFamily="34" charset="0"/>
                <a:ea typeface="Inter" pitchFamily="34" charset="-122"/>
                <a:cs typeface="Inter" pitchFamily="34" charset="-120"/>
              </a:rPr>
              <a:t>"lock-in effect"</a:t>
            </a:r>
            <a:r>
              <a:rPr lang="en-US" sz="834" b="1" dirty="0">
                <a:solidFill>
                  <a:srgbClr val="E0E1DD"/>
                </a:solidFill>
                <a:latin typeface="Inter" pitchFamily="34" charset="0"/>
                <a:ea typeface="Inter" pitchFamily="34" charset="-122"/>
                <a:cs typeface="Inter" pitchFamily="34" charset="-120"/>
              </a:rPr>
              <a:t>) could significantly </a:t>
            </a:r>
            <a:r>
              <a:rPr lang="en-US" sz="834" b="1">
                <a:solidFill>
                  <a:srgbClr val="E0E1DD"/>
                </a:solidFill>
                <a:latin typeface="Inter" pitchFamily="34" charset="0"/>
                <a:ea typeface="Inter" pitchFamily="34" charset="-122"/>
                <a:cs typeface="Inter" pitchFamily="34" charset="-120"/>
              </a:rPr>
              <a:t>affect</a:t>
            </a:r>
            <a:r>
              <a:rPr lang="en-US" sz="834" b="1" dirty="0">
                <a:solidFill>
                  <a:srgbClr val="E0E1DD"/>
                </a:solidFill>
                <a:latin typeface="Inter" pitchFamily="34" charset="0"/>
                <a:ea typeface="Inter" pitchFamily="34" charset="-122"/>
                <a:cs typeface="Inter" pitchFamily="34" charset="-120"/>
              </a:rPr>
              <a:t> the 8.78% projected sale rate.</a:t>
            </a:r>
            <a:endParaRPr lang="en-US" sz="834" dirty="0"/>
          </a:p>
        </p:txBody>
      </p:sp>
      <p:sp>
        <p:nvSpPr>
          <p:cNvPr id="12" name="Text 9"/>
          <p:cNvSpPr/>
          <p:nvPr/>
        </p:nvSpPr>
        <p:spPr>
          <a:xfrm>
            <a:off x="4786313" y="1370512"/>
            <a:ext cx="3786188" cy="207169"/>
          </a:xfrm>
          <a:prstGeom prst="rect">
            <a:avLst/>
          </a:prstGeom>
          <a:noFill/>
          <a:ln/>
        </p:spPr>
        <p:txBody>
          <a:bodyPr wrap="none" lIns="0" tIns="0" rIns="0" bIns="0" rtlCol="0" anchor="t">
            <a:spAutoFit/>
          </a:bodyPr>
          <a:lstStyle/>
          <a:p>
            <a:pPr marL="0" indent="0" algn="l">
              <a:lnSpc>
                <a:spcPts val="1600"/>
              </a:lnSpc>
              <a:buNone/>
            </a:pPr>
            <a:r>
              <a:rPr lang="en-US" sz="1193" b="1" kern="0" spc="1" dirty="0">
                <a:solidFill>
                  <a:srgbClr val="4BC0C8"/>
                </a:solidFill>
                <a:latin typeface="Inter" pitchFamily="34" charset="0"/>
                <a:ea typeface="Inter" pitchFamily="34" charset="-122"/>
                <a:cs typeface="Inter" pitchFamily="34" charset="-120"/>
              </a:rPr>
              <a:t>FUTURE RESEARCH PRIORITIES</a:t>
            </a:r>
            <a:endParaRPr lang="en-US" sz="1193" dirty="0"/>
          </a:p>
        </p:txBody>
      </p:sp>
      <p:sp>
        <p:nvSpPr>
          <p:cNvPr id="13" name="Text 10"/>
          <p:cNvSpPr/>
          <p:nvPr/>
        </p:nvSpPr>
        <p:spPr>
          <a:xfrm>
            <a:off x="4786313" y="1877718"/>
            <a:ext cx="3786188" cy="173236"/>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FFFF"/>
                </a:solidFill>
                <a:latin typeface="Inter" pitchFamily="34" charset="0"/>
                <a:ea typeface="Inter" pitchFamily="34" charset="-122"/>
                <a:cs typeface="Inter" pitchFamily="34" charset="-120"/>
              </a:rPr>
              <a:t>Program Scaling</a:t>
            </a:r>
            <a:endParaRPr lang="en-US" sz="987" dirty="0"/>
          </a:p>
        </p:txBody>
      </p:sp>
      <p:sp>
        <p:nvSpPr>
          <p:cNvPr id="14" name="Text 11"/>
          <p:cNvSpPr/>
          <p:nvPr/>
        </p:nvSpPr>
        <p:spPr>
          <a:xfrm>
            <a:off x="4786313" y="2108104"/>
            <a:ext cx="3786188" cy="342466"/>
          </a:xfrm>
          <a:prstGeom prst="rect">
            <a:avLst/>
          </a:prstGeom>
          <a:noFill/>
          <a:ln/>
        </p:spPr>
        <p:txBody>
          <a:bodyPr wrap="square" lIns="0" tIns="0" rIns="0" bIns="0" rtlCol="0" anchor="t">
            <a:spAutoFit/>
          </a:bodyPr>
          <a:lstStyle/>
          <a:p>
            <a:pPr marL="0" indent="0" algn="l">
              <a:lnSpc>
                <a:spcPts val="1400"/>
              </a:lnSpc>
              <a:buNone/>
            </a:pPr>
            <a:r>
              <a:rPr lang="en-US" sz="834" b="1" dirty="0">
                <a:solidFill>
                  <a:srgbClr val="E0E1DD"/>
                </a:solidFill>
                <a:latin typeface="Inter" pitchFamily="34" charset="0"/>
                <a:ea typeface="Inter" pitchFamily="34" charset="-122"/>
                <a:cs typeface="Inter" pitchFamily="34" charset="-120"/>
              </a:rPr>
              <a:t>Evaluate the fiscal impact of expanding the $10,000 cap to accommodate </a:t>
            </a:r>
            <a:r>
              <a:rPr lang="en-US" sz="834" b="1" dirty="0">
                <a:solidFill>
                  <a:srgbClr val="4BC0C8"/>
                </a:solidFill>
                <a:latin typeface="Inter" pitchFamily="34" charset="0"/>
                <a:ea typeface="Inter" pitchFamily="34" charset="-122"/>
                <a:cs typeface="Inter" pitchFamily="34" charset="-120"/>
              </a:rPr>
              <a:t>higher-cost specialized replacements</a:t>
            </a:r>
            <a:r>
              <a:rPr lang="en-US" sz="834" b="1" dirty="0">
                <a:solidFill>
                  <a:srgbClr val="E0E1DD"/>
                </a:solidFill>
                <a:latin typeface="Inter" pitchFamily="34" charset="0"/>
                <a:ea typeface="Inter" pitchFamily="34" charset="-122"/>
                <a:cs typeface="Inter" pitchFamily="34" charset="-120"/>
              </a:rPr>
              <a:t> while also accounting for additional costs due to inflation.</a:t>
            </a:r>
            <a:endParaRPr lang="en-US" sz="834" dirty="0"/>
          </a:p>
        </p:txBody>
      </p:sp>
      <p:sp>
        <p:nvSpPr>
          <p:cNvPr id="15" name="Text 12"/>
          <p:cNvSpPr/>
          <p:nvPr/>
        </p:nvSpPr>
        <p:spPr>
          <a:xfrm>
            <a:off x="4786313" y="2833195"/>
            <a:ext cx="3786188" cy="173236"/>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FFFF"/>
                </a:solidFill>
                <a:latin typeface="Inter" pitchFamily="34" charset="0"/>
                <a:ea typeface="Inter" pitchFamily="34" charset="-122"/>
                <a:cs typeface="Inter" pitchFamily="34" charset="-120"/>
              </a:rPr>
              <a:t>Stochastic Refinement</a:t>
            </a:r>
            <a:endParaRPr lang="en-US" sz="987" dirty="0"/>
          </a:p>
        </p:txBody>
      </p:sp>
      <p:sp>
        <p:nvSpPr>
          <p:cNvPr id="16" name="Text 13"/>
          <p:cNvSpPr/>
          <p:nvPr/>
        </p:nvSpPr>
        <p:spPr>
          <a:xfrm>
            <a:off x="4786313" y="3063580"/>
            <a:ext cx="3786188" cy="546497"/>
          </a:xfrm>
          <a:prstGeom prst="rect">
            <a:avLst/>
          </a:prstGeom>
          <a:noFill/>
          <a:ln/>
        </p:spPr>
        <p:txBody>
          <a:bodyPr wrap="square" lIns="0" tIns="0" rIns="0" bIns="0" rtlCol="0" anchor="t">
            <a:spAutoFit/>
          </a:bodyPr>
          <a:lstStyle/>
          <a:p>
            <a:pPr marL="0" indent="0" algn="l">
              <a:lnSpc>
                <a:spcPts val="1400"/>
              </a:lnSpc>
              <a:buNone/>
            </a:pPr>
            <a:r>
              <a:rPr lang="en-US" sz="834" b="1" dirty="0">
                <a:solidFill>
                  <a:srgbClr val="E0E1DD"/>
                </a:solidFill>
                <a:latin typeface="Inter" pitchFamily="34" charset="0"/>
                <a:ea typeface="Inter" pitchFamily="34" charset="-122"/>
                <a:cs typeface="Inter" pitchFamily="34" charset="-120"/>
              </a:rPr>
              <a:t>Transitioning from static probability distributions to </a:t>
            </a:r>
            <a:r>
              <a:rPr lang="en-US" sz="834" b="1" dirty="0">
                <a:solidFill>
                  <a:srgbClr val="4BC0C8"/>
                </a:solidFill>
                <a:latin typeface="Inter" pitchFamily="34" charset="0"/>
                <a:ea typeface="Inter" pitchFamily="34" charset="-122"/>
                <a:cs typeface="Inter" pitchFamily="34" charset="-120"/>
              </a:rPr>
              <a:t>time-varying Markov chains</a:t>
            </a:r>
            <a:r>
              <a:rPr lang="en-US" sz="834" b="1" dirty="0">
                <a:solidFill>
                  <a:srgbClr val="E0E1DD"/>
                </a:solidFill>
                <a:latin typeface="Inter" pitchFamily="34" charset="0"/>
                <a:ea typeface="Inter" pitchFamily="34" charset="-122"/>
                <a:cs typeface="Inter" pitchFamily="34" charset="-120"/>
              </a:rPr>
              <a:t> could better simulate economic cycles and their impact on program liquidity.</a:t>
            </a:r>
            <a:endParaRPr lang="en-US" sz="834" dirty="0"/>
          </a:p>
        </p:txBody>
      </p:sp>
      <p:sp>
        <p:nvSpPr>
          <p:cNvPr id="17" name="Text 14"/>
          <p:cNvSpPr/>
          <p:nvPr/>
        </p:nvSpPr>
        <p:spPr>
          <a:xfrm>
            <a:off x="4786313" y="3788671"/>
            <a:ext cx="2343590" cy="168059"/>
          </a:xfrm>
          <a:prstGeom prst="rect">
            <a:avLst/>
          </a:prstGeom>
          <a:noFill/>
          <a:ln/>
        </p:spPr>
        <p:txBody>
          <a:bodyPr wrap="none" lIns="0" tIns="0" rIns="0" bIns="0" rtlCol="0" anchor="t">
            <a:spAutoFit/>
          </a:bodyPr>
          <a:lstStyle/>
          <a:p>
            <a:pPr marL="0" indent="0" algn="l">
              <a:lnSpc>
                <a:spcPts val="1400"/>
              </a:lnSpc>
              <a:buNone/>
            </a:pPr>
            <a:r>
              <a:rPr lang="en-US" sz="987" b="1">
                <a:solidFill>
                  <a:srgbClr val="FFFFFF"/>
                </a:solidFill>
                <a:latin typeface="Inter" pitchFamily="34" charset="0"/>
                <a:ea typeface="Inter" pitchFamily="34" charset="-122"/>
                <a:cs typeface="Inter" pitchFamily="34" charset="-120"/>
              </a:rPr>
              <a:t>Legislature, Regulations, and Political Factors</a:t>
            </a:r>
            <a:endParaRPr lang="en-US" sz="987" dirty="0"/>
          </a:p>
        </p:txBody>
      </p:sp>
      <p:sp>
        <p:nvSpPr>
          <p:cNvPr id="18" name="Text 15"/>
          <p:cNvSpPr/>
          <p:nvPr/>
        </p:nvSpPr>
        <p:spPr>
          <a:xfrm>
            <a:off x="4786313" y="4019057"/>
            <a:ext cx="3786188" cy="342401"/>
          </a:xfrm>
          <a:prstGeom prst="rect">
            <a:avLst/>
          </a:prstGeom>
          <a:noFill/>
          <a:ln/>
        </p:spPr>
        <p:txBody>
          <a:bodyPr wrap="square" lIns="0" tIns="0" rIns="0" bIns="0" rtlCol="0" anchor="t">
            <a:spAutoFit/>
          </a:bodyPr>
          <a:lstStyle/>
          <a:p>
            <a:pPr marL="0" indent="0" algn="l">
              <a:lnSpc>
                <a:spcPts val="1400"/>
              </a:lnSpc>
              <a:buNone/>
            </a:pPr>
            <a:r>
              <a:rPr lang="en-US" sz="834">
                <a:solidFill>
                  <a:schemeClr val="bg1"/>
                </a:solidFill>
              </a:rPr>
              <a:t>Given the nature of this problem, unexpected legislature or regulatory changes could heavily impact timelines, costs, and materials impacting budget. </a:t>
            </a:r>
          </a:p>
        </p:txBody>
      </p:sp>
      <p:sp>
        <p:nvSpPr>
          <p:cNvPr id="23" name="Rectangle 22">
            <a:extLst>
              <a:ext uri="{FF2B5EF4-FFF2-40B4-BE49-F238E27FC236}">
                <a16:creationId xmlns:a16="http://schemas.microsoft.com/office/drawing/2014/main" id="{1E897D97-B7F1-85A2-0836-408404FF12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1143" y="0"/>
            <a:ext cx="9141714"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428625"/>
            <a:ext cx="8001000" cy="173236"/>
          </a:xfrm>
          <a:prstGeom prst="rect">
            <a:avLst/>
          </a:prstGeom>
          <a:noFill/>
          <a:ln/>
        </p:spPr>
        <p:txBody>
          <a:bodyPr wrap="none" lIns="0" tIns="0" rIns="0" bIns="0" rtlCol="0" anchor="t">
            <a:spAutoFit/>
          </a:bodyPr>
          <a:lstStyle/>
          <a:p>
            <a:pPr marL="0" indent="0" algn="l">
              <a:lnSpc>
                <a:spcPts val="1400"/>
              </a:lnSpc>
              <a:buNone/>
            </a:pPr>
            <a:r>
              <a:rPr lang="en-US" sz="987" b="1" kern="0" spc="2">
                <a:solidFill>
                  <a:srgbClr val="F0A500"/>
                </a:solidFill>
                <a:latin typeface="Inter" pitchFamily="34" charset="0"/>
                <a:ea typeface="Inter" pitchFamily="34" charset="-122"/>
                <a:cs typeface="Inter" pitchFamily="34" charset="-120"/>
              </a:rPr>
              <a:t>EXECUTIVE SUMMARY</a:t>
            </a:r>
            <a:endParaRPr lang="en-US" sz="987"/>
          </a:p>
        </p:txBody>
      </p:sp>
      <p:sp>
        <p:nvSpPr>
          <p:cNvPr id="4" name="Text 1"/>
          <p:cNvSpPr/>
          <p:nvPr/>
        </p:nvSpPr>
        <p:spPr>
          <a:xfrm>
            <a:off x="571500" y="673298"/>
            <a:ext cx="8001000" cy="822927"/>
          </a:xfrm>
          <a:prstGeom prst="rect">
            <a:avLst/>
          </a:prstGeom>
          <a:noFill/>
          <a:ln/>
        </p:spPr>
        <p:txBody>
          <a:bodyPr wrap="square" lIns="0" tIns="0" rIns="0" bIns="0" rtlCol="0" anchor="t">
            <a:spAutoFit/>
          </a:bodyPr>
          <a:lstStyle/>
          <a:p>
            <a:pPr marL="0" indent="0" algn="l">
              <a:lnSpc>
                <a:spcPts val="3200"/>
              </a:lnSpc>
              <a:buNone/>
            </a:pPr>
            <a:r>
              <a:rPr lang="en-US" sz="2436" b="1">
                <a:solidFill>
                  <a:srgbClr val="FFFFFF"/>
                </a:solidFill>
                <a:latin typeface="Inter" pitchFamily="34" charset="0"/>
                <a:ea typeface="Inter" pitchFamily="34" charset="-122"/>
                <a:cs typeface="Inter" pitchFamily="34" charset="-120"/>
              </a:rPr>
              <a:t>Three Numbers Every City Official Should Know</a:t>
            </a:r>
            <a:endParaRPr lang="en-US" sz="2436"/>
          </a:p>
        </p:txBody>
      </p:sp>
      <p:sp>
        <p:nvSpPr>
          <p:cNvPr id="5" name="Text 2"/>
          <p:cNvSpPr/>
          <p:nvPr/>
        </p:nvSpPr>
        <p:spPr>
          <a:xfrm>
            <a:off x="571500" y="1781975"/>
            <a:ext cx="1756891" cy="525785"/>
          </a:xfrm>
          <a:prstGeom prst="rect">
            <a:avLst/>
          </a:prstGeom>
          <a:noFill/>
          <a:ln/>
        </p:spPr>
        <p:txBody>
          <a:bodyPr wrap="none" lIns="0" tIns="0" rIns="0" bIns="0" rtlCol="0" anchor="t">
            <a:spAutoFit/>
          </a:bodyPr>
          <a:lstStyle/>
          <a:p>
            <a:pPr marL="0" indent="0" algn="l">
              <a:lnSpc>
                <a:spcPts val="4100"/>
              </a:lnSpc>
              <a:buNone/>
            </a:pPr>
            <a:r>
              <a:rPr lang="en-US" sz="3731" b="1">
                <a:solidFill>
                  <a:srgbClr val="4BC0C8"/>
                </a:solidFill>
                <a:latin typeface="Inter" pitchFamily="34" charset="0"/>
                <a:ea typeface="Inter" pitchFamily="34" charset="-122"/>
                <a:cs typeface="Inter" pitchFamily="34" charset="-120"/>
              </a:rPr>
              <a:t>$37.02M</a:t>
            </a:r>
            <a:endParaRPr lang="en-US" sz="3731"/>
          </a:p>
        </p:txBody>
      </p:sp>
      <p:sp>
        <p:nvSpPr>
          <p:cNvPr id="6" name="Text 3"/>
          <p:cNvSpPr/>
          <p:nvPr/>
        </p:nvSpPr>
        <p:spPr>
          <a:xfrm>
            <a:off x="571500" y="2424912"/>
            <a:ext cx="2524116" cy="189309"/>
          </a:xfrm>
          <a:prstGeom prst="rect">
            <a:avLst/>
          </a:prstGeom>
          <a:noFill/>
          <a:ln/>
        </p:spPr>
        <p:txBody>
          <a:bodyPr wrap="none" lIns="0" tIns="0" rIns="0" bIns="0" rtlCol="0" anchor="t">
            <a:spAutoFit/>
          </a:bodyPr>
          <a:lstStyle/>
          <a:p>
            <a:pPr marL="0" indent="0" algn="l">
              <a:lnSpc>
                <a:spcPts val="1500"/>
              </a:lnSpc>
              <a:buNone/>
            </a:pPr>
            <a:r>
              <a:rPr lang="en-US" sz="1090" b="1">
                <a:solidFill>
                  <a:srgbClr val="FFFFFF"/>
                </a:solidFill>
                <a:latin typeface="Inter" pitchFamily="34" charset="0"/>
                <a:ea typeface="Inter" pitchFamily="34" charset="-122"/>
                <a:cs typeface="Inter" pitchFamily="34" charset="-120"/>
              </a:rPr>
              <a:t>RECOMMENDED RESERVE</a:t>
            </a:r>
            <a:endParaRPr lang="en-US" sz="1090"/>
          </a:p>
        </p:txBody>
      </p:sp>
      <p:sp>
        <p:nvSpPr>
          <p:cNvPr id="7" name="Text 4"/>
          <p:cNvSpPr/>
          <p:nvPr/>
        </p:nvSpPr>
        <p:spPr>
          <a:xfrm>
            <a:off x="571500" y="2671372"/>
            <a:ext cx="2524116" cy="578644"/>
          </a:xfrm>
          <a:prstGeom prst="rect">
            <a:avLst/>
          </a:prstGeom>
          <a:noFill/>
          <a:ln/>
        </p:spPr>
        <p:txBody>
          <a:bodyPr wrap="square" lIns="0" tIns="0" rIns="0" bIns="0" rtlCol="0" anchor="t">
            <a:spAutoFit/>
          </a:bodyPr>
          <a:lstStyle/>
          <a:p>
            <a:pPr marL="0" indent="0" algn="l">
              <a:lnSpc>
                <a:spcPts val="1500"/>
              </a:lnSpc>
              <a:buNone/>
            </a:pPr>
            <a:r>
              <a:rPr lang="en-US" sz="885" b="1">
                <a:solidFill>
                  <a:srgbClr val="E0E1DD"/>
                </a:solidFill>
                <a:latin typeface="Inter" pitchFamily="34" charset="0"/>
                <a:ea typeface="Inter" pitchFamily="34" charset="-122"/>
                <a:cs typeface="Inter" pitchFamily="34" charset="-120"/>
              </a:rPr>
              <a:t>Sufficient with 95% probability across 1,000 simulated futures to fund the LEAP program through 2037.</a:t>
            </a:r>
            <a:endParaRPr lang="en-US" sz="885"/>
          </a:p>
        </p:txBody>
      </p:sp>
      <p:sp>
        <p:nvSpPr>
          <p:cNvPr id="8" name="Text 5"/>
          <p:cNvSpPr/>
          <p:nvPr/>
        </p:nvSpPr>
        <p:spPr>
          <a:xfrm>
            <a:off x="3309928" y="1781975"/>
            <a:ext cx="1737655" cy="525785"/>
          </a:xfrm>
          <a:prstGeom prst="rect">
            <a:avLst/>
          </a:prstGeom>
          <a:noFill/>
          <a:ln/>
        </p:spPr>
        <p:txBody>
          <a:bodyPr wrap="none" lIns="0" tIns="0" rIns="0" bIns="0" rtlCol="0" anchor="t">
            <a:spAutoFit/>
          </a:bodyPr>
          <a:lstStyle/>
          <a:p>
            <a:pPr marL="0" indent="0" algn="l">
              <a:lnSpc>
                <a:spcPts val="4100"/>
              </a:lnSpc>
              <a:buNone/>
            </a:pPr>
            <a:r>
              <a:rPr lang="en-US" sz="3731" b="1">
                <a:solidFill>
                  <a:srgbClr val="F0A500"/>
                </a:solidFill>
                <a:latin typeface="Inter" pitchFamily="34" charset="0"/>
                <a:ea typeface="Inter" pitchFamily="34" charset="-122"/>
                <a:cs typeface="Inter" pitchFamily="34" charset="-120"/>
              </a:rPr>
              <a:t>$33.7M</a:t>
            </a:r>
            <a:endParaRPr lang="en-US" sz="3731"/>
          </a:p>
        </p:txBody>
      </p:sp>
      <p:sp>
        <p:nvSpPr>
          <p:cNvPr id="9" name="Text 6"/>
          <p:cNvSpPr/>
          <p:nvPr/>
        </p:nvSpPr>
        <p:spPr>
          <a:xfrm>
            <a:off x="3309928" y="2424912"/>
            <a:ext cx="2524116" cy="189309"/>
          </a:xfrm>
          <a:prstGeom prst="rect">
            <a:avLst/>
          </a:prstGeom>
          <a:noFill/>
          <a:ln/>
        </p:spPr>
        <p:txBody>
          <a:bodyPr wrap="none" lIns="0" tIns="0" rIns="0" bIns="0" rtlCol="0" anchor="t">
            <a:spAutoFit/>
          </a:bodyPr>
          <a:lstStyle/>
          <a:p>
            <a:pPr marL="0" indent="0" algn="l">
              <a:lnSpc>
                <a:spcPts val="1500"/>
              </a:lnSpc>
              <a:buNone/>
            </a:pPr>
            <a:r>
              <a:rPr lang="en-US" sz="1090" b="1">
                <a:solidFill>
                  <a:srgbClr val="FFFFFF"/>
                </a:solidFill>
                <a:latin typeface="Inter" pitchFamily="34" charset="0"/>
                <a:ea typeface="Inter" pitchFamily="34" charset="-122"/>
                <a:cs typeface="Inter" pitchFamily="34" charset="-120"/>
              </a:rPr>
              <a:t>CAPITAL SAVED</a:t>
            </a:r>
            <a:endParaRPr lang="en-US" sz="1090"/>
          </a:p>
        </p:txBody>
      </p:sp>
      <p:sp>
        <p:nvSpPr>
          <p:cNvPr id="10" name="Text 7"/>
          <p:cNvSpPr/>
          <p:nvPr/>
        </p:nvSpPr>
        <p:spPr>
          <a:xfrm>
            <a:off x="3309928" y="2671372"/>
            <a:ext cx="2524116" cy="578644"/>
          </a:xfrm>
          <a:prstGeom prst="rect">
            <a:avLst/>
          </a:prstGeom>
          <a:noFill/>
          <a:ln/>
        </p:spPr>
        <p:txBody>
          <a:bodyPr wrap="square" lIns="0" tIns="0" rIns="0" bIns="0" rtlCol="0" anchor="t">
            <a:spAutoFit/>
          </a:bodyPr>
          <a:lstStyle/>
          <a:p>
            <a:pPr marL="0" indent="0" algn="l">
              <a:lnSpc>
                <a:spcPts val="1500"/>
              </a:lnSpc>
              <a:buNone/>
            </a:pPr>
            <a:r>
              <a:rPr lang="en-US" sz="885" b="1">
                <a:solidFill>
                  <a:srgbClr val="E0E1DD"/>
                </a:solidFill>
                <a:latin typeface="Inter" pitchFamily="34" charset="0"/>
                <a:ea typeface="Inter" pitchFamily="34" charset="-122"/>
                <a:cs typeface="Inter" pitchFamily="34" charset="-120"/>
              </a:rPr>
              <a:t>The deferred loan structure reduces the City's capital burden by 55% compared to a pure grant program.</a:t>
            </a:r>
            <a:endParaRPr lang="en-US" sz="885"/>
          </a:p>
        </p:txBody>
      </p:sp>
      <p:sp>
        <p:nvSpPr>
          <p:cNvPr id="11" name="Text 8"/>
          <p:cNvSpPr/>
          <p:nvPr/>
        </p:nvSpPr>
        <p:spPr>
          <a:xfrm>
            <a:off x="6048356" y="1781975"/>
            <a:ext cx="2524144" cy="514350"/>
          </a:xfrm>
          <a:prstGeom prst="rect">
            <a:avLst/>
          </a:prstGeom>
          <a:noFill/>
          <a:ln/>
        </p:spPr>
        <p:txBody>
          <a:bodyPr wrap="none" lIns="0" tIns="0" rIns="0" bIns="0" rtlCol="0" anchor="t">
            <a:spAutoFit/>
          </a:bodyPr>
          <a:lstStyle/>
          <a:p>
            <a:pPr marL="0" indent="0" algn="l">
              <a:lnSpc>
                <a:spcPts val="4100"/>
              </a:lnSpc>
              <a:buNone/>
            </a:pPr>
            <a:r>
              <a:rPr lang="en-US" sz="3731" b="1">
                <a:solidFill>
                  <a:srgbClr val="FFFFFF"/>
                </a:solidFill>
                <a:latin typeface="Inter" pitchFamily="34" charset="0"/>
                <a:ea typeface="Inter" pitchFamily="34" charset="-122"/>
                <a:cs typeface="Inter" pitchFamily="34" charset="-120"/>
              </a:rPr>
              <a:t>2</a:t>
            </a:r>
            <a:endParaRPr lang="en-US" sz="3731"/>
          </a:p>
        </p:txBody>
      </p:sp>
      <p:sp>
        <p:nvSpPr>
          <p:cNvPr id="12" name="Text 9"/>
          <p:cNvSpPr/>
          <p:nvPr/>
        </p:nvSpPr>
        <p:spPr>
          <a:xfrm>
            <a:off x="6048356" y="2424912"/>
            <a:ext cx="2524144" cy="189309"/>
          </a:xfrm>
          <a:prstGeom prst="rect">
            <a:avLst/>
          </a:prstGeom>
          <a:noFill/>
          <a:ln/>
        </p:spPr>
        <p:txBody>
          <a:bodyPr wrap="none" lIns="0" tIns="0" rIns="0" bIns="0" rtlCol="0" anchor="t">
            <a:spAutoFit/>
          </a:bodyPr>
          <a:lstStyle/>
          <a:p>
            <a:pPr marL="0" indent="0" algn="l">
              <a:lnSpc>
                <a:spcPts val="1500"/>
              </a:lnSpc>
              <a:buNone/>
            </a:pPr>
            <a:r>
              <a:rPr lang="en-US" sz="1090" b="1">
                <a:solidFill>
                  <a:srgbClr val="FFFFFF"/>
                </a:solidFill>
                <a:latin typeface="Inter" pitchFamily="34" charset="0"/>
                <a:ea typeface="Inter" pitchFamily="34" charset="-122"/>
                <a:cs typeface="Inter" pitchFamily="34" charset="-120"/>
              </a:rPr>
              <a:t>DOMINANT VARIABLES</a:t>
            </a:r>
            <a:endParaRPr lang="en-US" sz="1090"/>
          </a:p>
        </p:txBody>
      </p:sp>
      <p:sp>
        <p:nvSpPr>
          <p:cNvPr id="13" name="Text 10"/>
          <p:cNvSpPr/>
          <p:nvPr/>
        </p:nvSpPr>
        <p:spPr>
          <a:xfrm>
            <a:off x="6048356" y="2671372"/>
            <a:ext cx="2524144" cy="578644"/>
          </a:xfrm>
          <a:prstGeom prst="rect">
            <a:avLst/>
          </a:prstGeom>
          <a:noFill/>
          <a:ln/>
        </p:spPr>
        <p:txBody>
          <a:bodyPr wrap="square" lIns="0" tIns="0" rIns="0" bIns="0" rtlCol="0" anchor="t">
            <a:spAutoFit/>
          </a:bodyPr>
          <a:lstStyle/>
          <a:p>
            <a:pPr marL="0" indent="0" algn="l">
              <a:lnSpc>
                <a:spcPts val="1500"/>
              </a:lnSpc>
              <a:buNone/>
            </a:pPr>
            <a:r>
              <a:rPr lang="en-US" sz="885" b="1">
                <a:solidFill>
                  <a:srgbClr val="E0E1DD"/>
                </a:solidFill>
                <a:latin typeface="Inter" pitchFamily="34" charset="0"/>
                <a:ea typeface="Inter" pitchFamily="34" charset="-122"/>
                <a:cs typeface="Inter" pitchFamily="34" charset="-120"/>
              </a:rPr>
              <a:t>Participation rate and home sale activity drive the risk. Monitor annually and adjust reserves accordingly.</a:t>
            </a:r>
            <a:endParaRPr lang="en-US" sz="885"/>
          </a:p>
        </p:txBody>
      </p:sp>
      <p:sp>
        <p:nvSpPr>
          <p:cNvPr id="14" name="Shape 11"/>
          <p:cNvSpPr/>
          <p:nvPr/>
        </p:nvSpPr>
        <p:spPr>
          <a:xfrm>
            <a:off x="571500" y="3464328"/>
            <a:ext cx="8001000" cy="1393031"/>
          </a:xfrm>
          <a:prstGeom prst="rect">
            <a:avLst/>
          </a:prstGeom>
          <a:solidFill>
            <a:srgbClr val="4BC0C8"/>
          </a:solidFill>
          <a:ln/>
        </p:spPr>
        <p:txBody>
          <a:bodyPr/>
          <a:lstStyle/>
          <a:p>
            <a:endParaRPr lang="en-US"/>
          </a:p>
        </p:txBody>
      </p:sp>
      <p:sp>
        <p:nvSpPr>
          <p:cNvPr id="15" name="Text 12"/>
          <p:cNvSpPr/>
          <p:nvPr/>
        </p:nvSpPr>
        <p:spPr>
          <a:xfrm>
            <a:off x="857250" y="3592916"/>
            <a:ext cx="7429500" cy="207169"/>
          </a:xfrm>
          <a:prstGeom prst="rect">
            <a:avLst/>
          </a:prstGeom>
          <a:noFill/>
          <a:ln/>
        </p:spPr>
        <p:txBody>
          <a:bodyPr wrap="none" lIns="0" tIns="0" rIns="0" bIns="0" rtlCol="0" anchor="t">
            <a:spAutoFit/>
          </a:bodyPr>
          <a:lstStyle/>
          <a:p>
            <a:pPr marL="0" indent="0" algn="l">
              <a:lnSpc>
                <a:spcPts val="1600"/>
              </a:lnSpc>
              <a:buNone/>
            </a:pPr>
            <a:r>
              <a:rPr lang="en-US" sz="1193" b="1">
                <a:solidFill>
                  <a:srgbClr val="0B132B"/>
                </a:solidFill>
                <a:latin typeface="Inter" pitchFamily="34" charset="0"/>
                <a:ea typeface="Inter" pitchFamily="34" charset="-122"/>
                <a:cs typeface="Inter" pitchFamily="34" charset="-120"/>
              </a:rPr>
              <a:t>LIMITATIONS &amp; NEXT STEPS</a:t>
            </a:r>
            <a:endParaRPr lang="en-US" sz="1193"/>
          </a:p>
        </p:txBody>
      </p:sp>
      <p:sp>
        <p:nvSpPr>
          <p:cNvPr id="16" name="Text 13"/>
          <p:cNvSpPr/>
          <p:nvPr/>
        </p:nvSpPr>
        <p:spPr>
          <a:xfrm>
            <a:off x="857250" y="3885809"/>
            <a:ext cx="3607594" cy="385763"/>
          </a:xfrm>
          <a:prstGeom prst="rect">
            <a:avLst/>
          </a:prstGeom>
          <a:noFill/>
          <a:ln/>
        </p:spPr>
        <p:txBody>
          <a:bodyPr wrap="square" lIns="119126" tIns="0" rIns="0" bIns="0" rtlCol="0" anchor="t">
            <a:spAutoFit/>
          </a:bodyPr>
          <a:lstStyle/>
          <a:p>
            <a:pPr marL="0" indent="0" algn="l">
              <a:lnSpc>
                <a:spcPts val="1500"/>
              </a:lnSpc>
              <a:buNone/>
            </a:pPr>
            <a:r>
              <a:rPr lang="en-US" sz="885" b="1">
                <a:solidFill>
                  <a:srgbClr val="0B132B"/>
                </a:solidFill>
                <a:latin typeface="Inter" pitchFamily="34" charset="0"/>
                <a:ea typeface="Inter" pitchFamily="34" charset="-122"/>
                <a:cs typeface="Inter" pitchFamily="34" charset="-120"/>
              </a:rPr>
              <a:t>Repayment timing uses national averages; local Columbus turnover data would sharpen estimates.</a:t>
            </a:r>
            <a:endParaRPr lang="en-US" sz="885"/>
          </a:p>
        </p:txBody>
      </p:sp>
      <p:sp>
        <p:nvSpPr>
          <p:cNvPr id="17" name="Text 14"/>
          <p:cNvSpPr/>
          <p:nvPr/>
        </p:nvSpPr>
        <p:spPr>
          <a:xfrm>
            <a:off x="4679156" y="3885809"/>
            <a:ext cx="3607594" cy="385763"/>
          </a:xfrm>
          <a:prstGeom prst="rect">
            <a:avLst/>
          </a:prstGeom>
          <a:noFill/>
          <a:ln/>
        </p:spPr>
        <p:txBody>
          <a:bodyPr wrap="square" lIns="119126" tIns="0" rIns="0" bIns="0" rtlCol="0" anchor="t">
            <a:spAutoFit/>
          </a:bodyPr>
          <a:lstStyle/>
          <a:p>
            <a:pPr marL="0" indent="0" algn="l">
              <a:lnSpc>
                <a:spcPts val="1500"/>
              </a:lnSpc>
              <a:buNone/>
            </a:pPr>
            <a:r>
              <a:rPr lang="en-US" sz="885" b="1">
                <a:solidFill>
                  <a:srgbClr val="0B132B"/>
                </a:solidFill>
                <a:latin typeface="Inter" pitchFamily="34" charset="0"/>
                <a:ea typeface="Inter" pitchFamily="34" charset="-122"/>
                <a:cs typeface="Inter" pitchFamily="34" charset="-120"/>
              </a:rPr>
              <a:t>Inheritance and estate transfers are not modeled and could delay repayment timelines.</a:t>
            </a:r>
            <a:endParaRPr lang="en-US" sz="885"/>
          </a:p>
        </p:txBody>
      </p:sp>
      <p:sp>
        <p:nvSpPr>
          <p:cNvPr id="18" name="Text 15"/>
          <p:cNvSpPr/>
          <p:nvPr/>
        </p:nvSpPr>
        <p:spPr>
          <a:xfrm>
            <a:off x="857250" y="4343009"/>
            <a:ext cx="3607594" cy="385763"/>
          </a:xfrm>
          <a:prstGeom prst="rect">
            <a:avLst/>
          </a:prstGeom>
          <a:noFill/>
          <a:ln/>
        </p:spPr>
        <p:txBody>
          <a:bodyPr wrap="square" lIns="119126" tIns="0" rIns="0" bIns="0" rtlCol="0" anchor="t">
            <a:spAutoFit/>
          </a:bodyPr>
          <a:lstStyle/>
          <a:p>
            <a:pPr marL="0" indent="0" algn="l">
              <a:lnSpc>
                <a:spcPts val="1500"/>
              </a:lnSpc>
              <a:buNone/>
            </a:pPr>
            <a:r>
              <a:rPr lang="en-US" sz="885" b="1">
                <a:solidFill>
                  <a:srgbClr val="0B132B"/>
                </a:solidFill>
                <a:latin typeface="Inter" pitchFamily="34" charset="0"/>
                <a:ea typeface="Inter" pitchFamily="34" charset="-122"/>
                <a:cs typeface="Inter" pitchFamily="34" charset="-120"/>
              </a:rPr>
              <a:t>A phased funding approach (initial tranche + contingency) could optimize cash deployment.</a:t>
            </a:r>
            <a:endParaRPr lang="en-US" sz="885"/>
          </a:p>
        </p:txBody>
      </p:sp>
      <p:sp>
        <p:nvSpPr>
          <p:cNvPr id="19" name="Text 16"/>
          <p:cNvSpPr/>
          <p:nvPr/>
        </p:nvSpPr>
        <p:spPr>
          <a:xfrm>
            <a:off x="4679156" y="4343009"/>
            <a:ext cx="3607594" cy="385763"/>
          </a:xfrm>
          <a:prstGeom prst="rect">
            <a:avLst/>
          </a:prstGeom>
          <a:noFill/>
          <a:ln/>
        </p:spPr>
        <p:txBody>
          <a:bodyPr wrap="square" lIns="119126" tIns="0" rIns="0" bIns="0" rtlCol="0" anchor="t">
            <a:spAutoFit/>
          </a:bodyPr>
          <a:lstStyle/>
          <a:p>
            <a:pPr marL="0" indent="0" algn="l">
              <a:lnSpc>
                <a:spcPts val="1500"/>
              </a:lnSpc>
              <a:buNone/>
            </a:pPr>
            <a:r>
              <a:rPr lang="en-US" sz="885" b="1">
                <a:solidFill>
                  <a:srgbClr val="0B132B"/>
                </a:solidFill>
                <a:latin typeface="Inter" pitchFamily="34" charset="0"/>
                <a:ea typeface="Inter" pitchFamily="34" charset="-122"/>
                <a:cs typeface="Inter" pitchFamily="34" charset="-120"/>
              </a:rPr>
              <a:t>The model is transparent and should be updated annually as real program data accumulates.</a:t>
            </a:r>
            <a:endParaRPr lang="en-US" sz="885"/>
          </a:p>
        </p:txBody>
      </p:sp>
      <p:sp>
        <p:nvSpPr>
          <p:cNvPr id="20" name="Text 17"/>
          <p:cNvSpPr/>
          <p:nvPr/>
        </p:nvSpPr>
        <p:spPr>
          <a:xfrm>
            <a:off x="857250" y="3878666"/>
            <a:ext cx="60387" cy="150019"/>
          </a:xfrm>
          <a:prstGeom prst="rect">
            <a:avLst/>
          </a:prstGeom>
          <a:noFill/>
          <a:ln/>
        </p:spPr>
        <p:txBody>
          <a:bodyPr wrap="none" lIns="0" tIns="0" rIns="0" bIns="0" rtlCol="0" anchor="t">
            <a:spAutoFit/>
          </a:bodyPr>
          <a:lstStyle/>
          <a:p>
            <a:pPr marL="0" indent="0" algn="l">
              <a:lnSpc>
                <a:spcPts val="1200"/>
              </a:lnSpc>
              <a:buNone/>
            </a:pPr>
            <a:r>
              <a:rPr lang="en-US" sz="683" b="1">
                <a:solidFill>
                  <a:srgbClr val="0B132B"/>
                </a:solidFill>
                <a:latin typeface="Inter" pitchFamily="34" charset="0"/>
                <a:ea typeface="Inter" pitchFamily="34" charset="-122"/>
                <a:cs typeface="Inter" pitchFamily="34" charset="-120"/>
              </a:rPr>
              <a:t>■</a:t>
            </a:r>
            <a:endParaRPr lang="en-US" sz="683"/>
          </a:p>
        </p:txBody>
      </p:sp>
      <p:sp>
        <p:nvSpPr>
          <p:cNvPr id="21" name="Text 18"/>
          <p:cNvSpPr/>
          <p:nvPr/>
        </p:nvSpPr>
        <p:spPr>
          <a:xfrm>
            <a:off x="4679156" y="3878666"/>
            <a:ext cx="60387" cy="150019"/>
          </a:xfrm>
          <a:prstGeom prst="rect">
            <a:avLst/>
          </a:prstGeom>
          <a:noFill/>
          <a:ln/>
        </p:spPr>
        <p:txBody>
          <a:bodyPr wrap="none" lIns="0" tIns="0" rIns="0" bIns="0" rtlCol="0" anchor="t">
            <a:spAutoFit/>
          </a:bodyPr>
          <a:lstStyle/>
          <a:p>
            <a:pPr marL="0" indent="0" algn="l">
              <a:lnSpc>
                <a:spcPts val="1200"/>
              </a:lnSpc>
              <a:buNone/>
            </a:pPr>
            <a:r>
              <a:rPr lang="en-US" sz="683" b="1">
                <a:solidFill>
                  <a:srgbClr val="0B132B"/>
                </a:solidFill>
                <a:latin typeface="Inter" pitchFamily="34" charset="0"/>
                <a:ea typeface="Inter" pitchFamily="34" charset="-122"/>
                <a:cs typeface="Inter" pitchFamily="34" charset="-120"/>
              </a:rPr>
              <a:t>■</a:t>
            </a:r>
            <a:endParaRPr lang="en-US" sz="683"/>
          </a:p>
        </p:txBody>
      </p:sp>
      <p:sp>
        <p:nvSpPr>
          <p:cNvPr id="22" name="Text 19"/>
          <p:cNvSpPr/>
          <p:nvPr/>
        </p:nvSpPr>
        <p:spPr>
          <a:xfrm>
            <a:off x="857250" y="4335866"/>
            <a:ext cx="60387" cy="150019"/>
          </a:xfrm>
          <a:prstGeom prst="rect">
            <a:avLst/>
          </a:prstGeom>
          <a:noFill/>
          <a:ln/>
        </p:spPr>
        <p:txBody>
          <a:bodyPr wrap="none" lIns="0" tIns="0" rIns="0" bIns="0" rtlCol="0" anchor="t">
            <a:spAutoFit/>
          </a:bodyPr>
          <a:lstStyle/>
          <a:p>
            <a:pPr marL="0" indent="0" algn="l">
              <a:lnSpc>
                <a:spcPts val="1200"/>
              </a:lnSpc>
              <a:buNone/>
            </a:pPr>
            <a:r>
              <a:rPr lang="en-US" sz="683" b="1">
                <a:solidFill>
                  <a:srgbClr val="0B132B"/>
                </a:solidFill>
                <a:latin typeface="Inter" pitchFamily="34" charset="0"/>
                <a:ea typeface="Inter" pitchFamily="34" charset="-122"/>
                <a:cs typeface="Inter" pitchFamily="34" charset="-120"/>
              </a:rPr>
              <a:t>■</a:t>
            </a:r>
            <a:endParaRPr lang="en-US" sz="683"/>
          </a:p>
        </p:txBody>
      </p:sp>
      <p:sp>
        <p:nvSpPr>
          <p:cNvPr id="23" name="Text 20"/>
          <p:cNvSpPr/>
          <p:nvPr/>
        </p:nvSpPr>
        <p:spPr>
          <a:xfrm>
            <a:off x="4679156" y="4335866"/>
            <a:ext cx="60387" cy="150019"/>
          </a:xfrm>
          <a:prstGeom prst="rect">
            <a:avLst/>
          </a:prstGeom>
          <a:noFill/>
          <a:ln/>
        </p:spPr>
        <p:txBody>
          <a:bodyPr wrap="none" lIns="0" tIns="0" rIns="0" bIns="0" rtlCol="0" anchor="t">
            <a:spAutoFit/>
          </a:bodyPr>
          <a:lstStyle/>
          <a:p>
            <a:pPr marL="0" indent="0" algn="l">
              <a:lnSpc>
                <a:spcPts val="1200"/>
              </a:lnSpc>
              <a:buNone/>
            </a:pPr>
            <a:r>
              <a:rPr lang="en-US" sz="683" b="1">
                <a:solidFill>
                  <a:srgbClr val="0B132B"/>
                </a:solidFill>
                <a:latin typeface="Inter" pitchFamily="34" charset="0"/>
                <a:ea typeface="Inter" pitchFamily="34" charset="-122"/>
                <a:cs typeface="Inter" pitchFamily="34" charset="-120"/>
              </a:rPr>
              <a:t>■</a:t>
            </a:r>
            <a:endParaRPr lang="en-US" sz="683"/>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1910</Words>
  <Application>Microsoft Macintosh PowerPoint</Application>
  <PresentationFormat>On-screen Show (16:9)</PresentationFormat>
  <Paragraphs>212</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Sargeant, Ethan T.</cp:lastModifiedBy>
  <cp:revision>1</cp:revision>
  <dcterms:created xsi:type="dcterms:W3CDTF">2026-03-29T10:14:57Z</dcterms:created>
  <dcterms:modified xsi:type="dcterms:W3CDTF">2026-03-29T15:28:43Z</dcterms:modified>
</cp:coreProperties>
</file>